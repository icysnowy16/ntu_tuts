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7" r:id="rId1"/>
  </p:sldMasterIdLst>
  <p:notesMasterIdLst>
    <p:notesMasterId r:id="rId71"/>
  </p:notesMasterIdLst>
  <p:handoutMasterIdLst>
    <p:handoutMasterId r:id="rId72"/>
  </p:handoutMasterIdLst>
  <p:sldIdLst>
    <p:sldId id="256" r:id="rId2"/>
    <p:sldId id="270" r:id="rId3"/>
    <p:sldId id="288" r:id="rId4"/>
    <p:sldId id="411" r:id="rId5"/>
    <p:sldId id="412" r:id="rId6"/>
    <p:sldId id="413" r:id="rId7"/>
    <p:sldId id="414" r:id="rId8"/>
    <p:sldId id="415" r:id="rId9"/>
    <p:sldId id="416" r:id="rId10"/>
    <p:sldId id="417" r:id="rId11"/>
    <p:sldId id="409" r:id="rId12"/>
    <p:sldId id="410" r:id="rId13"/>
    <p:sldId id="418" r:id="rId14"/>
    <p:sldId id="419" r:id="rId15"/>
    <p:sldId id="293" r:id="rId16"/>
    <p:sldId id="420" r:id="rId17"/>
    <p:sldId id="421" r:id="rId18"/>
    <p:sldId id="422" r:id="rId19"/>
    <p:sldId id="423" r:id="rId20"/>
    <p:sldId id="424" r:id="rId21"/>
    <p:sldId id="425" r:id="rId22"/>
    <p:sldId id="426" r:id="rId23"/>
    <p:sldId id="427" r:id="rId24"/>
    <p:sldId id="428" r:id="rId25"/>
    <p:sldId id="429" r:id="rId26"/>
    <p:sldId id="430" r:id="rId27"/>
    <p:sldId id="431" r:id="rId28"/>
    <p:sldId id="432" r:id="rId29"/>
    <p:sldId id="433" r:id="rId30"/>
    <p:sldId id="434" r:id="rId31"/>
    <p:sldId id="435" r:id="rId32"/>
    <p:sldId id="436" r:id="rId33"/>
    <p:sldId id="437" r:id="rId34"/>
    <p:sldId id="438" r:id="rId35"/>
    <p:sldId id="439" r:id="rId36"/>
    <p:sldId id="393" r:id="rId37"/>
    <p:sldId id="440" r:id="rId38"/>
    <p:sldId id="441" r:id="rId39"/>
    <p:sldId id="442" r:id="rId40"/>
    <p:sldId id="443" r:id="rId41"/>
    <p:sldId id="321" r:id="rId42"/>
    <p:sldId id="444" r:id="rId43"/>
    <p:sldId id="445" r:id="rId44"/>
    <p:sldId id="446" r:id="rId45"/>
    <p:sldId id="447" r:id="rId46"/>
    <p:sldId id="327" r:id="rId47"/>
    <p:sldId id="448" r:id="rId48"/>
    <p:sldId id="449" r:id="rId49"/>
    <p:sldId id="450" r:id="rId50"/>
    <p:sldId id="451" r:id="rId51"/>
    <p:sldId id="452" r:id="rId52"/>
    <p:sldId id="453" r:id="rId53"/>
    <p:sldId id="454" r:id="rId54"/>
    <p:sldId id="455" r:id="rId55"/>
    <p:sldId id="456" r:id="rId56"/>
    <p:sldId id="457" r:id="rId57"/>
    <p:sldId id="458" r:id="rId58"/>
    <p:sldId id="459" r:id="rId59"/>
    <p:sldId id="460" r:id="rId60"/>
    <p:sldId id="461" r:id="rId61"/>
    <p:sldId id="462" r:id="rId62"/>
    <p:sldId id="463" r:id="rId63"/>
    <p:sldId id="464" r:id="rId64"/>
    <p:sldId id="465" r:id="rId65"/>
    <p:sldId id="334" r:id="rId66"/>
    <p:sldId id="375" r:id="rId67"/>
    <p:sldId id="466" r:id="rId68"/>
    <p:sldId id="467" r:id="rId69"/>
    <p:sldId id="468" r:id="rId70"/>
  </p:sldIdLst>
  <p:sldSz cx="12192000" cy="6858000"/>
  <p:notesSz cx="6858000" cy="91170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isura Embuldeniya" initials="TE" lastIdx="1" clrIdx="0">
    <p:extLst>
      <p:ext uri="{19B8F6BF-5375-455C-9EA6-DF929625EA0E}">
        <p15:presenceInfo xmlns:p15="http://schemas.microsoft.com/office/powerpoint/2012/main" userId="Thisura Embuldeniy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00"/>
    <a:srgbClr val="005684"/>
    <a:srgbClr val="990000"/>
    <a:srgbClr val="008101"/>
    <a:srgbClr val="00D500"/>
    <a:srgbClr val="00D5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92" autoAdjust="0"/>
    <p:restoredTop sz="85111" autoAdjust="0"/>
  </p:normalViewPr>
  <p:slideViewPr>
    <p:cSldViewPr>
      <p:cViewPr>
        <p:scale>
          <a:sx n="66" d="100"/>
          <a:sy n="66" d="100"/>
        </p:scale>
        <p:origin x="-24" y="708"/>
      </p:cViewPr>
      <p:guideLst>
        <p:guide orient="horz" pos="2160"/>
        <p:guide pos="3840"/>
      </p:guideLst>
    </p:cSldViewPr>
  </p:slideViewPr>
  <p:outlineViewPr>
    <p:cViewPr>
      <p:scale>
        <a:sx n="33" d="100"/>
        <a:sy n="33" d="100"/>
      </p:scale>
      <p:origin x="0" y="-32096"/>
    </p:cViewPr>
  </p:outlineViewPr>
  <p:notesTextViewPr>
    <p:cViewPr>
      <p:scale>
        <a:sx n="100" d="100"/>
        <a:sy n="100" d="100"/>
      </p:scale>
      <p:origin x="0" y="0"/>
    </p:cViewPr>
  </p:notesTextViewPr>
  <p:sorterViewPr>
    <p:cViewPr>
      <p:scale>
        <a:sx n="100" d="100"/>
        <a:sy n="100" d="100"/>
      </p:scale>
      <p:origin x="0" y="755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0006009-C8A5-F11E-E268-93F974210EC9}"/>
              </a:ext>
            </a:extLst>
          </p:cNvPr>
          <p:cNvSpPr>
            <a:spLocks noGrp="1" noChangeArrowheads="1"/>
          </p:cNvSpPr>
          <p:nvPr>
            <p:ph type="hdr" sz="quarter"/>
          </p:nvPr>
        </p:nvSpPr>
        <p:spPr bwMode="auto">
          <a:xfrm>
            <a:off x="0" y="0"/>
            <a:ext cx="2971800" cy="455613"/>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latin typeface="Times" charset="0"/>
                <a:ea typeface="ＭＳ Ｐゴシック" charset="0"/>
                <a:cs typeface="+mn-cs"/>
              </a:defRPr>
            </a:lvl1pPr>
          </a:lstStyle>
          <a:p>
            <a:pPr>
              <a:defRPr/>
            </a:pPr>
            <a:endParaRPr lang="en-US"/>
          </a:p>
        </p:txBody>
      </p:sp>
      <p:sp>
        <p:nvSpPr>
          <p:cNvPr id="17411" name="Rectangle 3">
            <a:extLst>
              <a:ext uri="{FF2B5EF4-FFF2-40B4-BE49-F238E27FC236}">
                <a16:creationId xmlns:a16="http://schemas.microsoft.com/office/drawing/2014/main" id="{CC0CA48C-09AF-7C9A-4195-3D2328B89822}"/>
              </a:ext>
            </a:extLst>
          </p:cNvPr>
          <p:cNvSpPr>
            <a:spLocks noGrp="1" noChangeArrowheads="1"/>
          </p:cNvSpPr>
          <p:nvPr>
            <p:ph type="dt" sz="quarter" idx="1"/>
          </p:nvPr>
        </p:nvSpPr>
        <p:spPr bwMode="auto">
          <a:xfrm>
            <a:off x="3886200" y="0"/>
            <a:ext cx="2971800" cy="455613"/>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latin typeface="Times" charset="0"/>
                <a:ea typeface="ＭＳ Ｐゴシック" charset="0"/>
                <a:cs typeface="+mn-cs"/>
              </a:defRPr>
            </a:lvl1pPr>
          </a:lstStyle>
          <a:p>
            <a:pPr>
              <a:defRPr/>
            </a:pPr>
            <a:endParaRPr lang="en-US"/>
          </a:p>
        </p:txBody>
      </p:sp>
      <p:sp>
        <p:nvSpPr>
          <p:cNvPr id="17412" name="Rectangle 4">
            <a:extLst>
              <a:ext uri="{FF2B5EF4-FFF2-40B4-BE49-F238E27FC236}">
                <a16:creationId xmlns:a16="http://schemas.microsoft.com/office/drawing/2014/main" id="{7776C944-EA5B-1FAF-B28C-8D8CA6F34CCB}"/>
              </a:ext>
            </a:extLst>
          </p:cNvPr>
          <p:cNvSpPr>
            <a:spLocks noGrp="1" noChangeArrowheads="1"/>
          </p:cNvSpPr>
          <p:nvPr>
            <p:ph type="ftr" sz="quarter" idx="2"/>
          </p:nvPr>
        </p:nvSpPr>
        <p:spPr bwMode="auto">
          <a:xfrm>
            <a:off x="0" y="8661400"/>
            <a:ext cx="2971800" cy="455613"/>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latin typeface="Times" charset="0"/>
                <a:ea typeface="ＭＳ Ｐゴシック" charset="0"/>
                <a:cs typeface="+mn-cs"/>
              </a:defRPr>
            </a:lvl1pPr>
          </a:lstStyle>
          <a:p>
            <a:pPr>
              <a:defRPr/>
            </a:pPr>
            <a:endParaRPr lang="en-US"/>
          </a:p>
        </p:txBody>
      </p:sp>
      <p:sp>
        <p:nvSpPr>
          <p:cNvPr id="17413" name="Rectangle 5">
            <a:extLst>
              <a:ext uri="{FF2B5EF4-FFF2-40B4-BE49-F238E27FC236}">
                <a16:creationId xmlns:a16="http://schemas.microsoft.com/office/drawing/2014/main" id="{84F00AD5-AD79-FF2F-0790-B8A4F97E4A1C}"/>
              </a:ext>
            </a:extLst>
          </p:cNvPr>
          <p:cNvSpPr>
            <a:spLocks noGrp="1" noChangeArrowheads="1"/>
          </p:cNvSpPr>
          <p:nvPr>
            <p:ph type="sldNum" sz="quarter" idx="3"/>
          </p:nvPr>
        </p:nvSpPr>
        <p:spPr bwMode="auto">
          <a:xfrm>
            <a:off x="3886200" y="8661400"/>
            <a:ext cx="2971800" cy="455613"/>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64317DC3-BFDA-0947-A178-1C298ABFF08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88A19D3-F2AC-CA32-3DA3-E3ED416DC148}"/>
              </a:ext>
            </a:extLst>
          </p:cNvPr>
          <p:cNvSpPr>
            <a:spLocks noGrp="1"/>
          </p:cNvSpPr>
          <p:nvPr>
            <p:ph type="hdr" sz="quarter"/>
          </p:nvPr>
        </p:nvSpPr>
        <p:spPr>
          <a:xfrm>
            <a:off x="0" y="0"/>
            <a:ext cx="2971800" cy="455613"/>
          </a:xfrm>
          <a:prstGeom prst="rect">
            <a:avLst/>
          </a:prstGeom>
        </p:spPr>
        <p:txBody>
          <a:bodyPr vert="horz" lIns="91440" tIns="45720" rIns="91440" bIns="45720" rtlCol="0"/>
          <a:lstStyle>
            <a:lvl1pPr algn="l">
              <a:defRPr sz="1200">
                <a:latin typeface="Times" charset="0"/>
                <a:ea typeface="ＭＳ Ｐゴシック" charset="0"/>
                <a:cs typeface="+mn-cs"/>
              </a:defRPr>
            </a:lvl1pPr>
          </a:lstStyle>
          <a:p>
            <a:pPr>
              <a:defRPr/>
            </a:pPr>
            <a:endParaRPr lang="en-US"/>
          </a:p>
        </p:txBody>
      </p:sp>
      <p:sp>
        <p:nvSpPr>
          <p:cNvPr id="3" name="Date Placeholder 2">
            <a:extLst>
              <a:ext uri="{FF2B5EF4-FFF2-40B4-BE49-F238E27FC236}">
                <a16:creationId xmlns:a16="http://schemas.microsoft.com/office/drawing/2014/main" id="{EAB7701A-D056-2203-2DC3-AE192D1E50CB}"/>
              </a:ext>
            </a:extLst>
          </p:cNvPr>
          <p:cNvSpPr>
            <a:spLocks noGrp="1"/>
          </p:cNvSpPr>
          <p:nvPr>
            <p:ph type="dt" idx="1"/>
          </p:nvPr>
        </p:nvSpPr>
        <p:spPr>
          <a:xfrm>
            <a:off x="3884613" y="0"/>
            <a:ext cx="2971800" cy="455613"/>
          </a:xfrm>
          <a:prstGeom prst="rect">
            <a:avLst/>
          </a:prstGeom>
        </p:spPr>
        <p:txBody>
          <a:bodyPr vert="horz" wrap="square" lIns="91440" tIns="45720" rIns="91440" bIns="45720" numCol="1" anchor="t" anchorCtr="0" compatLnSpc="1">
            <a:prstTxWarp prst="textNoShape">
              <a:avLst/>
            </a:prstTxWarp>
          </a:bodyPr>
          <a:lstStyle>
            <a:lvl1pPr algn="r">
              <a:defRPr sz="1200">
                <a:latin typeface="Times" charset="0"/>
                <a:ea typeface="ＭＳ Ｐゴシック" charset="-128"/>
              </a:defRPr>
            </a:lvl1pPr>
          </a:lstStyle>
          <a:p>
            <a:pPr>
              <a:defRPr/>
            </a:pPr>
            <a:fld id="{D6B0F57A-04E5-0540-A1A0-952260D73BE1}" type="datetimeFigureOut">
              <a:rPr lang="en-US" altLang="en-US"/>
              <a:pPr>
                <a:defRPr/>
              </a:pPr>
              <a:t>8/23/2025</a:t>
            </a:fld>
            <a:endParaRPr lang="en-US" altLang="en-US"/>
          </a:p>
        </p:txBody>
      </p:sp>
      <p:sp>
        <p:nvSpPr>
          <p:cNvPr id="4" name="Slide Image Placeholder 3">
            <a:extLst>
              <a:ext uri="{FF2B5EF4-FFF2-40B4-BE49-F238E27FC236}">
                <a16:creationId xmlns:a16="http://schemas.microsoft.com/office/drawing/2014/main" id="{0896BB95-6A69-34AB-1339-78BD7D1883C8}"/>
              </a:ext>
            </a:extLst>
          </p:cNvPr>
          <p:cNvSpPr>
            <a:spLocks noGrp="1" noRot="1" noChangeAspect="1"/>
          </p:cNvSpPr>
          <p:nvPr>
            <p:ph type="sldImg" idx="2"/>
          </p:nvPr>
        </p:nvSpPr>
        <p:spPr>
          <a:xfrm>
            <a:off x="392113" y="684213"/>
            <a:ext cx="6073775" cy="3417887"/>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6A727E08-A12F-E29B-335E-D474A0326597}"/>
              </a:ext>
            </a:extLst>
          </p:cNvPr>
          <p:cNvSpPr>
            <a:spLocks noGrp="1"/>
          </p:cNvSpPr>
          <p:nvPr>
            <p:ph type="body" sz="quarter" idx="3"/>
          </p:nvPr>
        </p:nvSpPr>
        <p:spPr>
          <a:xfrm>
            <a:off x="685800" y="4330700"/>
            <a:ext cx="5486400" cy="41021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216FFD0A-71DC-9E9D-A3BD-CA756C07BF7D}"/>
              </a:ext>
            </a:extLst>
          </p:cNvPr>
          <p:cNvSpPr>
            <a:spLocks noGrp="1"/>
          </p:cNvSpPr>
          <p:nvPr>
            <p:ph type="ftr" sz="quarter" idx="4"/>
          </p:nvPr>
        </p:nvSpPr>
        <p:spPr>
          <a:xfrm>
            <a:off x="0" y="8659813"/>
            <a:ext cx="2971800" cy="455612"/>
          </a:xfrm>
          <a:prstGeom prst="rect">
            <a:avLst/>
          </a:prstGeom>
        </p:spPr>
        <p:txBody>
          <a:bodyPr vert="horz" lIns="91440" tIns="45720" rIns="91440" bIns="45720" rtlCol="0" anchor="b"/>
          <a:lstStyle>
            <a:lvl1pPr algn="l">
              <a:defRPr sz="1200">
                <a:latin typeface="Times" charset="0"/>
                <a:ea typeface="ＭＳ Ｐゴシック" charset="0"/>
                <a:cs typeface="+mn-cs"/>
              </a:defRPr>
            </a:lvl1pPr>
          </a:lstStyle>
          <a:p>
            <a:pPr>
              <a:defRPr/>
            </a:pPr>
            <a:endParaRPr lang="en-US"/>
          </a:p>
        </p:txBody>
      </p:sp>
      <p:sp>
        <p:nvSpPr>
          <p:cNvPr id="7" name="Slide Number Placeholder 6">
            <a:extLst>
              <a:ext uri="{FF2B5EF4-FFF2-40B4-BE49-F238E27FC236}">
                <a16:creationId xmlns:a16="http://schemas.microsoft.com/office/drawing/2014/main" id="{2A8BAAF5-D0F0-5094-5D9A-B211B413BB2F}"/>
              </a:ext>
            </a:extLst>
          </p:cNvPr>
          <p:cNvSpPr>
            <a:spLocks noGrp="1"/>
          </p:cNvSpPr>
          <p:nvPr>
            <p:ph type="sldNum" sz="quarter" idx="5"/>
          </p:nvPr>
        </p:nvSpPr>
        <p:spPr>
          <a:xfrm>
            <a:off x="3884613" y="8659813"/>
            <a:ext cx="2971800" cy="455612"/>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41BD23AC-336B-CE4A-AE44-9815AB59A40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1BD23AC-336B-CE4A-AE44-9815AB59A406}" type="slidenum">
              <a:rPr lang="en-US" altLang="en-US" smtClean="0"/>
              <a:pPr>
                <a:defRPr/>
              </a:pPr>
              <a:t>1</a:t>
            </a:fld>
            <a:endParaRPr lang="en-US" altLang="en-US"/>
          </a:p>
        </p:txBody>
      </p:sp>
    </p:spTree>
    <p:extLst>
      <p:ext uri="{BB962C8B-B14F-4D97-AF65-F5344CB8AC3E}">
        <p14:creationId xmlns:p14="http://schemas.microsoft.com/office/powerpoint/2010/main" val="30599801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35E5AC7-8B0F-BE49-BF91-70CFAC4BAE5B}" type="slidenum">
              <a:rPr lang="en-US" smtClean="0"/>
              <a:t>2</a:t>
            </a:fld>
            <a:endParaRPr lang="en-US"/>
          </a:p>
        </p:txBody>
      </p:sp>
    </p:spTree>
    <p:extLst>
      <p:ext uri="{BB962C8B-B14F-4D97-AF65-F5344CB8AC3E}">
        <p14:creationId xmlns:p14="http://schemas.microsoft.com/office/powerpoint/2010/main" val="2513298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3</a:t>
            </a:fld>
            <a:endParaRPr lang="en-US"/>
          </a:p>
        </p:txBody>
      </p:sp>
    </p:spTree>
    <p:extLst>
      <p:ext uri="{BB962C8B-B14F-4D97-AF65-F5344CB8AC3E}">
        <p14:creationId xmlns:p14="http://schemas.microsoft.com/office/powerpoint/2010/main" val="40474713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4</a:t>
            </a:fld>
            <a:endParaRPr lang="en-US"/>
          </a:p>
        </p:txBody>
      </p:sp>
    </p:spTree>
    <p:extLst>
      <p:ext uri="{BB962C8B-B14F-4D97-AF65-F5344CB8AC3E}">
        <p14:creationId xmlns:p14="http://schemas.microsoft.com/office/powerpoint/2010/main" val="1639118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5</a:t>
            </a:fld>
            <a:endParaRPr lang="en-US"/>
          </a:p>
        </p:txBody>
      </p:sp>
    </p:spTree>
    <p:extLst>
      <p:ext uri="{BB962C8B-B14F-4D97-AF65-F5344CB8AC3E}">
        <p14:creationId xmlns:p14="http://schemas.microsoft.com/office/powerpoint/2010/main" val="1870266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6</a:t>
            </a:fld>
            <a:endParaRPr lang="en-US"/>
          </a:p>
        </p:txBody>
      </p:sp>
    </p:spTree>
    <p:extLst>
      <p:ext uri="{BB962C8B-B14F-4D97-AF65-F5344CB8AC3E}">
        <p14:creationId xmlns:p14="http://schemas.microsoft.com/office/powerpoint/2010/main" val="1052570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7</a:t>
            </a:fld>
            <a:endParaRPr lang="en-US"/>
          </a:p>
        </p:txBody>
      </p:sp>
    </p:spTree>
    <p:extLst>
      <p:ext uri="{BB962C8B-B14F-4D97-AF65-F5344CB8AC3E}">
        <p14:creationId xmlns:p14="http://schemas.microsoft.com/office/powerpoint/2010/main" val="12992882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8</a:t>
            </a:fld>
            <a:endParaRPr lang="en-US"/>
          </a:p>
        </p:txBody>
      </p:sp>
    </p:spTree>
    <p:extLst>
      <p:ext uri="{BB962C8B-B14F-4D97-AF65-F5344CB8AC3E}">
        <p14:creationId xmlns:p14="http://schemas.microsoft.com/office/powerpoint/2010/main" val="1073367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9</a:t>
            </a:fld>
            <a:endParaRPr lang="en-US"/>
          </a:p>
        </p:txBody>
      </p:sp>
    </p:spTree>
    <p:extLst>
      <p:ext uri="{BB962C8B-B14F-4D97-AF65-F5344CB8AC3E}">
        <p14:creationId xmlns:p14="http://schemas.microsoft.com/office/powerpoint/2010/main" val="35862048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10</a:t>
            </a:fld>
            <a:endParaRPr lang="en-US"/>
          </a:p>
        </p:txBody>
      </p:sp>
    </p:spTree>
    <p:extLst>
      <p:ext uri="{BB962C8B-B14F-4D97-AF65-F5344CB8AC3E}">
        <p14:creationId xmlns:p14="http://schemas.microsoft.com/office/powerpoint/2010/main" val="33357052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35E5AC7-8B0F-BE49-BF91-70CFAC4BAE5B}" type="slidenum">
              <a:rPr lang="en-US" smtClean="0"/>
              <a:t>11</a:t>
            </a:fld>
            <a:endParaRPr lang="en-US"/>
          </a:p>
        </p:txBody>
      </p:sp>
    </p:spTree>
    <p:extLst>
      <p:ext uri="{BB962C8B-B14F-4D97-AF65-F5344CB8AC3E}">
        <p14:creationId xmlns:p14="http://schemas.microsoft.com/office/powerpoint/2010/main" val="4001837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a:p>
            <a:r>
              <a:rPr lang="en-US" dirty="0"/>
              <a:t>A </a:t>
            </a:r>
            <a:r>
              <a:rPr lang="en-US" b="1" dirty="0"/>
              <a:t>class</a:t>
            </a:r>
            <a:r>
              <a:rPr lang="en-US" dirty="0"/>
              <a:t> is like a blueprint for an object. Here, </a:t>
            </a:r>
            <a:r>
              <a:rPr lang="en-US" dirty="0" err="1"/>
              <a:t>BSTNode</a:t>
            </a:r>
            <a:r>
              <a:rPr lang="en-US" dirty="0"/>
              <a:t> represents a </a:t>
            </a:r>
            <a:r>
              <a:rPr lang="en-US" b="1" dirty="0"/>
              <a:t>single node</a:t>
            </a:r>
            <a:r>
              <a:rPr lang="en-US" dirty="0"/>
              <a:t> of a Binary Tree (BT).</a:t>
            </a:r>
            <a:br>
              <a:rPr lang="en-US" dirty="0"/>
            </a:br>
            <a:endParaRPr lang="en-US" dirty="0"/>
          </a:p>
          <a:p>
            <a:r>
              <a:rPr lang="en-US" dirty="0"/>
              <a:t>__init__ is the </a:t>
            </a:r>
            <a:r>
              <a:rPr lang="en-US" b="1" dirty="0"/>
              <a:t>constructor</a:t>
            </a:r>
            <a:r>
              <a:rPr lang="en-US" dirty="0"/>
              <a:t> that runs when a new node is created.</a:t>
            </a:r>
            <a:br>
              <a:rPr lang="en-US" dirty="0"/>
            </a:br>
            <a:endParaRPr lang="en-US" dirty="0"/>
          </a:p>
          <a:p>
            <a:r>
              <a:rPr lang="en-US" dirty="0"/>
              <a:t>Each node has:</a:t>
            </a:r>
            <a:br>
              <a:rPr lang="en-US" dirty="0"/>
            </a:br>
            <a:endParaRPr lang="en-US" dirty="0"/>
          </a:p>
          <a:p>
            <a:pPr marL="171450" indent="-171450">
              <a:buFont typeface="Arial" panose="020B0604020202020204" pitchFamily="34" charset="0"/>
              <a:buChar char="•"/>
            </a:pPr>
            <a:r>
              <a:rPr lang="en-US" dirty="0"/>
              <a:t>item: The actual data stored in the node (e.g., an integer).</a:t>
            </a:r>
          </a:p>
          <a:p>
            <a:pPr marL="171450" indent="-171450">
              <a:buFont typeface="Arial" panose="020B0604020202020204" pitchFamily="34" charset="0"/>
              <a:buChar char="•"/>
            </a:pPr>
            <a:r>
              <a:rPr lang="en-US" dirty="0"/>
              <a:t>left: A link to the </a:t>
            </a:r>
            <a:r>
              <a:rPr lang="en-US" b="1" dirty="0"/>
              <a:t>left child</a:t>
            </a:r>
            <a:r>
              <a:rPr lang="en-US" dirty="0"/>
              <a:t> node </a:t>
            </a:r>
          </a:p>
          <a:p>
            <a:pPr marL="171450" indent="-171450">
              <a:buFont typeface="Arial" panose="020B0604020202020204" pitchFamily="34" charset="0"/>
              <a:buChar char="•"/>
            </a:pPr>
            <a:r>
              <a:rPr lang="en-US" dirty="0"/>
              <a:t>right: A link to the </a:t>
            </a:r>
            <a:r>
              <a:rPr lang="en-US" b="1" dirty="0"/>
              <a:t>right child</a:t>
            </a:r>
            <a:r>
              <a:rPr lang="en-US" dirty="0"/>
              <a:t> node</a:t>
            </a:r>
          </a:p>
          <a:p>
            <a:pPr marL="171450" indent="-171450">
              <a:buFont typeface="Arial" panose="020B0604020202020204" pitchFamily="34" charset="0"/>
              <a:buChar char="•"/>
            </a:pPr>
            <a:endParaRPr lang="en-US" dirty="0"/>
          </a:p>
          <a:p>
            <a:r>
              <a:rPr lang="en-US" dirty="0"/>
              <a:t>In a BT:</a:t>
            </a:r>
            <a:br>
              <a:rPr lang="en-US" dirty="0"/>
            </a:br>
            <a:endParaRPr lang="en-US" dirty="0"/>
          </a:p>
          <a:p>
            <a:r>
              <a:rPr lang="en-US" dirty="0"/>
              <a:t>Left child stores values </a:t>
            </a:r>
            <a:r>
              <a:rPr lang="en-US" b="1" dirty="0"/>
              <a:t>smaller</a:t>
            </a:r>
            <a:r>
              <a:rPr lang="en-US" dirty="0"/>
              <a:t> than the current node’s item.</a:t>
            </a:r>
          </a:p>
          <a:p>
            <a:r>
              <a:rPr lang="en-US" dirty="0"/>
              <a:t>Right child stores values </a:t>
            </a:r>
            <a:r>
              <a:rPr lang="en-US" b="1" dirty="0"/>
              <a:t>greater</a:t>
            </a:r>
            <a:r>
              <a:rPr lang="en-US" dirty="0"/>
              <a:t> than the current node’s item.</a:t>
            </a:r>
          </a:p>
          <a:p>
            <a:endParaRPr lang="en-US" dirty="0"/>
          </a:p>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12</a:t>
            </a:fld>
            <a:endParaRPr lang="en-US"/>
          </a:p>
        </p:txBody>
      </p:sp>
    </p:spTree>
    <p:extLst>
      <p:ext uri="{BB962C8B-B14F-4D97-AF65-F5344CB8AC3E}">
        <p14:creationId xmlns:p14="http://schemas.microsoft.com/office/powerpoint/2010/main" val="32431376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def __init__(self, data):</a:t>
            </a:r>
          </a:p>
          <a:p>
            <a:endParaRPr lang="en-US" dirty="0"/>
          </a:p>
          <a:p>
            <a:r>
              <a:rPr lang="en-US" dirty="0"/>
              <a:t>This is the </a:t>
            </a:r>
            <a:r>
              <a:rPr lang="en-US" b="1" dirty="0"/>
              <a:t>constructor method</a:t>
            </a:r>
            <a:r>
              <a:rPr lang="en-US" dirty="0"/>
              <a:t>.</a:t>
            </a:r>
          </a:p>
          <a:p>
            <a:r>
              <a:rPr lang="en-US" dirty="0"/>
              <a:t>It runs automatically whenever a new </a:t>
            </a:r>
            <a:r>
              <a:rPr lang="en-US" dirty="0" err="1"/>
              <a:t>QueueNode</a:t>
            </a:r>
            <a:r>
              <a:rPr lang="en-US" dirty="0"/>
              <a:t> object is created.</a:t>
            </a:r>
          </a:p>
          <a:p>
            <a:r>
              <a:rPr lang="en-US" dirty="0"/>
              <a:t>data is the value you want to store inside this queue node.</a:t>
            </a:r>
          </a:p>
          <a:p>
            <a:endParaRPr lang="en-US" dirty="0"/>
          </a:p>
          <a:p>
            <a:endParaRPr lang="en-US" dirty="0"/>
          </a:p>
          <a:p>
            <a:r>
              <a:rPr lang="en-US" dirty="0"/>
              <a:t>node = </a:t>
            </a:r>
            <a:r>
              <a:rPr lang="en-US" dirty="0" err="1"/>
              <a:t>QueueNode</a:t>
            </a:r>
            <a:r>
              <a:rPr lang="en-US" dirty="0"/>
              <a:t>(10) → Creates a node storing the value 10.</a:t>
            </a:r>
          </a:p>
          <a:p>
            <a:endParaRPr lang="en-US" dirty="0"/>
          </a:p>
          <a:p>
            <a:r>
              <a:rPr lang="en-US" b="1" dirty="0" err="1"/>
              <a:t>self.data</a:t>
            </a:r>
            <a:r>
              <a:rPr lang="en-US" b="1" dirty="0"/>
              <a:t> = data</a:t>
            </a:r>
            <a:endParaRPr lang="en-US" dirty="0"/>
          </a:p>
          <a:p>
            <a:pPr lvl="1"/>
            <a:r>
              <a:rPr lang="en-US" dirty="0"/>
              <a:t>Saves the given data inside the node.</a:t>
            </a:r>
          </a:p>
          <a:p>
            <a:pPr lvl="1"/>
            <a:r>
              <a:rPr lang="en-US" dirty="0"/>
              <a:t>This is the </a:t>
            </a:r>
            <a:r>
              <a:rPr lang="en-US" b="1" dirty="0"/>
              <a:t>payload</a:t>
            </a:r>
            <a:r>
              <a:rPr lang="en-US" dirty="0"/>
              <a:t> of the queue node.</a:t>
            </a:r>
          </a:p>
          <a:p>
            <a:pPr lvl="1"/>
            <a:r>
              <a:rPr lang="en-US" dirty="0"/>
              <a:t>In a queue of BST nodes, data will store a </a:t>
            </a:r>
            <a:r>
              <a:rPr lang="en-US" b="1" dirty="0"/>
              <a:t>reference to a BST node</a:t>
            </a:r>
            <a:r>
              <a:rPr lang="en-US" dirty="0"/>
              <a:t> (not just integers).</a:t>
            </a:r>
          </a:p>
          <a:p>
            <a:endParaRPr lang="en-US" dirty="0"/>
          </a:p>
          <a:p>
            <a:endParaRPr lang="en-US" dirty="0"/>
          </a:p>
          <a:p>
            <a:r>
              <a:rPr lang="en-US" b="1" dirty="0" err="1"/>
              <a:t>self.nextPtr</a:t>
            </a:r>
            <a:r>
              <a:rPr lang="en-US" b="1" dirty="0"/>
              <a:t> = None</a:t>
            </a:r>
            <a:endParaRPr lang="en-US" dirty="0"/>
          </a:p>
          <a:p>
            <a:r>
              <a:rPr lang="en-US" dirty="0"/>
              <a:t>This creates a </a:t>
            </a:r>
            <a:r>
              <a:rPr lang="en-US" b="1" dirty="0"/>
              <a:t>link</a:t>
            </a:r>
            <a:r>
              <a:rPr lang="en-US" dirty="0"/>
              <a:t> (a pointer) to the </a:t>
            </a:r>
            <a:r>
              <a:rPr lang="en-US" b="1" dirty="0"/>
              <a:t>next node</a:t>
            </a:r>
            <a:r>
              <a:rPr lang="en-US" dirty="0"/>
              <a:t> in the queue.</a:t>
            </a:r>
          </a:p>
          <a:p>
            <a:r>
              <a:rPr lang="en-US" dirty="0"/>
              <a:t>Initially, when a node is created, it doesn’t point to anything → so it’s set to None.</a:t>
            </a:r>
          </a:p>
          <a:p>
            <a:r>
              <a:rPr lang="en-US" dirty="0"/>
              <a:t>Later, when more nodes are added, </a:t>
            </a:r>
            <a:r>
              <a:rPr lang="en-US" dirty="0" err="1"/>
              <a:t>nextPtr</a:t>
            </a:r>
            <a:r>
              <a:rPr lang="en-US" dirty="0"/>
              <a:t> will be updated to connect them.</a:t>
            </a:r>
          </a:p>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13</a:t>
            </a:fld>
            <a:endParaRPr lang="en-US"/>
          </a:p>
        </p:txBody>
      </p:sp>
    </p:spTree>
    <p:extLst>
      <p:ext uri="{BB962C8B-B14F-4D97-AF65-F5344CB8AC3E}">
        <p14:creationId xmlns:p14="http://schemas.microsoft.com/office/powerpoint/2010/main" val="537243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def __init__(self):</a:t>
            </a:r>
            <a:endParaRPr lang="en-US" dirty="0"/>
          </a:p>
          <a:p>
            <a:r>
              <a:rPr lang="en-US" dirty="0"/>
              <a:t>This is the </a:t>
            </a:r>
            <a:r>
              <a:rPr lang="en-US" b="1" dirty="0"/>
              <a:t>constructor</a:t>
            </a:r>
            <a:r>
              <a:rPr lang="en-US" dirty="0"/>
              <a:t> for the queue.</a:t>
            </a:r>
          </a:p>
          <a:p>
            <a:r>
              <a:rPr lang="en-US" dirty="0"/>
              <a:t>It runs once when you create a new queue object.</a:t>
            </a:r>
          </a:p>
          <a:p>
            <a:endParaRPr lang="en-US" dirty="0"/>
          </a:p>
          <a:p>
            <a:r>
              <a:rPr lang="en-US" dirty="0"/>
              <a:t>q = Queue() → Creates an empty queue.</a:t>
            </a:r>
          </a:p>
          <a:p>
            <a:endParaRPr lang="en-US" dirty="0"/>
          </a:p>
          <a:p>
            <a:r>
              <a:rPr lang="en-US" b="1" dirty="0" err="1"/>
              <a:t>self.head</a:t>
            </a:r>
            <a:r>
              <a:rPr lang="en-US" b="1" dirty="0"/>
              <a:t> = None</a:t>
            </a:r>
            <a:endParaRPr lang="en-US" dirty="0"/>
          </a:p>
          <a:p>
            <a:r>
              <a:rPr lang="en-US" dirty="0"/>
              <a:t>head points to the </a:t>
            </a:r>
            <a:r>
              <a:rPr lang="en-US" b="1" dirty="0"/>
              <a:t>first node</a:t>
            </a:r>
            <a:r>
              <a:rPr lang="en-US" dirty="0"/>
              <a:t> in the queue (the front).</a:t>
            </a:r>
          </a:p>
          <a:p>
            <a:r>
              <a:rPr lang="en-US" dirty="0"/>
              <a:t>When the queue is empty, there’s no first node → so head is set to None.</a:t>
            </a:r>
          </a:p>
          <a:p>
            <a:endParaRPr lang="en-US" dirty="0"/>
          </a:p>
          <a:p>
            <a:r>
              <a:rPr lang="en-US" b="1" dirty="0" err="1"/>
              <a:t>self.tail</a:t>
            </a:r>
            <a:r>
              <a:rPr lang="en-US" b="1" dirty="0"/>
              <a:t> = None</a:t>
            </a:r>
            <a:endParaRPr lang="en-US" dirty="0"/>
          </a:p>
          <a:p>
            <a:r>
              <a:rPr lang="en-US" dirty="0"/>
              <a:t>tail points to the </a:t>
            </a:r>
            <a:r>
              <a:rPr lang="en-US" b="1" dirty="0"/>
              <a:t>last node</a:t>
            </a:r>
            <a:r>
              <a:rPr lang="en-US" dirty="0"/>
              <a:t> in the queue (the rear).</a:t>
            </a:r>
          </a:p>
          <a:p>
            <a:r>
              <a:rPr lang="en-US" dirty="0"/>
              <a:t>When the queue is empty, there’s no last node → so tail is also set to None.</a:t>
            </a:r>
          </a:p>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14</a:t>
            </a:fld>
            <a:endParaRPr lang="en-US"/>
          </a:p>
        </p:txBody>
      </p:sp>
    </p:spTree>
    <p:extLst>
      <p:ext uri="{BB962C8B-B14F-4D97-AF65-F5344CB8AC3E}">
        <p14:creationId xmlns:p14="http://schemas.microsoft.com/office/powerpoint/2010/main" val="27391267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15</a:t>
            </a:fld>
            <a:endParaRPr lang="en-US"/>
          </a:p>
        </p:txBody>
      </p:sp>
    </p:spTree>
    <p:extLst>
      <p:ext uri="{BB962C8B-B14F-4D97-AF65-F5344CB8AC3E}">
        <p14:creationId xmlns:p14="http://schemas.microsoft.com/office/powerpoint/2010/main" val="40149495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16</a:t>
            </a:fld>
            <a:endParaRPr lang="en-US"/>
          </a:p>
        </p:txBody>
      </p:sp>
    </p:spTree>
    <p:extLst>
      <p:ext uri="{BB962C8B-B14F-4D97-AF65-F5344CB8AC3E}">
        <p14:creationId xmlns:p14="http://schemas.microsoft.com/office/powerpoint/2010/main" val="34651695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17</a:t>
            </a:fld>
            <a:endParaRPr lang="en-US"/>
          </a:p>
        </p:txBody>
      </p:sp>
    </p:spTree>
    <p:extLst>
      <p:ext uri="{BB962C8B-B14F-4D97-AF65-F5344CB8AC3E}">
        <p14:creationId xmlns:p14="http://schemas.microsoft.com/office/powerpoint/2010/main" val="20401411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18</a:t>
            </a:fld>
            <a:endParaRPr lang="en-US"/>
          </a:p>
        </p:txBody>
      </p:sp>
    </p:spTree>
    <p:extLst>
      <p:ext uri="{BB962C8B-B14F-4D97-AF65-F5344CB8AC3E}">
        <p14:creationId xmlns:p14="http://schemas.microsoft.com/office/powerpoint/2010/main" val="10650297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19</a:t>
            </a:fld>
            <a:endParaRPr lang="en-US"/>
          </a:p>
        </p:txBody>
      </p:sp>
    </p:spTree>
    <p:extLst>
      <p:ext uri="{BB962C8B-B14F-4D97-AF65-F5344CB8AC3E}">
        <p14:creationId xmlns:p14="http://schemas.microsoft.com/office/powerpoint/2010/main" val="11349458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20</a:t>
            </a:fld>
            <a:endParaRPr lang="en-US"/>
          </a:p>
        </p:txBody>
      </p:sp>
    </p:spTree>
    <p:extLst>
      <p:ext uri="{BB962C8B-B14F-4D97-AF65-F5344CB8AC3E}">
        <p14:creationId xmlns:p14="http://schemas.microsoft.com/office/powerpoint/2010/main" val="14936321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21</a:t>
            </a:fld>
            <a:endParaRPr lang="en-US"/>
          </a:p>
        </p:txBody>
      </p:sp>
    </p:spTree>
    <p:extLst>
      <p:ext uri="{BB962C8B-B14F-4D97-AF65-F5344CB8AC3E}">
        <p14:creationId xmlns:p14="http://schemas.microsoft.com/office/powerpoint/2010/main" val="41643367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22</a:t>
            </a:fld>
            <a:endParaRPr lang="en-US"/>
          </a:p>
        </p:txBody>
      </p:sp>
    </p:spTree>
    <p:extLst>
      <p:ext uri="{BB962C8B-B14F-4D97-AF65-F5344CB8AC3E}">
        <p14:creationId xmlns:p14="http://schemas.microsoft.com/office/powerpoint/2010/main" val="39298564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23</a:t>
            </a:fld>
            <a:endParaRPr lang="en-US"/>
          </a:p>
        </p:txBody>
      </p:sp>
    </p:spTree>
    <p:extLst>
      <p:ext uri="{BB962C8B-B14F-4D97-AF65-F5344CB8AC3E}">
        <p14:creationId xmlns:p14="http://schemas.microsoft.com/office/powerpoint/2010/main" val="3150682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24</a:t>
            </a:fld>
            <a:endParaRPr lang="en-US"/>
          </a:p>
        </p:txBody>
      </p:sp>
    </p:spTree>
    <p:extLst>
      <p:ext uri="{BB962C8B-B14F-4D97-AF65-F5344CB8AC3E}">
        <p14:creationId xmlns:p14="http://schemas.microsoft.com/office/powerpoint/2010/main" val="25606540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25</a:t>
            </a:fld>
            <a:endParaRPr lang="en-US"/>
          </a:p>
        </p:txBody>
      </p:sp>
    </p:spTree>
    <p:extLst>
      <p:ext uri="{BB962C8B-B14F-4D97-AF65-F5344CB8AC3E}">
        <p14:creationId xmlns:p14="http://schemas.microsoft.com/office/powerpoint/2010/main" val="67722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26</a:t>
            </a:fld>
            <a:endParaRPr lang="en-US"/>
          </a:p>
        </p:txBody>
      </p:sp>
    </p:spTree>
    <p:extLst>
      <p:ext uri="{BB962C8B-B14F-4D97-AF65-F5344CB8AC3E}">
        <p14:creationId xmlns:p14="http://schemas.microsoft.com/office/powerpoint/2010/main" val="22585950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27</a:t>
            </a:fld>
            <a:endParaRPr lang="en-US"/>
          </a:p>
        </p:txBody>
      </p:sp>
    </p:spTree>
    <p:extLst>
      <p:ext uri="{BB962C8B-B14F-4D97-AF65-F5344CB8AC3E}">
        <p14:creationId xmlns:p14="http://schemas.microsoft.com/office/powerpoint/2010/main" val="32838107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28</a:t>
            </a:fld>
            <a:endParaRPr lang="en-US"/>
          </a:p>
        </p:txBody>
      </p:sp>
    </p:spTree>
    <p:extLst>
      <p:ext uri="{BB962C8B-B14F-4D97-AF65-F5344CB8AC3E}">
        <p14:creationId xmlns:p14="http://schemas.microsoft.com/office/powerpoint/2010/main" val="24886945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29</a:t>
            </a:fld>
            <a:endParaRPr lang="en-US"/>
          </a:p>
        </p:txBody>
      </p:sp>
    </p:spTree>
    <p:extLst>
      <p:ext uri="{BB962C8B-B14F-4D97-AF65-F5344CB8AC3E}">
        <p14:creationId xmlns:p14="http://schemas.microsoft.com/office/powerpoint/2010/main" val="685401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30</a:t>
            </a:fld>
            <a:endParaRPr lang="en-US"/>
          </a:p>
        </p:txBody>
      </p:sp>
    </p:spTree>
    <p:extLst>
      <p:ext uri="{BB962C8B-B14F-4D97-AF65-F5344CB8AC3E}">
        <p14:creationId xmlns:p14="http://schemas.microsoft.com/office/powerpoint/2010/main" val="7240756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31</a:t>
            </a:fld>
            <a:endParaRPr lang="en-US"/>
          </a:p>
        </p:txBody>
      </p:sp>
    </p:spTree>
    <p:extLst>
      <p:ext uri="{BB962C8B-B14F-4D97-AF65-F5344CB8AC3E}">
        <p14:creationId xmlns:p14="http://schemas.microsoft.com/office/powerpoint/2010/main" val="40261897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32</a:t>
            </a:fld>
            <a:endParaRPr lang="en-US"/>
          </a:p>
        </p:txBody>
      </p:sp>
    </p:spTree>
    <p:extLst>
      <p:ext uri="{BB962C8B-B14F-4D97-AF65-F5344CB8AC3E}">
        <p14:creationId xmlns:p14="http://schemas.microsoft.com/office/powerpoint/2010/main" val="6248013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33</a:t>
            </a:fld>
            <a:endParaRPr lang="en-US"/>
          </a:p>
        </p:txBody>
      </p:sp>
    </p:spTree>
    <p:extLst>
      <p:ext uri="{BB962C8B-B14F-4D97-AF65-F5344CB8AC3E}">
        <p14:creationId xmlns:p14="http://schemas.microsoft.com/office/powerpoint/2010/main" val="30716192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34</a:t>
            </a:fld>
            <a:endParaRPr lang="en-US"/>
          </a:p>
        </p:txBody>
      </p:sp>
    </p:spTree>
    <p:extLst>
      <p:ext uri="{BB962C8B-B14F-4D97-AF65-F5344CB8AC3E}">
        <p14:creationId xmlns:p14="http://schemas.microsoft.com/office/powerpoint/2010/main" val="24330525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35</a:t>
            </a:fld>
            <a:endParaRPr lang="en-US"/>
          </a:p>
        </p:txBody>
      </p:sp>
    </p:spTree>
    <p:extLst>
      <p:ext uri="{BB962C8B-B14F-4D97-AF65-F5344CB8AC3E}">
        <p14:creationId xmlns:p14="http://schemas.microsoft.com/office/powerpoint/2010/main" val="8049966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28164-F540-8319-FAC2-C5A791094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9BAB64-AB28-F6AC-603A-8EC82FAC3FE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A24B929-FBAF-8098-546E-60B8DAB66F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75F9CB-3FF9-25E6-B723-9122C01A0C6E}"/>
              </a:ext>
            </a:extLst>
          </p:cNvPr>
          <p:cNvSpPr>
            <a:spLocks noGrp="1"/>
          </p:cNvSpPr>
          <p:nvPr>
            <p:ph type="sldNum" sz="quarter" idx="10"/>
          </p:nvPr>
        </p:nvSpPr>
        <p:spPr/>
        <p:txBody>
          <a:bodyPr/>
          <a:lstStyle/>
          <a:p>
            <a:fld id="{935E5AC7-8B0F-BE49-BF91-70CFAC4BAE5B}" type="slidenum">
              <a:rPr lang="en-US" smtClean="0"/>
              <a:t>36</a:t>
            </a:fld>
            <a:endParaRPr lang="en-US"/>
          </a:p>
        </p:txBody>
      </p:sp>
    </p:spTree>
    <p:extLst>
      <p:ext uri="{BB962C8B-B14F-4D97-AF65-F5344CB8AC3E}">
        <p14:creationId xmlns:p14="http://schemas.microsoft.com/office/powerpoint/2010/main" val="245733215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28164-F540-8319-FAC2-C5A791094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9BAB64-AB28-F6AC-603A-8EC82FAC3FE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A24B929-FBAF-8098-546E-60B8DAB66F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75F9CB-3FF9-25E6-B723-9122C01A0C6E}"/>
              </a:ext>
            </a:extLst>
          </p:cNvPr>
          <p:cNvSpPr>
            <a:spLocks noGrp="1"/>
          </p:cNvSpPr>
          <p:nvPr>
            <p:ph type="sldNum" sz="quarter" idx="10"/>
          </p:nvPr>
        </p:nvSpPr>
        <p:spPr/>
        <p:txBody>
          <a:bodyPr/>
          <a:lstStyle/>
          <a:p>
            <a:fld id="{935E5AC7-8B0F-BE49-BF91-70CFAC4BAE5B}" type="slidenum">
              <a:rPr lang="en-US" smtClean="0"/>
              <a:t>37</a:t>
            </a:fld>
            <a:endParaRPr lang="en-US"/>
          </a:p>
        </p:txBody>
      </p:sp>
    </p:spTree>
    <p:extLst>
      <p:ext uri="{BB962C8B-B14F-4D97-AF65-F5344CB8AC3E}">
        <p14:creationId xmlns:p14="http://schemas.microsoft.com/office/powerpoint/2010/main" val="29262165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28164-F540-8319-FAC2-C5A791094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9BAB64-AB28-F6AC-603A-8EC82FAC3FE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A24B929-FBAF-8098-546E-60B8DAB66F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75F9CB-3FF9-25E6-B723-9122C01A0C6E}"/>
              </a:ext>
            </a:extLst>
          </p:cNvPr>
          <p:cNvSpPr>
            <a:spLocks noGrp="1"/>
          </p:cNvSpPr>
          <p:nvPr>
            <p:ph type="sldNum" sz="quarter" idx="10"/>
          </p:nvPr>
        </p:nvSpPr>
        <p:spPr/>
        <p:txBody>
          <a:bodyPr/>
          <a:lstStyle/>
          <a:p>
            <a:fld id="{935E5AC7-8B0F-BE49-BF91-70CFAC4BAE5B}" type="slidenum">
              <a:rPr lang="en-US" smtClean="0"/>
              <a:t>38</a:t>
            </a:fld>
            <a:endParaRPr lang="en-US"/>
          </a:p>
        </p:txBody>
      </p:sp>
    </p:spTree>
    <p:extLst>
      <p:ext uri="{BB962C8B-B14F-4D97-AF65-F5344CB8AC3E}">
        <p14:creationId xmlns:p14="http://schemas.microsoft.com/office/powerpoint/2010/main" val="14904164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28164-F540-8319-FAC2-C5A791094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9BAB64-AB28-F6AC-603A-8EC82FAC3FE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A24B929-FBAF-8098-546E-60B8DAB66F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75F9CB-3FF9-25E6-B723-9122C01A0C6E}"/>
              </a:ext>
            </a:extLst>
          </p:cNvPr>
          <p:cNvSpPr>
            <a:spLocks noGrp="1"/>
          </p:cNvSpPr>
          <p:nvPr>
            <p:ph type="sldNum" sz="quarter" idx="10"/>
          </p:nvPr>
        </p:nvSpPr>
        <p:spPr/>
        <p:txBody>
          <a:bodyPr/>
          <a:lstStyle/>
          <a:p>
            <a:fld id="{935E5AC7-8B0F-BE49-BF91-70CFAC4BAE5B}" type="slidenum">
              <a:rPr lang="en-US" smtClean="0"/>
              <a:t>39</a:t>
            </a:fld>
            <a:endParaRPr lang="en-US"/>
          </a:p>
        </p:txBody>
      </p:sp>
    </p:spTree>
    <p:extLst>
      <p:ext uri="{BB962C8B-B14F-4D97-AF65-F5344CB8AC3E}">
        <p14:creationId xmlns:p14="http://schemas.microsoft.com/office/powerpoint/2010/main" val="40291328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28164-F540-8319-FAC2-C5A791094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9BAB64-AB28-F6AC-603A-8EC82FAC3FE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A24B929-FBAF-8098-546E-60B8DAB66F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75F9CB-3FF9-25E6-B723-9122C01A0C6E}"/>
              </a:ext>
            </a:extLst>
          </p:cNvPr>
          <p:cNvSpPr>
            <a:spLocks noGrp="1"/>
          </p:cNvSpPr>
          <p:nvPr>
            <p:ph type="sldNum" sz="quarter" idx="10"/>
          </p:nvPr>
        </p:nvSpPr>
        <p:spPr/>
        <p:txBody>
          <a:bodyPr/>
          <a:lstStyle/>
          <a:p>
            <a:fld id="{935E5AC7-8B0F-BE49-BF91-70CFAC4BAE5B}" type="slidenum">
              <a:rPr lang="en-US" smtClean="0"/>
              <a:t>40</a:t>
            </a:fld>
            <a:endParaRPr lang="en-US"/>
          </a:p>
        </p:txBody>
      </p:sp>
    </p:spTree>
    <p:extLst>
      <p:ext uri="{BB962C8B-B14F-4D97-AF65-F5344CB8AC3E}">
        <p14:creationId xmlns:p14="http://schemas.microsoft.com/office/powerpoint/2010/main" val="11852219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invoke our custom function in the main in order to test it.</a:t>
            </a:r>
          </a:p>
        </p:txBody>
      </p:sp>
      <p:sp>
        <p:nvSpPr>
          <p:cNvPr id="4" name="Slide Number Placeholder 3"/>
          <p:cNvSpPr>
            <a:spLocks noGrp="1"/>
          </p:cNvSpPr>
          <p:nvPr>
            <p:ph type="sldNum" sz="quarter" idx="10"/>
          </p:nvPr>
        </p:nvSpPr>
        <p:spPr/>
        <p:txBody>
          <a:bodyPr/>
          <a:lstStyle/>
          <a:p>
            <a:fld id="{935E5AC7-8B0F-BE49-BF91-70CFAC4BAE5B}" type="slidenum">
              <a:rPr lang="en-US" smtClean="0"/>
              <a:t>41</a:t>
            </a:fld>
            <a:endParaRPr lang="en-US"/>
          </a:p>
        </p:txBody>
      </p:sp>
    </p:spTree>
    <p:extLst>
      <p:ext uri="{BB962C8B-B14F-4D97-AF65-F5344CB8AC3E}">
        <p14:creationId xmlns:p14="http://schemas.microsoft.com/office/powerpoint/2010/main" val="17632288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invoke our custom function in the main in order to test it.</a:t>
            </a:r>
          </a:p>
        </p:txBody>
      </p:sp>
      <p:sp>
        <p:nvSpPr>
          <p:cNvPr id="4" name="Slide Number Placeholder 3"/>
          <p:cNvSpPr>
            <a:spLocks noGrp="1"/>
          </p:cNvSpPr>
          <p:nvPr>
            <p:ph type="sldNum" sz="quarter" idx="10"/>
          </p:nvPr>
        </p:nvSpPr>
        <p:spPr/>
        <p:txBody>
          <a:bodyPr/>
          <a:lstStyle/>
          <a:p>
            <a:fld id="{935E5AC7-8B0F-BE49-BF91-70CFAC4BAE5B}" type="slidenum">
              <a:rPr lang="en-US" smtClean="0"/>
              <a:t>42</a:t>
            </a:fld>
            <a:endParaRPr lang="en-US"/>
          </a:p>
        </p:txBody>
      </p:sp>
    </p:spTree>
    <p:extLst>
      <p:ext uri="{BB962C8B-B14F-4D97-AF65-F5344CB8AC3E}">
        <p14:creationId xmlns:p14="http://schemas.microsoft.com/office/powerpoint/2010/main" val="41812387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invoke our custom function in the main in order to test it.</a:t>
            </a:r>
          </a:p>
        </p:txBody>
      </p:sp>
      <p:sp>
        <p:nvSpPr>
          <p:cNvPr id="4" name="Slide Number Placeholder 3"/>
          <p:cNvSpPr>
            <a:spLocks noGrp="1"/>
          </p:cNvSpPr>
          <p:nvPr>
            <p:ph type="sldNum" sz="quarter" idx="10"/>
          </p:nvPr>
        </p:nvSpPr>
        <p:spPr/>
        <p:txBody>
          <a:bodyPr/>
          <a:lstStyle/>
          <a:p>
            <a:fld id="{935E5AC7-8B0F-BE49-BF91-70CFAC4BAE5B}" type="slidenum">
              <a:rPr lang="en-US" smtClean="0"/>
              <a:t>43</a:t>
            </a:fld>
            <a:endParaRPr lang="en-US"/>
          </a:p>
        </p:txBody>
      </p:sp>
    </p:spTree>
    <p:extLst>
      <p:ext uri="{BB962C8B-B14F-4D97-AF65-F5344CB8AC3E}">
        <p14:creationId xmlns:p14="http://schemas.microsoft.com/office/powerpoint/2010/main" val="302461577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invoke our custom function in the main in order to test it.</a:t>
            </a:r>
          </a:p>
        </p:txBody>
      </p:sp>
      <p:sp>
        <p:nvSpPr>
          <p:cNvPr id="4" name="Slide Number Placeholder 3"/>
          <p:cNvSpPr>
            <a:spLocks noGrp="1"/>
          </p:cNvSpPr>
          <p:nvPr>
            <p:ph type="sldNum" sz="quarter" idx="10"/>
          </p:nvPr>
        </p:nvSpPr>
        <p:spPr/>
        <p:txBody>
          <a:bodyPr/>
          <a:lstStyle/>
          <a:p>
            <a:fld id="{935E5AC7-8B0F-BE49-BF91-70CFAC4BAE5B}" type="slidenum">
              <a:rPr lang="en-US" smtClean="0"/>
              <a:t>44</a:t>
            </a:fld>
            <a:endParaRPr lang="en-US"/>
          </a:p>
        </p:txBody>
      </p:sp>
    </p:spTree>
    <p:extLst>
      <p:ext uri="{BB962C8B-B14F-4D97-AF65-F5344CB8AC3E}">
        <p14:creationId xmlns:p14="http://schemas.microsoft.com/office/powerpoint/2010/main" val="22619368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invoke our custom function in the main in order to test it.</a:t>
            </a:r>
          </a:p>
        </p:txBody>
      </p:sp>
      <p:sp>
        <p:nvSpPr>
          <p:cNvPr id="4" name="Slide Number Placeholder 3"/>
          <p:cNvSpPr>
            <a:spLocks noGrp="1"/>
          </p:cNvSpPr>
          <p:nvPr>
            <p:ph type="sldNum" sz="quarter" idx="10"/>
          </p:nvPr>
        </p:nvSpPr>
        <p:spPr/>
        <p:txBody>
          <a:bodyPr/>
          <a:lstStyle/>
          <a:p>
            <a:fld id="{935E5AC7-8B0F-BE49-BF91-70CFAC4BAE5B}" type="slidenum">
              <a:rPr lang="en-US" smtClean="0"/>
              <a:t>45</a:t>
            </a:fld>
            <a:endParaRPr lang="en-US"/>
          </a:p>
        </p:txBody>
      </p:sp>
    </p:spTree>
    <p:extLst>
      <p:ext uri="{BB962C8B-B14F-4D97-AF65-F5344CB8AC3E}">
        <p14:creationId xmlns:p14="http://schemas.microsoft.com/office/powerpoint/2010/main" val="33147907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46</a:t>
            </a:fld>
            <a:endParaRPr lang="en-US"/>
          </a:p>
        </p:txBody>
      </p:sp>
    </p:spTree>
    <p:extLst>
      <p:ext uri="{BB962C8B-B14F-4D97-AF65-F5344CB8AC3E}">
        <p14:creationId xmlns:p14="http://schemas.microsoft.com/office/powerpoint/2010/main" val="20971444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a:p>
            <a:r>
              <a:rPr lang="en-US" dirty="0"/>
              <a:t>A </a:t>
            </a:r>
            <a:r>
              <a:rPr lang="en-US" b="1" dirty="0"/>
              <a:t>class</a:t>
            </a:r>
            <a:r>
              <a:rPr lang="en-US" dirty="0"/>
              <a:t> is like a blueprint for an object. Here, </a:t>
            </a:r>
            <a:r>
              <a:rPr lang="en-US" dirty="0" err="1"/>
              <a:t>BSTNode</a:t>
            </a:r>
            <a:r>
              <a:rPr lang="en-US" dirty="0"/>
              <a:t> represents a </a:t>
            </a:r>
            <a:r>
              <a:rPr lang="en-US" b="1" dirty="0"/>
              <a:t>single node</a:t>
            </a:r>
            <a:r>
              <a:rPr lang="en-US" dirty="0"/>
              <a:t> of a Binary Tree (BT).</a:t>
            </a:r>
            <a:br>
              <a:rPr lang="en-US" dirty="0"/>
            </a:br>
            <a:endParaRPr lang="en-US" dirty="0"/>
          </a:p>
          <a:p>
            <a:r>
              <a:rPr lang="en-US" dirty="0"/>
              <a:t>__init__ is the </a:t>
            </a:r>
            <a:r>
              <a:rPr lang="en-US" b="1" dirty="0"/>
              <a:t>constructor</a:t>
            </a:r>
            <a:r>
              <a:rPr lang="en-US" dirty="0"/>
              <a:t> that runs when a new node is created.</a:t>
            </a:r>
            <a:br>
              <a:rPr lang="en-US" dirty="0"/>
            </a:br>
            <a:endParaRPr lang="en-US" dirty="0"/>
          </a:p>
          <a:p>
            <a:r>
              <a:rPr lang="en-US" dirty="0"/>
              <a:t>Each node has:</a:t>
            </a:r>
            <a:br>
              <a:rPr lang="en-US" dirty="0"/>
            </a:br>
            <a:endParaRPr lang="en-US" dirty="0"/>
          </a:p>
          <a:p>
            <a:pPr marL="171450" indent="-171450">
              <a:buFont typeface="Arial" panose="020B0604020202020204" pitchFamily="34" charset="0"/>
              <a:buChar char="•"/>
            </a:pPr>
            <a:r>
              <a:rPr lang="en-US" dirty="0"/>
              <a:t>item: The actual data stored in the node (e.g., an integer).</a:t>
            </a:r>
          </a:p>
          <a:p>
            <a:pPr marL="171450" indent="-171450">
              <a:buFont typeface="Arial" panose="020B0604020202020204" pitchFamily="34" charset="0"/>
              <a:buChar char="•"/>
            </a:pPr>
            <a:r>
              <a:rPr lang="en-US" dirty="0"/>
              <a:t>left: A link to the </a:t>
            </a:r>
            <a:r>
              <a:rPr lang="en-US" b="1" dirty="0"/>
              <a:t>left child</a:t>
            </a:r>
            <a:r>
              <a:rPr lang="en-US" dirty="0"/>
              <a:t> node </a:t>
            </a:r>
          </a:p>
          <a:p>
            <a:pPr marL="171450" indent="-171450">
              <a:buFont typeface="Arial" panose="020B0604020202020204" pitchFamily="34" charset="0"/>
              <a:buChar char="•"/>
            </a:pPr>
            <a:r>
              <a:rPr lang="en-US" dirty="0"/>
              <a:t>right: A link to the </a:t>
            </a:r>
            <a:r>
              <a:rPr lang="en-US" b="1" dirty="0"/>
              <a:t>right child</a:t>
            </a:r>
            <a:r>
              <a:rPr lang="en-US" dirty="0"/>
              <a:t> node</a:t>
            </a:r>
          </a:p>
          <a:p>
            <a:pPr marL="171450" indent="-171450">
              <a:buFont typeface="Arial" panose="020B0604020202020204" pitchFamily="34" charset="0"/>
              <a:buChar char="•"/>
            </a:pPr>
            <a:endParaRPr lang="en-US" dirty="0"/>
          </a:p>
          <a:p>
            <a:r>
              <a:rPr lang="en-US" dirty="0"/>
              <a:t>In a BT:</a:t>
            </a:r>
            <a:br>
              <a:rPr lang="en-US" dirty="0"/>
            </a:br>
            <a:endParaRPr lang="en-US" dirty="0"/>
          </a:p>
          <a:p>
            <a:r>
              <a:rPr lang="en-US" dirty="0"/>
              <a:t>Left child stores values </a:t>
            </a:r>
            <a:r>
              <a:rPr lang="en-US" b="1" dirty="0"/>
              <a:t>smaller</a:t>
            </a:r>
            <a:r>
              <a:rPr lang="en-US" dirty="0"/>
              <a:t> than the current node’s item.</a:t>
            </a:r>
          </a:p>
          <a:p>
            <a:r>
              <a:rPr lang="en-US" dirty="0"/>
              <a:t>Right child stores values </a:t>
            </a:r>
            <a:r>
              <a:rPr lang="en-US" b="1" dirty="0"/>
              <a:t>greater</a:t>
            </a:r>
            <a:r>
              <a:rPr lang="en-US" dirty="0"/>
              <a:t> than the current node’s item.</a:t>
            </a:r>
          </a:p>
          <a:p>
            <a:endParaRPr lang="en-US" dirty="0"/>
          </a:p>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47</a:t>
            </a:fld>
            <a:endParaRPr lang="en-US"/>
          </a:p>
        </p:txBody>
      </p:sp>
    </p:spTree>
    <p:extLst>
      <p:ext uri="{BB962C8B-B14F-4D97-AF65-F5344CB8AC3E}">
        <p14:creationId xmlns:p14="http://schemas.microsoft.com/office/powerpoint/2010/main" val="28116765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Attributes:</a:t>
            </a:r>
            <a:endParaRPr lang="en-US" dirty="0"/>
          </a:p>
          <a:p>
            <a:r>
              <a:rPr lang="en-US" dirty="0" err="1"/>
              <a:t>self.data</a:t>
            </a:r>
            <a:endParaRPr lang="en-US" dirty="0"/>
          </a:p>
          <a:p>
            <a:pPr lvl="1"/>
            <a:r>
              <a:rPr lang="en-US" dirty="0"/>
              <a:t>Stores the actual content of the node.</a:t>
            </a:r>
          </a:p>
          <a:p>
            <a:pPr lvl="1"/>
            <a:r>
              <a:rPr lang="en-US" dirty="0"/>
              <a:t>In your case, this will be a </a:t>
            </a:r>
            <a:r>
              <a:rPr lang="en-US" dirty="0" err="1"/>
              <a:t>BSTNode</a:t>
            </a:r>
            <a:r>
              <a:rPr lang="en-US" dirty="0"/>
              <a:t> object when used in pre-order traversal.</a:t>
            </a:r>
          </a:p>
          <a:p>
            <a:r>
              <a:rPr lang="en-US" dirty="0" err="1"/>
              <a:t>self.next</a:t>
            </a:r>
            <a:endParaRPr lang="en-US" dirty="0"/>
          </a:p>
          <a:p>
            <a:pPr lvl="1"/>
            <a:r>
              <a:rPr lang="en-US" dirty="0"/>
              <a:t>A pointer/reference to the </a:t>
            </a:r>
            <a:r>
              <a:rPr lang="en-US" b="1" dirty="0"/>
              <a:t>next node in the stack</a:t>
            </a:r>
            <a:r>
              <a:rPr lang="en-US" dirty="0"/>
              <a:t>.</a:t>
            </a:r>
          </a:p>
          <a:p>
            <a:pPr lvl="1"/>
            <a:r>
              <a:rPr lang="en-US" dirty="0"/>
              <a:t>Initially None because when a node is created, it’s not yet linked to another node.</a:t>
            </a:r>
          </a:p>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48</a:t>
            </a:fld>
            <a:endParaRPr lang="en-US"/>
          </a:p>
        </p:txBody>
      </p:sp>
    </p:spTree>
    <p:extLst>
      <p:ext uri="{BB962C8B-B14F-4D97-AF65-F5344CB8AC3E}">
        <p14:creationId xmlns:p14="http://schemas.microsoft.com/office/powerpoint/2010/main" val="40601830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Attribute:</a:t>
            </a:r>
            <a:endParaRPr lang="en-US" dirty="0"/>
          </a:p>
          <a:p>
            <a:r>
              <a:rPr lang="en-US" dirty="0" err="1"/>
              <a:t>self.top</a:t>
            </a:r>
            <a:endParaRPr lang="en-US" dirty="0"/>
          </a:p>
          <a:p>
            <a:pPr lvl="1"/>
            <a:r>
              <a:rPr lang="en-US" dirty="0"/>
              <a:t>This points to the </a:t>
            </a:r>
            <a:r>
              <a:rPr lang="en-US" b="1" dirty="0"/>
              <a:t>top node of the stack</a:t>
            </a:r>
            <a:r>
              <a:rPr lang="en-US" dirty="0"/>
              <a:t> (a </a:t>
            </a:r>
            <a:r>
              <a:rPr lang="en-US" dirty="0" err="1"/>
              <a:t>StackNode</a:t>
            </a:r>
            <a:r>
              <a:rPr lang="en-US" dirty="0"/>
              <a:t> object).</a:t>
            </a:r>
          </a:p>
          <a:p>
            <a:pPr lvl="1"/>
            <a:r>
              <a:rPr lang="en-US" dirty="0"/>
              <a:t>Initially set to None, meaning the stack is empty.</a:t>
            </a:r>
          </a:p>
        </p:txBody>
      </p:sp>
      <p:sp>
        <p:nvSpPr>
          <p:cNvPr id="4" name="Slide Number Placeholder 3"/>
          <p:cNvSpPr>
            <a:spLocks noGrp="1"/>
          </p:cNvSpPr>
          <p:nvPr>
            <p:ph type="sldNum" sz="quarter" idx="10"/>
          </p:nvPr>
        </p:nvSpPr>
        <p:spPr/>
        <p:txBody>
          <a:bodyPr/>
          <a:lstStyle/>
          <a:p>
            <a:fld id="{935E5AC7-8B0F-BE49-BF91-70CFAC4BAE5B}" type="slidenum">
              <a:rPr lang="en-US" smtClean="0"/>
              <a:t>49</a:t>
            </a:fld>
            <a:endParaRPr lang="en-US"/>
          </a:p>
        </p:txBody>
      </p:sp>
    </p:spTree>
    <p:extLst>
      <p:ext uri="{BB962C8B-B14F-4D97-AF65-F5344CB8AC3E}">
        <p14:creationId xmlns:p14="http://schemas.microsoft.com/office/powerpoint/2010/main" val="2503052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50</a:t>
            </a:fld>
            <a:endParaRPr lang="en-US"/>
          </a:p>
        </p:txBody>
      </p:sp>
    </p:spTree>
    <p:extLst>
      <p:ext uri="{BB962C8B-B14F-4D97-AF65-F5344CB8AC3E}">
        <p14:creationId xmlns:p14="http://schemas.microsoft.com/office/powerpoint/2010/main" val="12631821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51</a:t>
            </a:fld>
            <a:endParaRPr lang="en-US"/>
          </a:p>
        </p:txBody>
      </p:sp>
    </p:spTree>
    <p:extLst>
      <p:ext uri="{BB962C8B-B14F-4D97-AF65-F5344CB8AC3E}">
        <p14:creationId xmlns:p14="http://schemas.microsoft.com/office/powerpoint/2010/main" val="44148029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52</a:t>
            </a:fld>
            <a:endParaRPr lang="en-US"/>
          </a:p>
        </p:txBody>
      </p:sp>
    </p:spTree>
    <p:extLst>
      <p:ext uri="{BB962C8B-B14F-4D97-AF65-F5344CB8AC3E}">
        <p14:creationId xmlns:p14="http://schemas.microsoft.com/office/powerpoint/2010/main" val="2511782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53</a:t>
            </a:fld>
            <a:endParaRPr lang="en-US"/>
          </a:p>
        </p:txBody>
      </p:sp>
    </p:spTree>
    <p:extLst>
      <p:ext uri="{BB962C8B-B14F-4D97-AF65-F5344CB8AC3E}">
        <p14:creationId xmlns:p14="http://schemas.microsoft.com/office/powerpoint/2010/main" val="179798839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54</a:t>
            </a:fld>
            <a:endParaRPr lang="en-US"/>
          </a:p>
        </p:txBody>
      </p:sp>
    </p:spTree>
    <p:extLst>
      <p:ext uri="{BB962C8B-B14F-4D97-AF65-F5344CB8AC3E}">
        <p14:creationId xmlns:p14="http://schemas.microsoft.com/office/powerpoint/2010/main" val="319234515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55</a:t>
            </a:fld>
            <a:endParaRPr lang="en-US"/>
          </a:p>
        </p:txBody>
      </p:sp>
    </p:spTree>
    <p:extLst>
      <p:ext uri="{BB962C8B-B14F-4D97-AF65-F5344CB8AC3E}">
        <p14:creationId xmlns:p14="http://schemas.microsoft.com/office/powerpoint/2010/main" val="251803826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56</a:t>
            </a:fld>
            <a:endParaRPr lang="en-US"/>
          </a:p>
        </p:txBody>
      </p:sp>
    </p:spTree>
    <p:extLst>
      <p:ext uri="{BB962C8B-B14F-4D97-AF65-F5344CB8AC3E}">
        <p14:creationId xmlns:p14="http://schemas.microsoft.com/office/powerpoint/2010/main" val="243505428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57</a:t>
            </a:fld>
            <a:endParaRPr lang="en-US"/>
          </a:p>
        </p:txBody>
      </p:sp>
    </p:spTree>
    <p:extLst>
      <p:ext uri="{BB962C8B-B14F-4D97-AF65-F5344CB8AC3E}">
        <p14:creationId xmlns:p14="http://schemas.microsoft.com/office/powerpoint/2010/main" val="246927676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58</a:t>
            </a:fld>
            <a:endParaRPr lang="en-US"/>
          </a:p>
        </p:txBody>
      </p:sp>
    </p:spTree>
    <p:extLst>
      <p:ext uri="{BB962C8B-B14F-4D97-AF65-F5344CB8AC3E}">
        <p14:creationId xmlns:p14="http://schemas.microsoft.com/office/powerpoint/2010/main" val="88400339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59</a:t>
            </a:fld>
            <a:endParaRPr lang="en-US"/>
          </a:p>
        </p:txBody>
      </p:sp>
    </p:spTree>
    <p:extLst>
      <p:ext uri="{BB962C8B-B14F-4D97-AF65-F5344CB8AC3E}">
        <p14:creationId xmlns:p14="http://schemas.microsoft.com/office/powerpoint/2010/main" val="396553372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28164-F540-8319-FAC2-C5A791094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9BAB64-AB28-F6AC-603A-8EC82FAC3FE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A24B929-FBAF-8098-546E-60B8DAB66F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75F9CB-3FF9-25E6-B723-9122C01A0C6E}"/>
              </a:ext>
            </a:extLst>
          </p:cNvPr>
          <p:cNvSpPr>
            <a:spLocks noGrp="1"/>
          </p:cNvSpPr>
          <p:nvPr>
            <p:ph type="sldNum" sz="quarter" idx="10"/>
          </p:nvPr>
        </p:nvSpPr>
        <p:spPr/>
        <p:txBody>
          <a:bodyPr/>
          <a:lstStyle/>
          <a:p>
            <a:fld id="{935E5AC7-8B0F-BE49-BF91-70CFAC4BAE5B}" type="slidenum">
              <a:rPr lang="en-US" smtClean="0"/>
              <a:t>60</a:t>
            </a:fld>
            <a:endParaRPr lang="en-US"/>
          </a:p>
        </p:txBody>
      </p:sp>
    </p:spTree>
    <p:extLst>
      <p:ext uri="{BB962C8B-B14F-4D97-AF65-F5344CB8AC3E}">
        <p14:creationId xmlns:p14="http://schemas.microsoft.com/office/powerpoint/2010/main" val="184664051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28164-F540-8319-FAC2-C5A791094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9BAB64-AB28-F6AC-603A-8EC82FAC3FE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A24B929-FBAF-8098-546E-60B8DAB66F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75F9CB-3FF9-25E6-B723-9122C01A0C6E}"/>
              </a:ext>
            </a:extLst>
          </p:cNvPr>
          <p:cNvSpPr>
            <a:spLocks noGrp="1"/>
          </p:cNvSpPr>
          <p:nvPr>
            <p:ph type="sldNum" sz="quarter" idx="10"/>
          </p:nvPr>
        </p:nvSpPr>
        <p:spPr/>
        <p:txBody>
          <a:bodyPr/>
          <a:lstStyle/>
          <a:p>
            <a:fld id="{935E5AC7-8B0F-BE49-BF91-70CFAC4BAE5B}" type="slidenum">
              <a:rPr lang="en-US" smtClean="0"/>
              <a:t>61</a:t>
            </a:fld>
            <a:endParaRPr lang="en-US"/>
          </a:p>
        </p:txBody>
      </p:sp>
    </p:spTree>
    <p:extLst>
      <p:ext uri="{BB962C8B-B14F-4D97-AF65-F5344CB8AC3E}">
        <p14:creationId xmlns:p14="http://schemas.microsoft.com/office/powerpoint/2010/main" val="312688685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28164-F540-8319-FAC2-C5A791094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9BAB64-AB28-F6AC-603A-8EC82FAC3FE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A24B929-FBAF-8098-546E-60B8DAB66F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75F9CB-3FF9-25E6-B723-9122C01A0C6E}"/>
              </a:ext>
            </a:extLst>
          </p:cNvPr>
          <p:cNvSpPr>
            <a:spLocks noGrp="1"/>
          </p:cNvSpPr>
          <p:nvPr>
            <p:ph type="sldNum" sz="quarter" idx="10"/>
          </p:nvPr>
        </p:nvSpPr>
        <p:spPr/>
        <p:txBody>
          <a:bodyPr/>
          <a:lstStyle/>
          <a:p>
            <a:fld id="{935E5AC7-8B0F-BE49-BF91-70CFAC4BAE5B}" type="slidenum">
              <a:rPr lang="en-US" smtClean="0"/>
              <a:t>62</a:t>
            </a:fld>
            <a:endParaRPr lang="en-US"/>
          </a:p>
        </p:txBody>
      </p:sp>
    </p:spTree>
    <p:extLst>
      <p:ext uri="{BB962C8B-B14F-4D97-AF65-F5344CB8AC3E}">
        <p14:creationId xmlns:p14="http://schemas.microsoft.com/office/powerpoint/2010/main" val="185936269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28164-F540-8319-FAC2-C5A791094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9BAB64-AB28-F6AC-603A-8EC82FAC3FE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A24B929-FBAF-8098-546E-60B8DAB66F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75F9CB-3FF9-25E6-B723-9122C01A0C6E}"/>
              </a:ext>
            </a:extLst>
          </p:cNvPr>
          <p:cNvSpPr>
            <a:spLocks noGrp="1"/>
          </p:cNvSpPr>
          <p:nvPr>
            <p:ph type="sldNum" sz="quarter" idx="10"/>
          </p:nvPr>
        </p:nvSpPr>
        <p:spPr/>
        <p:txBody>
          <a:bodyPr/>
          <a:lstStyle/>
          <a:p>
            <a:fld id="{935E5AC7-8B0F-BE49-BF91-70CFAC4BAE5B}" type="slidenum">
              <a:rPr lang="en-US" smtClean="0"/>
              <a:t>63</a:t>
            </a:fld>
            <a:endParaRPr lang="en-US"/>
          </a:p>
        </p:txBody>
      </p:sp>
    </p:spTree>
    <p:extLst>
      <p:ext uri="{BB962C8B-B14F-4D97-AF65-F5344CB8AC3E}">
        <p14:creationId xmlns:p14="http://schemas.microsoft.com/office/powerpoint/2010/main" val="335159101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28164-F540-8319-FAC2-C5A791094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9BAB64-AB28-F6AC-603A-8EC82FAC3FE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A24B929-FBAF-8098-546E-60B8DAB66F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75F9CB-3FF9-25E6-B723-9122C01A0C6E}"/>
              </a:ext>
            </a:extLst>
          </p:cNvPr>
          <p:cNvSpPr>
            <a:spLocks noGrp="1"/>
          </p:cNvSpPr>
          <p:nvPr>
            <p:ph type="sldNum" sz="quarter" idx="10"/>
          </p:nvPr>
        </p:nvSpPr>
        <p:spPr/>
        <p:txBody>
          <a:bodyPr/>
          <a:lstStyle/>
          <a:p>
            <a:fld id="{935E5AC7-8B0F-BE49-BF91-70CFAC4BAE5B}" type="slidenum">
              <a:rPr lang="en-US" smtClean="0"/>
              <a:t>64</a:t>
            </a:fld>
            <a:endParaRPr lang="en-US"/>
          </a:p>
        </p:txBody>
      </p:sp>
    </p:spTree>
    <p:extLst>
      <p:ext uri="{BB962C8B-B14F-4D97-AF65-F5344CB8AC3E}">
        <p14:creationId xmlns:p14="http://schemas.microsoft.com/office/powerpoint/2010/main" val="90694376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65</a:t>
            </a:fld>
            <a:endParaRPr lang="en-US"/>
          </a:p>
        </p:txBody>
      </p:sp>
    </p:spTree>
    <p:extLst>
      <p:ext uri="{BB962C8B-B14F-4D97-AF65-F5344CB8AC3E}">
        <p14:creationId xmlns:p14="http://schemas.microsoft.com/office/powerpoint/2010/main" val="50799951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66</a:t>
            </a:fld>
            <a:endParaRPr lang="en-US"/>
          </a:p>
        </p:txBody>
      </p:sp>
    </p:spTree>
    <p:extLst>
      <p:ext uri="{BB962C8B-B14F-4D97-AF65-F5344CB8AC3E}">
        <p14:creationId xmlns:p14="http://schemas.microsoft.com/office/powerpoint/2010/main" val="21556606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67</a:t>
            </a:fld>
            <a:endParaRPr lang="en-US"/>
          </a:p>
        </p:txBody>
      </p:sp>
    </p:spTree>
    <p:extLst>
      <p:ext uri="{BB962C8B-B14F-4D97-AF65-F5344CB8AC3E}">
        <p14:creationId xmlns:p14="http://schemas.microsoft.com/office/powerpoint/2010/main" val="22913434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68</a:t>
            </a:fld>
            <a:endParaRPr lang="en-US"/>
          </a:p>
        </p:txBody>
      </p:sp>
    </p:spTree>
    <p:extLst>
      <p:ext uri="{BB962C8B-B14F-4D97-AF65-F5344CB8AC3E}">
        <p14:creationId xmlns:p14="http://schemas.microsoft.com/office/powerpoint/2010/main" val="369629691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5E5AC7-8B0F-BE49-BF91-70CFAC4BAE5B}" type="slidenum">
              <a:rPr lang="en-US" smtClean="0"/>
              <a:t>69</a:t>
            </a:fld>
            <a:endParaRPr lang="en-US"/>
          </a:p>
        </p:txBody>
      </p:sp>
    </p:spTree>
    <p:extLst>
      <p:ext uri="{BB962C8B-B14F-4D97-AF65-F5344CB8AC3E}">
        <p14:creationId xmlns:p14="http://schemas.microsoft.com/office/powerpoint/2010/main" val="4196031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A257E-3053-48F9-AF47-8B01721D45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6174E0-5944-4878-AEF1-C5259EDCE3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1680E95-E146-4257-8F12-3E0D566F9337}"/>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5" name="Footer Placeholder 4">
            <a:extLst>
              <a:ext uri="{FF2B5EF4-FFF2-40B4-BE49-F238E27FC236}">
                <a16:creationId xmlns:a16="http://schemas.microsoft.com/office/drawing/2014/main" id="{902C5C43-CA97-470C-ADE9-4AC83332F84F}"/>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6" name="Slide Number Placeholder 5">
            <a:extLst>
              <a:ext uri="{FF2B5EF4-FFF2-40B4-BE49-F238E27FC236}">
                <a16:creationId xmlns:a16="http://schemas.microsoft.com/office/drawing/2014/main" id="{5B095057-47E6-487A-BAEE-43A95AC0518B}"/>
              </a:ext>
            </a:extLst>
          </p:cNvPr>
          <p:cNvSpPr>
            <a:spLocks noGrp="1"/>
          </p:cNvSpPr>
          <p:nvPr>
            <p:ph type="sldNum" sz="quarter" idx="12"/>
          </p:nvPr>
        </p:nvSpPr>
        <p:spPr/>
        <p:txBody>
          <a:bodyPr/>
          <a:lstStyle/>
          <a:p>
            <a:pPr>
              <a:defRPr/>
            </a:pPr>
            <a:fld id="{9E7230A5-D5CA-A246-A156-56ED2EC776EF}" type="slidenum">
              <a:rPr lang="en-US" altLang="en-US" smtClean="0"/>
              <a:pPr>
                <a:defRPr/>
              </a:pPr>
              <a:t>‹#›</a:t>
            </a:fld>
            <a:endParaRPr lang="en-US" altLang="en-US"/>
          </a:p>
        </p:txBody>
      </p:sp>
    </p:spTree>
    <p:extLst>
      <p:ext uri="{BB962C8B-B14F-4D97-AF65-F5344CB8AC3E}">
        <p14:creationId xmlns:p14="http://schemas.microsoft.com/office/powerpoint/2010/main" val="212921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588DE-A057-42F6-A6DC-1E6DF10AF681}"/>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3744FE7-DE29-4220-B45B-E3165A57AFD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7E7D05-41BE-4646-ADC0-F29FF52FA793}"/>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5" name="Footer Placeholder 4">
            <a:extLst>
              <a:ext uri="{FF2B5EF4-FFF2-40B4-BE49-F238E27FC236}">
                <a16:creationId xmlns:a16="http://schemas.microsoft.com/office/drawing/2014/main" id="{68EFC04D-2B6D-4F02-9379-39DFF221D063}"/>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6" name="Slide Number Placeholder 5">
            <a:extLst>
              <a:ext uri="{FF2B5EF4-FFF2-40B4-BE49-F238E27FC236}">
                <a16:creationId xmlns:a16="http://schemas.microsoft.com/office/drawing/2014/main" id="{66B7C647-66B2-43EA-9EED-9BA0B1484EE2}"/>
              </a:ext>
            </a:extLst>
          </p:cNvPr>
          <p:cNvSpPr>
            <a:spLocks noGrp="1"/>
          </p:cNvSpPr>
          <p:nvPr>
            <p:ph type="sldNum" sz="quarter" idx="12"/>
          </p:nvPr>
        </p:nvSpPr>
        <p:spPr/>
        <p:txBody>
          <a:bodyPr/>
          <a:lstStyle/>
          <a:p>
            <a:pPr>
              <a:defRPr/>
            </a:pPr>
            <a:fld id="{59012656-71E1-C743-8C98-B63CD25CF2C9}" type="slidenum">
              <a:rPr lang="en-US" altLang="en-US" smtClean="0"/>
              <a:pPr>
                <a:defRPr/>
              </a:pPr>
              <a:t>‹#›</a:t>
            </a:fld>
            <a:endParaRPr lang="en-US" altLang="en-US" dirty="0"/>
          </a:p>
        </p:txBody>
      </p:sp>
    </p:spTree>
    <p:extLst>
      <p:ext uri="{BB962C8B-B14F-4D97-AF65-F5344CB8AC3E}">
        <p14:creationId xmlns:p14="http://schemas.microsoft.com/office/powerpoint/2010/main" val="2525089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9D9EB-7DC7-4DB2-8F4F-CFC9477777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0C1CF0-6AB6-49D7-BECC-7021BA4C36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DCDE906-1373-4F27-A451-5D3267D2C439}"/>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5" name="Footer Placeholder 4">
            <a:extLst>
              <a:ext uri="{FF2B5EF4-FFF2-40B4-BE49-F238E27FC236}">
                <a16:creationId xmlns:a16="http://schemas.microsoft.com/office/drawing/2014/main" id="{34F0FA46-69A7-4811-90E1-DEDA05B50171}"/>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6" name="Slide Number Placeholder 5">
            <a:extLst>
              <a:ext uri="{FF2B5EF4-FFF2-40B4-BE49-F238E27FC236}">
                <a16:creationId xmlns:a16="http://schemas.microsoft.com/office/drawing/2014/main" id="{909CAD46-5D9D-4D4A-A154-E4EF4B1D02C5}"/>
              </a:ext>
            </a:extLst>
          </p:cNvPr>
          <p:cNvSpPr>
            <a:spLocks noGrp="1"/>
          </p:cNvSpPr>
          <p:nvPr>
            <p:ph type="sldNum" sz="quarter" idx="12"/>
          </p:nvPr>
        </p:nvSpPr>
        <p:spPr/>
        <p:txBody>
          <a:bodyPr/>
          <a:lstStyle/>
          <a:p>
            <a:pPr>
              <a:defRPr/>
            </a:pPr>
            <a:fld id="{EC046413-4138-1741-9544-A971B9E4B968}" type="slidenum">
              <a:rPr lang="en-US" altLang="en-US" smtClean="0"/>
              <a:pPr>
                <a:defRPr/>
              </a:pPr>
              <a:t>‹#›</a:t>
            </a:fld>
            <a:endParaRPr lang="en-US" altLang="en-US"/>
          </a:p>
        </p:txBody>
      </p:sp>
    </p:spTree>
    <p:extLst>
      <p:ext uri="{BB962C8B-B14F-4D97-AF65-F5344CB8AC3E}">
        <p14:creationId xmlns:p14="http://schemas.microsoft.com/office/powerpoint/2010/main" val="859586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D648D-C56C-438A-A0B5-241602DB980A}"/>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4DFEC0-93F6-4BD7-BB41-54D2A7877EF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346F53-6ED2-4C35-A945-F0DB5BB6735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7E855A-2919-49A1-9404-A262E1AB8944}"/>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6" name="Footer Placeholder 5">
            <a:extLst>
              <a:ext uri="{FF2B5EF4-FFF2-40B4-BE49-F238E27FC236}">
                <a16:creationId xmlns:a16="http://schemas.microsoft.com/office/drawing/2014/main" id="{46B3CF54-A1EF-4ABE-88A3-1958B154566B}"/>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7" name="Slide Number Placeholder 6">
            <a:extLst>
              <a:ext uri="{FF2B5EF4-FFF2-40B4-BE49-F238E27FC236}">
                <a16:creationId xmlns:a16="http://schemas.microsoft.com/office/drawing/2014/main" id="{D19EBC3D-C887-42C4-B1FC-D798377A8537}"/>
              </a:ext>
            </a:extLst>
          </p:cNvPr>
          <p:cNvSpPr>
            <a:spLocks noGrp="1"/>
          </p:cNvSpPr>
          <p:nvPr>
            <p:ph type="sldNum" sz="quarter" idx="12"/>
          </p:nvPr>
        </p:nvSpPr>
        <p:spPr/>
        <p:txBody>
          <a:bodyPr/>
          <a:lstStyle/>
          <a:p>
            <a:pPr>
              <a:defRPr/>
            </a:pPr>
            <a:fld id="{255B943D-DA51-A44E-9BC0-B926421C4F92}" type="slidenum">
              <a:rPr lang="en-US" altLang="en-US" smtClean="0"/>
              <a:pPr>
                <a:defRPr/>
              </a:pPr>
              <a:t>‹#›</a:t>
            </a:fld>
            <a:endParaRPr lang="en-US" altLang="en-US"/>
          </a:p>
        </p:txBody>
      </p:sp>
      <p:sp>
        <p:nvSpPr>
          <p:cNvPr id="8" name="Slide Number Placeholder 6">
            <a:extLst>
              <a:ext uri="{FF2B5EF4-FFF2-40B4-BE49-F238E27FC236}">
                <a16:creationId xmlns:a16="http://schemas.microsoft.com/office/drawing/2014/main" id="{F9CD365C-8F07-492B-BA5A-847747DB0CCC}"/>
              </a:ext>
            </a:extLst>
          </p:cNvPr>
          <p:cNvSpPr txBox="1">
            <a:spLocks/>
          </p:cNvSpPr>
          <p:nvPr userDrawn="1"/>
        </p:nvSpPr>
        <p:spPr>
          <a:xfrm>
            <a:off x="8737600" y="6477000"/>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B4605DB1-9E3D-0A41-A768-42B3EF17CCC2}" type="slidenum">
              <a:rPr lang="en-US" altLang="en-US" smtClean="0"/>
              <a:pPr>
                <a:defRPr/>
              </a:pPr>
              <a:t>‹#›</a:t>
            </a:fld>
            <a:endParaRPr lang="en-US" altLang="en-US" dirty="0"/>
          </a:p>
        </p:txBody>
      </p:sp>
    </p:spTree>
    <p:extLst>
      <p:ext uri="{BB962C8B-B14F-4D97-AF65-F5344CB8AC3E}">
        <p14:creationId xmlns:p14="http://schemas.microsoft.com/office/powerpoint/2010/main" val="2431593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AB275-7417-43D8-9207-B8A69C1A48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0D745B-7392-4FF0-B273-B59D5BB33B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31A104B-C8A4-4139-A010-907410F4592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3191E3-BE5A-4659-8984-E68769E894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C35E952-80E1-40AA-9342-48B3C6807EE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433580-B74A-4F2A-AD5E-261D58F91B42}"/>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8" name="Footer Placeholder 7">
            <a:extLst>
              <a:ext uri="{FF2B5EF4-FFF2-40B4-BE49-F238E27FC236}">
                <a16:creationId xmlns:a16="http://schemas.microsoft.com/office/drawing/2014/main" id="{D47028E1-C39E-4724-BB9B-5A310E0BFDE4}"/>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9" name="Slide Number Placeholder 8">
            <a:extLst>
              <a:ext uri="{FF2B5EF4-FFF2-40B4-BE49-F238E27FC236}">
                <a16:creationId xmlns:a16="http://schemas.microsoft.com/office/drawing/2014/main" id="{69842FC7-CCA5-45FB-A278-92F4FC464041}"/>
              </a:ext>
            </a:extLst>
          </p:cNvPr>
          <p:cNvSpPr>
            <a:spLocks noGrp="1"/>
          </p:cNvSpPr>
          <p:nvPr>
            <p:ph type="sldNum" sz="quarter" idx="12"/>
          </p:nvPr>
        </p:nvSpPr>
        <p:spPr/>
        <p:txBody>
          <a:bodyPr/>
          <a:lstStyle/>
          <a:p>
            <a:pPr>
              <a:defRPr/>
            </a:pPr>
            <a:fld id="{8F5C4715-6A71-1C46-9980-4AE305EAD29C}" type="slidenum">
              <a:rPr lang="en-US" altLang="en-US" smtClean="0"/>
              <a:pPr>
                <a:defRPr/>
              </a:pPr>
              <a:t>‹#›</a:t>
            </a:fld>
            <a:endParaRPr lang="en-US" altLang="en-US"/>
          </a:p>
        </p:txBody>
      </p:sp>
    </p:spTree>
    <p:extLst>
      <p:ext uri="{BB962C8B-B14F-4D97-AF65-F5344CB8AC3E}">
        <p14:creationId xmlns:p14="http://schemas.microsoft.com/office/powerpoint/2010/main" val="1418587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41C20-B2EB-48DC-A5EC-875632D220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5DF8CB-93B7-409D-97EF-356CB343046A}"/>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4" name="Footer Placeholder 3">
            <a:extLst>
              <a:ext uri="{FF2B5EF4-FFF2-40B4-BE49-F238E27FC236}">
                <a16:creationId xmlns:a16="http://schemas.microsoft.com/office/drawing/2014/main" id="{4C3394EB-F370-4E97-9997-BE95563EAEA5}"/>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5" name="Slide Number Placeholder 4">
            <a:extLst>
              <a:ext uri="{FF2B5EF4-FFF2-40B4-BE49-F238E27FC236}">
                <a16:creationId xmlns:a16="http://schemas.microsoft.com/office/drawing/2014/main" id="{0CB02EBB-F440-4B59-B9FD-2AD261BC2669}"/>
              </a:ext>
            </a:extLst>
          </p:cNvPr>
          <p:cNvSpPr>
            <a:spLocks noGrp="1"/>
          </p:cNvSpPr>
          <p:nvPr>
            <p:ph type="sldNum" sz="quarter" idx="12"/>
          </p:nvPr>
        </p:nvSpPr>
        <p:spPr/>
        <p:txBody>
          <a:bodyPr/>
          <a:lstStyle/>
          <a:p>
            <a:pPr>
              <a:defRPr/>
            </a:pPr>
            <a:fld id="{B4605DB1-9E3D-0A41-A768-42B3EF17CCC2}" type="slidenum">
              <a:rPr lang="en-US" altLang="en-US" smtClean="0"/>
              <a:pPr>
                <a:defRPr/>
              </a:pPr>
              <a:t>‹#›</a:t>
            </a:fld>
            <a:endParaRPr lang="en-US" altLang="en-US"/>
          </a:p>
        </p:txBody>
      </p:sp>
    </p:spTree>
    <p:extLst>
      <p:ext uri="{BB962C8B-B14F-4D97-AF65-F5344CB8AC3E}">
        <p14:creationId xmlns:p14="http://schemas.microsoft.com/office/powerpoint/2010/main" val="2156472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0B2A47-46D6-42D5-BDBE-E52134F7AD21}"/>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3" name="Footer Placeholder 2">
            <a:extLst>
              <a:ext uri="{FF2B5EF4-FFF2-40B4-BE49-F238E27FC236}">
                <a16:creationId xmlns:a16="http://schemas.microsoft.com/office/drawing/2014/main" id="{6EF62E42-B7B3-4F33-84D7-831A1B1269FB}"/>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4" name="Slide Number Placeholder 3">
            <a:extLst>
              <a:ext uri="{FF2B5EF4-FFF2-40B4-BE49-F238E27FC236}">
                <a16:creationId xmlns:a16="http://schemas.microsoft.com/office/drawing/2014/main" id="{418FE50F-0B21-4838-90C1-7F40FB4EA11A}"/>
              </a:ext>
            </a:extLst>
          </p:cNvPr>
          <p:cNvSpPr>
            <a:spLocks noGrp="1"/>
          </p:cNvSpPr>
          <p:nvPr>
            <p:ph type="sldNum" sz="quarter" idx="12"/>
          </p:nvPr>
        </p:nvSpPr>
        <p:spPr/>
        <p:txBody>
          <a:bodyPr/>
          <a:lstStyle/>
          <a:p>
            <a:pPr>
              <a:defRPr/>
            </a:pPr>
            <a:fld id="{9E362868-DD1E-A642-8FEC-D36C0278388C}" type="slidenum">
              <a:rPr lang="en-US" altLang="en-US" smtClean="0"/>
              <a:pPr>
                <a:defRPr/>
              </a:pPr>
              <a:t>‹#›</a:t>
            </a:fld>
            <a:endParaRPr lang="en-US" altLang="en-US"/>
          </a:p>
        </p:txBody>
      </p:sp>
    </p:spTree>
    <p:extLst>
      <p:ext uri="{BB962C8B-B14F-4D97-AF65-F5344CB8AC3E}">
        <p14:creationId xmlns:p14="http://schemas.microsoft.com/office/powerpoint/2010/main" val="1258254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3B924-D81C-44C0-BCB3-553AB7B0AC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FFBD6CF-C78F-4B8A-9B44-1FB03E1760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480BBEC-DD5A-499C-A78A-03DEA8384F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05498EE-3406-4371-8BC1-4EFAC61D45A7}"/>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6" name="Footer Placeholder 5">
            <a:extLst>
              <a:ext uri="{FF2B5EF4-FFF2-40B4-BE49-F238E27FC236}">
                <a16:creationId xmlns:a16="http://schemas.microsoft.com/office/drawing/2014/main" id="{1A395007-4873-4C8D-B644-8C0C3EE8BDEE}"/>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7" name="Slide Number Placeholder 6">
            <a:extLst>
              <a:ext uri="{FF2B5EF4-FFF2-40B4-BE49-F238E27FC236}">
                <a16:creationId xmlns:a16="http://schemas.microsoft.com/office/drawing/2014/main" id="{58B8359E-A9CF-4F4B-8649-D470D91CB6F4}"/>
              </a:ext>
            </a:extLst>
          </p:cNvPr>
          <p:cNvSpPr>
            <a:spLocks noGrp="1"/>
          </p:cNvSpPr>
          <p:nvPr>
            <p:ph type="sldNum" sz="quarter" idx="12"/>
          </p:nvPr>
        </p:nvSpPr>
        <p:spPr/>
        <p:txBody>
          <a:bodyPr/>
          <a:lstStyle/>
          <a:p>
            <a:pPr>
              <a:defRPr/>
            </a:pPr>
            <a:fld id="{C4DE60E2-CFCD-8D45-BC62-DECE35FE1F60}" type="slidenum">
              <a:rPr lang="en-US" altLang="en-US" smtClean="0"/>
              <a:pPr>
                <a:defRPr/>
              </a:pPr>
              <a:t>‹#›</a:t>
            </a:fld>
            <a:endParaRPr lang="en-US" altLang="en-US"/>
          </a:p>
        </p:txBody>
      </p:sp>
    </p:spTree>
    <p:extLst>
      <p:ext uri="{BB962C8B-B14F-4D97-AF65-F5344CB8AC3E}">
        <p14:creationId xmlns:p14="http://schemas.microsoft.com/office/powerpoint/2010/main" val="3373156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FAB15-9B2D-438E-BC92-9D0A8F4297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D4865A-3459-441D-8F43-4997461B09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C2B3DD-A484-4942-8A0C-B7C3E16722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54CE3D4-C063-49D7-9B3B-782D063E0364}"/>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6" name="Footer Placeholder 5">
            <a:extLst>
              <a:ext uri="{FF2B5EF4-FFF2-40B4-BE49-F238E27FC236}">
                <a16:creationId xmlns:a16="http://schemas.microsoft.com/office/drawing/2014/main" id="{C28D7425-E34A-4A52-BCF8-D008C1856F70}"/>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7" name="Slide Number Placeholder 6">
            <a:extLst>
              <a:ext uri="{FF2B5EF4-FFF2-40B4-BE49-F238E27FC236}">
                <a16:creationId xmlns:a16="http://schemas.microsoft.com/office/drawing/2014/main" id="{B23D05D9-6E17-46C2-A1DD-9681823A1431}"/>
              </a:ext>
            </a:extLst>
          </p:cNvPr>
          <p:cNvSpPr>
            <a:spLocks noGrp="1"/>
          </p:cNvSpPr>
          <p:nvPr>
            <p:ph type="sldNum" sz="quarter" idx="12"/>
          </p:nvPr>
        </p:nvSpPr>
        <p:spPr/>
        <p:txBody>
          <a:bodyPr/>
          <a:lstStyle/>
          <a:p>
            <a:pPr>
              <a:defRPr/>
            </a:pPr>
            <a:fld id="{15E8B059-8C46-F247-8A74-0D28BDE5E33A}" type="slidenum">
              <a:rPr lang="en-US" altLang="en-US" smtClean="0"/>
              <a:pPr>
                <a:defRPr/>
              </a:pPr>
              <a:t>‹#›</a:t>
            </a:fld>
            <a:endParaRPr lang="en-US" altLang="en-US"/>
          </a:p>
        </p:txBody>
      </p:sp>
    </p:spTree>
    <p:extLst>
      <p:ext uri="{BB962C8B-B14F-4D97-AF65-F5344CB8AC3E}">
        <p14:creationId xmlns:p14="http://schemas.microsoft.com/office/powerpoint/2010/main" val="608657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A5B43-A193-4493-A2BE-590A4341CE9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7B9682-392E-4813-AD6E-F3DCE6BF949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CA28A7-1DD5-422E-BEC2-464387604228}"/>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5" name="Footer Placeholder 4">
            <a:extLst>
              <a:ext uri="{FF2B5EF4-FFF2-40B4-BE49-F238E27FC236}">
                <a16:creationId xmlns:a16="http://schemas.microsoft.com/office/drawing/2014/main" id="{218B67C8-162D-4B22-AD42-B006811CE838}"/>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6" name="Slide Number Placeholder 5">
            <a:extLst>
              <a:ext uri="{FF2B5EF4-FFF2-40B4-BE49-F238E27FC236}">
                <a16:creationId xmlns:a16="http://schemas.microsoft.com/office/drawing/2014/main" id="{847B4873-B533-4221-8469-57AA3753B572}"/>
              </a:ext>
            </a:extLst>
          </p:cNvPr>
          <p:cNvSpPr>
            <a:spLocks noGrp="1"/>
          </p:cNvSpPr>
          <p:nvPr>
            <p:ph type="sldNum" sz="quarter" idx="12"/>
          </p:nvPr>
        </p:nvSpPr>
        <p:spPr/>
        <p:txBody>
          <a:bodyPr/>
          <a:lstStyle/>
          <a:p>
            <a:pPr>
              <a:defRPr/>
            </a:pPr>
            <a:fld id="{B4490574-997A-3847-9212-FE26D546377B}" type="slidenum">
              <a:rPr lang="en-US" altLang="en-US" smtClean="0"/>
              <a:pPr>
                <a:defRPr/>
              </a:pPr>
              <a:t>‹#›</a:t>
            </a:fld>
            <a:endParaRPr lang="en-US" altLang="en-US"/>
          </a:p>
        </p:txBody>
      </p:sp>
    </p:spTree>
    <p:extLst>
      <p:ext uri="{BB962C8B-B14F-4D97-AF65-F5344CB8AC3E}">
        <p14:creationId xmlns:p14="http://schemas.microsoft.com/office/powerpoint/2010/main" val="403735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123116-7B90-4155-BA93-0075939EBD2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A8B8FC-A1A9-43F9-AFDC-2D5477B47DE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52D2FD-FD11-4EDB-AB71-E449803ED8FF}"/>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5" name="Footer Placeholder 4">
            <a:extLst>
              <a:ext uri="{FF2B5EF4-FFF2-40B4-BE49-F238E27FC236}">
                <a16:creationId xmlns:a16="http://schemas.microsoft.com/office/drawing/2014/main" id="{AE7AF371-418F-48A7-B0BC-45A3E60E4E02}"/>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6" name="Slide Number Placeholder 5">
            <a:extLst>
              <a:ext uri="{FF2B5EF4-FFF2-40B4-BE49-F238E27FC236}">
                <a16:creationId xmlns:a16="http://schemas.microsoft.com/office/drawing/2014/main" id="{39393C50-2A85-45FB-BCC2-76043CB75574}"/>
              </a:ext>
            </a:extLst>
          </p:cNvPr>
          <p:cNvSpPr>
            <a:spLocks noGrp="1"/>
          </p:cNvSpPr>
          <p:nvPr>
            <p:ph type="sldNum" sz="quarter" idx="12"/>
          </p:nvPr>
        </p:nvSpPr>
        <p:spPr/>
        <p:txBody>
          <a:bodyPr/>
          <a:lstStyle/>
          <a:p>
            <a:pPr>
              <a:defRPr/>
            </a:pPr>
            <a:fld id="{FB33E6B6-6649-824A-9F70-3BBE9847395A}" type="slidenum">
              <a:rPr lang="en-US" altLang="en-US" smtClean="0"/>
              <a:pPr>
                <a:defRPr/>
              </a:pPr>
              <a:t>‹#›</a:t>
            </a:fld>
            <a:endParaRPr lang="en-US" altLang="en-US"/>
          </a:p>
        </p:txBody>
      </p:sp>
    </p:spTree>
    <p:extLst>
      <p:ext uri="{BB962C8B-B14F-4D97-AF65-F5344CB8AC3E}">
        <p14:creationId xmlns:p14="http://schemas.microsoft.com/office/powerpoint/2010/main" val="3798097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 name="Rectangle 3">
            <a:extLst>
              <a:ext uri="{FF2B5EF4-FFF2-40B4-BE49-F238E27FC236}">
                <a16:creationId xmlns:a16="http://schemas.microsoft.com/office/drawing/2014/main" id="{B16F45E7-D03F-4586-B0E0-EC63E9664911}"/>
              </a:ext>
            </a:extLst>
          </p:cNvPr>
          <p:cNvSpPr txBox="1">
            <a:spLocks noChangeArrowheads="1"/>
          </p:cNvSpPr>
          <p:nvPr userDrawn="1"/>
        </p:nvSpPr>
        <p:spPr>
          <a:xfrm>
            <a:off x="838200" y="1066800"/>
            <a:ext cx="10363200" cy="5105400"/>
          </a:xfrm>
          <a:prstGeom prst="rect">
            <a:avLst/>
          </a:prstGeom>
          <a:solidFill>
            <a:schemeClr val="bg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rtlCol="0">
            <a:normAutofit/>
          </a:bodyPr>
          <a:lst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ＭＳ Ｐゴシック"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fontAlgn="auto" hangingPunct="1">
              <a:spcAft>
                <a:spcPts val="0"/>
              </a:spcAft>
              <a:buFont typeface="Arial"/>
              <a:buChar char="•"/>
              <a:defRPr/>
            </a:pPr>
            <a:endParaRPr lang="en-US" sz="2800" i="1" dirty="0">
              <a:solidFill>
                <a:schemeClr val="tx2"/>
              </a:solidFill>
              <a:latin typeface="Verdana" panose="020B0604030504040204" pitchFamily="34" charset="0"/>
              <a:ea typeface="Verdana" panose="020B0604030504040204" pitchFamily="34" charset="0"/>
              <a:cs typeface="+mn-cs"/>
            </a:endParaRPr>
          </a:p>
        </p:txBody>
      </p:sp>
      <p:sp>
        <p:nvSpPr>
          <p:cNvPr id="3" name="Text Placeholder 2">
            <a:extLst>
              <a:ext uri="{FF2B5EF4-FFF2-40B4-BE49-F238E27FC236}">
                <a16:creationId xmlns:a16="http://schemas.microsoft.com/office/drawing/2014/main" id="{B5B8F009-9366-4850-9E23-2A84A3F79C65}"/>
              </a:ext>
            </a:extLst>
          </p:cNvPr>
          <p:cNvSpPr>
            <a:spLocks noGrp="1"/>
          </p:cNvSpPr>
          <p:nvPr>
            <p:ph type="body" idx="1"/>
          </p:nvPr>
        </p:nvSpPr>
        <p:spPr>
          <a:xfrm>
            <a:off x="952500" y="1130530"/>
            <a:ext cx="10020300" cy="504166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CB8A422F-6D07-497F-B7A0-A689BBB3B518}"/>
              </a:ext>
            </a:extLst>
          </p:cNvPr>
          <p:cNvSpPr>
            <a:spLocks noGrp="1"/>
          </p:cNvSpPr>
          <p:nvPr>
            <p:ph type="sldNum" sz="quarter" idx="4"/>
          </p:nvPr>
        </p:nvSpPr>
        <p:spPr>
          <a:xfrm>
            <a:off x="10363200" y="6416675"/>
            <a:ext cx="990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37E0829-F0AB-F54C-9D83-2E2209BD69BB}" type="slidenum">
              <a:rPr lang="en-US" altLang="en-US" smtClean="0"/>
              <a:pPr>
                <a:defRPr/>
              </a:pPr>
              <a:t>‹#›</a:t>
            </a:fld>
            <a:endParaRPr lang="en-US" altLang="en-US" dirty="0"/>
          </a:p>
        </p:txBody>
      </p:sp>
      <p:sp>
        <p:nvSpPr>
          <p:cNvPr id="17" name="Title 1">
            <a:extLst>
              <a:ext uri="{FF2B5EF4-FFF2-40B4-BE49-F238E27FC236}">
                <a16:creationId xmlns:a16="http://schemas.microsoft.com/office/drawing/2014/main" id="{987D6C82-C460-43F0-9B4C-C710E9B5099C}"/>
              </a:ext>
            </a:extLst>
          </p:cNvPr>
          <p:cNvSpPr txBox="1">
            <a:spLocks/>
          </p:cNvSpPr>
          <p:nvPr userDrawn="1"/>
        </p:nvSpPr>
        <p:spPr bwMode="auto">
          <a:xfrm>
            <a:off x="0" y="0"/>
            <a:ext cx="12192000" cy="712560"/>
          </a:xfrm>
          <a:prstGeom prst="rect">
            <a:avLst/>
          </a:prstGeom>
          <a:solidFill>
            <a:srgbClr val="005684"/>
          </a:solidFill>
          <a:ln>
            <a:noFill/>
          </a:ln>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MS PGothic" panose="020B0600070205080204"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endParaRPr lang="en-US" sz="2800" b="1" dirty="0">
              <a:solidFill>
                <a:schemeClr val="bg1"/>
              </a:solidFill>
              <a:latin typeface="Verdana" panose="020B0604030504040204" pitchFamily="34" charset="0"/>
              <a:ea typeface="Verdana" panose="020B0604030504040204" pitchFamily="34" charset="0"/>
            </a:endParaRPr>
          </a:p>
        </p:txBody>
      </p:sp>
      <p:sp>
        <p:nvSpPr>
          <p:cNvPr id="2" name="Title Placeholder 1">
            <a:extLst>
              <a:ext uri="{FF2B5EF4-FFF2-40B4-BE49-F238E27FC236}">
                <a16:creationId xmlns:a16="http://schemas.microsoft.com/office/drawing/2014/main" id="{47C0534D-CF79-4C82-943E-954E07D703F0}"/>
              </a:ext>
            </a:extLst>
          </p:cNvPr>
          <p:cNvSpPr>
            <a:spLocks noGrp="1"/>
          </p:cNvSpPr>
          <p:nvPr>
            <p:ph type="title"/>
          </p:nvPr>
        </p:nvSpPr>
        <p:spPr>
          <a:xfrm>
            <a:off x="0" y="39261"/>
            <a:ext cx="12192000" cy="646539"/>
          </a:xfrm>
          <a:prstGeom prst="rect">
            <a:avLst/>
          </a:prstGeom>
        </p:spPr>
        <p:txBody>
          <a:bodyPr vert="horz" lIns="91440" tIns="45720" rIns="91440" bIns="45720" rtlCol="0" anchor="ctr">
            <a:normAutofit/>
          </a:bodyPr>
          <a:lstStyle/>
          <a:p>
            <a:r>
              <a:rPr lang="en-US" dirty="0"/>
              <a:t>Click to edit Master title style</a:t>
            </a:r>
          </a:p>
        </p:txBody>
      </p:sp>
      <p:sp>
        <p:nvSpPr>
          <p:cNvPr id="23" name="Title 1">
            <a:extLst>
              <a:ext uri="{FF2B5EF4-FFF2-40B4-BE49-F238E27FC236}">
                <a16:creationId xmlns:a16="http://schemas.microsoft.com/office/drawing/2014/main" id="{FC978768-B8C8-4719-8F17-5A23840DCCE2}"/>
              </a:ext>
            </a:extLst>
          </p:cNvPr>
          <p:cNvSpPr txBox="1">
            <a:spLocks/>
          </p:cNvSpPr>
          <p:nvPr userDrawn="1"/>
        </p:nvSpPr>
        <p:spPr bwMode="auto">
          <a:xfrm>
            <a:off x="1638300" y="6416675"/>
            <a:ext cx="87630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MS PGothic" panose="020B0600070205080204"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r>
              <a:rPr lang="en-US" sz="1400" dirty="0">
                <a:latin typeface="Verdana" panose="020B0604030504040204" pitchFamily="34" charset="0"/>
                <a:ea typeface="Verdana" panose="020B0604030504040204" pitchFamily="34" charset="0"/>
              </a:rPr>
              <a:t>Content Copyright Nanyang Technological University</a:t>
            </a:r>
          </a:p>
        </p:txBody>
      </p:sp>
      <p:sp>
        <p:nvSpPr>
          <p:cNvPr id="8" name="Slide Number Placeholder 6">
            <a:extLst>
              <a:ext uri="{FF2B5EF4-FFF2-40B4-BE49-F238E27FC236}">
                <a16:creationId xmlns:a16="http://schemas.microsoft.com/office/drawing/2014/main" id="{8F39C9BC-F78C-4B17-929F-32B2ED95D225}"/>
              </a:ext>
            </a:extLst>
          </p:cNvPr>
          <p:cNvSpPr txBox="1">
            <a:spLocks/>
          </p:cNvSpPr>
          <p:nvPr userDrawn="1"/>
        </p:nvSpPr>
        <p:spPr>
          <a:xfrm>
            <a:off x="8737600" y="6477000"/>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B4605DB1-9E3D-0A41-A768-42B3EF17CCC2}" type="slidenum">
              <a:rPr lang="en-US" altLang="en-US" smtClean="0"/>
              <a:pPr>
                <a:defRPr/>
              </a:pPr>
              <a:t>‹#›</a:t>
            </a:fld>
            <a:endParaRPr lang="en-US" altLang="en-US" dirty="0"/>
          </a:p>
        </p:txBody>
      </p:sp>
    </p:spTree>
    <p:extLst>
      <p:ext uri="{BB962C8B-B14F-4D97-AF65-F5344CB8AC3E}">
        <p14:creationId xmlns:p14="http://schemas.microsoft.com/office/powerpoint/2010/main" val="233372548"/>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left)">
                                      <p:cBhvr>
                                        <p:cTn id="18" dur="500"/>
                                        <p:tgtEl>
                                          <p:spTgt spid="3">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left)">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nodePh="1">
                                  <p:stCondLst>
                                    <p:cond delay="0"/>
                                  </p:stCondLst>
                                  <p:endCondLst>
                                    <p:cond evt="begin" delay="0">
                                      <p:tn val="24"/>
                                    </p:cond>
                                  </p:endCondLst>
                                  <p:childTnLst>
                                    <p:set>
                                      <p:cBhvr>
                                        <p:cTn id="25" dur="1" fill="hold">
                                          <p:stCondLst>
                                            <p:cond delay="0"/>
                                          </p:stCondLst>
                                        </p:cTn>
                                        <p:tgtEl>
                                          <p:spTgt spid="21">
                                            <p:txEl>
                                              <p:pRg st="0" end="0"/>
                                            </p:txEl>
                                          </p:spTgt>
                                        </p:tgtEl>
                                        <p:attrNameLst>
                                          <p:attrName>style.visibility</p:attrName>
                                        </p:attrNameLst>
                                      </p:cBhvr>
                                      <p:to>
                                        <p:strVal val="visible"/>
                                      </p:to>
                                    </p:set>
                                    <p:animEffect transition="in" filter="wipe(left)">
                                      <p:cBhvr>
                                        <p:cTn id="26"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bldLvl="4" autoUpdateAnimBg="0"/>
      <p:bldP spid="3" grpId="0" build="p" bldLvl="4" autoUpdateAnimBg="0"/>
    </p:bldLst>
  </p:timing>
  <p:hf hdr="0" ftr="0" dt="0"/>
  <p:txStyles>
    <p:titleStyle>
      <a:lvl1pPr algn="ctr" defTabSz="914400" rtl="0" eaLnBrk="1" latinLnBrk="0" hangingPunct="1">
        <a:lnSpc>
          <a:spcPct val="90000"/>
        </a:lnSpc>
        <a:spcBef>
          <a:spcPct val="0"/>
        </a:spcBef>
        <a:buNone/>
        <a:defRPr sz="2800" b="1" kern="1200">
          <a:solidFill>
            <a:schemeClr val="bg1"/>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0E4E137-ACEE-41BF-87CB-D2B72CD526AE}"/>
              </a:ext>
            </a:extLst>
          </p:cNvPr>
          <p:cNvPicPr>
            <a:picLocks noChangeAspect="1"/>
          </p:cNvPicPr>
          <p:nvPr/>
        </p:nvPicPr>
        <p:blipFill>
          <a:blip r:embed="rId3"/>
          <a:srcRect t="9091" r="18989"/>
          <a:stretch/>
        </p:blipFill>
        <p:spPr>
          <a:xfrm>
            <a:off x="3523488" y="10"/>
            <a:ext cx="8668512" cy="6857990"/>
          </a:xfrm>
          <a:prstGeom prst="rect">
            <a:avLst/>
          </a:prstGeom>
        </p:spPr>
      </p:pic>
      <p:sp>
        <p:nvSpPr>
          <p:cNvPr id="2057" name="Rectangle 2056">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59" name="Rectangle 205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61" name="Rectangle 2060">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
            <a:extLst>
              <a:ext uri="{FF2B5EF4-FFF2-40B4-BE49-F238E27FC236}">
                <a16:creationId xmlns:a16="http://schemas.microsoft.com/office/drawing/2014/main" id="{1DDACFC5-EB70-4F0D-A5C1-F08AA8632C97}"/>
              </a:ext>
            </a:extLst>
          </p:cNvPr>
          <p:cNvSpPr>
            <a:spLocks noGrp="1" noChangeArrowheads="1"/>
          </p:cNvSpPr>
          <p:nvPr>
            <p:ph type="ctrTitle"/>
          </p:nvPr>
        </p:nvSpPr>
        <p:spPr>
          <a:xfrm>
            <a:off x="43719" y="2865536"/>
            <a:ext cx="6128481" cy="1672517"/>
          </a:xfrm>
        </p:spPr>
        <p:txBody>
          <a:bodyPr rtlCol="0" anchor="b">
            <a:noAutofit/>
          </a:bodyPr>
          <a:lstStyle/>
          <a:p>
            <a:pPr algn="l">
              <a:defRPr/>
            </a:pPr>
            <a:r>
              <a:rPr lang="en-US" sz="2000" b="1" dirty="0">
                <a:solidFill>
                  <a:schemeClr val="bg1"/>
                </a:solidFill>
                <a:latin typeface="Verdana" panose="020B0604030504040204" pitchFamily="34" charset="0"/>
                <a:ea typeface="Verdana" panose="020B0604030504040204" pitchFamily="34" charset="0"/>
                <a:cs typeface="+mj-cs"/>
              </a:rPr>
              <a:t>Data Structures &amp; Algorithms in Python</a:t>
            </a:r>
            <a:br>
              <a:rPr lang="en-US" sz="2000" b="1" dirty="0">
                <a:solidFill>
                  <a:schemeClr val="bg1"/>
                </a:solidFill>
                <a:latin typeface="Verdana" panose="020B0604030504040204" pitchFamily="34" charset="0"/>
                <a:ea typeface="Verdana" panose="020B0604030504040204" pitchFamily="34" charset="0"/>
                <a:cs typeface="+mj-cs"/>
              </a:rPr>
            </a:br>
            <a:br>
              <a:rPr lang="en-US" sz="2000" dirty="0">
                <a:solidFill>
                  <a:schemeClr val="bg1"/>
                </a:solidFill>
                <a:latin typeface="Verdana" panose="020B0604030504040204" pitchFamily="34" charset="0"/>
                <a:ea typeface="Verdana" panose="020B0604030504040204" pitchFamily="34" charset="0"/>
                <a:cs typeface="+mj-cs"/>
              </a:rPr>
            </a:br>
            <a:r>
              <a:rPr lang="en-US" sz="1800"/>
              <a:t>Binary Trees </a:t>
            </a:r>
            <a:r>
              <a:rPr lang="en-US" sz="1800" dirty="0"/>
              <a:t>– Tutorial Answers</a:t>
            </a:r>
            <a:br>
              <a:rPr lang="en-US" sz="2000" b="1" dirty="0">
                <a:solidFill>
                  <a:schemeClr val="bg1"/>
                </a:solidFill>
                <a:latin typeface="Verdana" panose="020B0604030504040204" pitchFamily="34" charset="0"/>
                <a:ea typeface="Verdana" panose="020B0604030504040204" pitchFamily="34" charset="0"/>
                <a:cs typeface="+mj-cs"/>
              </a:rPr>
            </a:br>
            <a:br>
              <a:rPr lang="en-US" sz="2000" b="1" dirty="0">
                <a:solidFill>
                  <a:schemeClr val="bg1"/>
                </a:solidFill>
                <a:latin typeface="Verdana" panose="020B0604030504040204" pitchFamily="34" charset="0"/>
                <a:ea typeface="Verdana" panose="020B0604030504040204" pitchFamily="34" charset="0"/>
                <a:cs typeface="+mj-cs"/>
              </a:rPr>
            </a:br>
            <a:r>
              <a:rPr lang="fr-FR" altLang="en-US" sz="1400" dirty="0">
                <a:solidFill>
                  <a:schemeClr val="bg1"/>
                </a:solidFill>
                <a:latin typeface="Verdana" panose="020B0604030504040204" pitchFamily="34" charset="0"/>
                <a:ea typeface="Verdana" panose="020B0604030504040204" pitchFamily="34" charset="0"/>
                <a:cs typeface="Verdana" panose="020B0604030504040204" pitchFamily="34" charset="0"/>
              </a:rPr>
              <a:t>Dr. Owen Noel Newton Fernando</a:t>
            </a:r>
            <a:br>
              <a:rPr lang="en-US" altLang="en-US" sz="2000" dirty="0">
                <a:solidFill>
                  <a:schemeClr val="bg1"/>
                </a:solidFill>
                <a:latin typeface="Verdana" panose="020B0604030504040204" pitchFamily="34" charset="0"/>
              </a:rPr>
            </a:br>
            <a:endParaRPr lang="en-US" sz="2000" b="1" dirty="0">
              <a:solidFill>
                <a:schemeClr val="bg1"/>
              </a:solidFill>
              <a:latin typeface="Verdana" panose="020B0604030504040204" pitchFamily="34" charset="0"/>
              <a:ea typeface="Verdana" panose="020B0604030504040204" pitchFamily="34" charset="0"/>
              <a:cs typeface="+mj-cs"/>
            </a:endParaRPr>
          </a:p>
        </p:txBody>
      </p:sp>
      <p:sp>
        <p:nvSpPr>
          <p:cNvPr id="23" name="TextBox 22">
            <a:extLst>
              <a:ext uri="{FF2B5EF4-FFF2-40B4-BE49-F238E27FC236}">
                <a16:creationId xmlns:a16="http://schemas.microsoft.com/office/drawing/2014/main" id="{14A57AFD-D505-4500-9697-EDFFEF0B2629}"/>
              </a:ext>
            </a:extLst>
          </p:cNvPr>
          <p:cNvSpPr txBox="1"/>
          <p:nvPr/>
        </p:nvSpPr>
        <p:spPr>
          <a:xfrm>
            <a:off x="43719" y="5641705"/>
            <a:ext cx="4248279" cy="1023165"/>
          </a:xfrm>
          <a:prstGeom prst="rect">
            <a:avLst/>
          </a:prstGeom>
          <a:noFill/>
        </p:spPr>
        <p:txBody>
          <a:bodyPr wrap="square" rtlCol="0">
            <a:spAutoFit/>
          </a:bodyPr>
          <a:lstStyle/>
          <a:p>
            <a:pPr>
              <a:lnSpc>
                <a:spcPct val="150000"/>
              </a:lnSpc>
            </a:pPr>
            <a:r>
              <a:rPr lang="en-SG" sz="1400" b="1" dirty="0">
                <a:solidFill>
                  <a:schemeClr val="bg1"/>
                </a:solidFill>
              </a:rPr>
              <a:t>College of Engineering </a:t>
            </a:r>
            <a:br>
              <a:rPr lang="en-SG" sz="1400" dirty="0">
                <a:solidFill>
                  <a:schemeClr val="bg1"/>
                </a:solidFill>
              </a:rPr>
            </a:br>
            <a:r>
              <a:rPr lang="en-SG" sz="1400" dirty="0">
                <a:solidFill>
                  <a:schemeClr val="bg1"/>
                </a:solidFill>
              </a:rPr>
              <a:t>School of Computer Science and Engineering</a:t>
            </a:r>
          </a:p>
          <a:p>
            <a:pPr>
              <a:lnSpc>
                <a:spcPct val="150000"/>
              </a:lnSpc>
            </a:pPr>
            <a:endParaRPr lang="en-SG" sz="1400" dirty="0">
              <a:solidFill>
                <a:schemeClr val="bg1"/>
              </a:solidFill>
            </a:endParaRPr>
          </a:p>
        </p:txBody>
      </p:sp>
      <p:pic>
        <p:nvPicPr>
          <p:cNvPr id="24" name="Picture 23">
            <a:extLst>
              <a:ext uri="{FF2B5EF4-FFF2-40B4-BE49-F238E27FC236}">
                <a16:creationId xmlns:a16="http://schemas.microsoft.com/office/drawing/2014/main" id="{79DDBA02-A0B9-4A7D-9F97-3DA4C9378C55}"/>
              </a:ext>
            </a:extLst>
          </p:cNvPr>
          <p:cNvPicPr>
            <a:picLocks noChangeAspect="1"/>
          </p:cNvPicPr>
          <p:nvPr/>
        </p:nvPicPr>
        <p:blipFill>
          <a:blip r:embed="rId4"/>
          <a:stretch>
            <a:fillRect/>
          </a:stretch>
        </p:blipFill>
        <p:spPr>
          <a:xfrm>
            <a:off x="228600" y="106704"/>
            <a:ext cx="3878519" cy="15514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dirty="0"/>
              <a:t>Q01</a:t>
            </a:r>
          </a:p>
        </p:txBody>
      </p:sp>
      <p:sp>
        <p:nvSpPr>
          <p:cNvPr id="4" name="Rectangle 3">
            <a:extLst>
              <a:ext uri="{FF2B5EF4-FFF2-40B4-BE49-F238E27FC236}">
                <a16:creationId xmlns:a16="http://schemas.microsoft.com/office/drawing/2014/main" id="{21BD78E2-8F60-4FE9-AB92-C50D665E75DF}"/>
              </a:ext>
            </a:extLst>
          </p:cNvPr>
          <p:cNvSpPr/>
          <p:nvPr/>
        </p:nvSpPr>
        <p:spPr>
          <a:xfrm>
            <a:off x="1295400" y="1566208"/>
            <a:ext cx="9601200" cy="1938992"/>
          </a:xfrm>
          <a:prstGeom prst="rect">
            <a:avLst/>
          </a:prstGeom>
        </p:spPr>
        <p:txBody>
          <a:bodyPr wrap="square">
            <a:spAutoFit/>
          </a:bodyPr>
          <a:lstStyle/>
          <a:p>
            <a:pPr marL="342900" marR="0" lvl="0" indent="-342900">
              <a:spcBef>
                <a:spcPts val="0"/>
              </a:spcBef>
              <a:spcAft>
                <a:spcPts val="0"/>
              </a:spcAft>
              <a:buFont typeface="+mj-lt"/>
              <a:buAutoNum type="arabicPeriod"/>
            </a:pPr>
            <a:r>
              <a:rPr lang="en-US" sz="2400" dirty="0">
                <a:latin typeface="Times New Roman" panose="02020603050405020304" pitchFamily="18" charset="0"/>
                <a:cs typeface="Times New Roman" panose="02020603050405020304" pitchFamily="18" charset="0"/>
              </a:rPr>
              <a:t>You are given a pre-order traversal and an </a:t>
            </a:r>
            <a:r>
              <a:rPr lang="en-US" sz="2400" dirty="0" err="1">
                <a:latin typeface="Times New Roman" panose="02020603050405020304" pitchFamily="18" charset="0"/>
                <a:cs typeface="Times New Roman" panose="02020603050405020304" pitchFamily="18" charset="0"/>
              </a:rPr>
              <a:t>inorder</a:t>
            </a:r>
            <a:r>
              <a:rPr lang="en-US" sz="2400" dirty="0">
                <a:latin typeface="Times New Roman" panose="02020603050405020304" pitchFamily="18" charset="0"/>
                <a:cs typeface="Times New Roman" panose="02020603050405020304" pitchFamily="18" charset="0"/>
              </a:rPr>
              <a:t> traversal of a binary tree. Draw the binary tree from the two traversal results. </a:t>
            </a:r>
          </a:p>
          <a:p>
            <a:pPr marL="342900" marR="0" lvl="0" indent="-342900">
              <a:spcBef>
                <a:spcPts val="0"/>
              </a:spcBef>
              <a:spcAft>
                <a:spcPts val="0"/>
              </a:spcAft>
              <a:buFont typeface="+mj-lt"/>
              <a:buAutoNum type="arabicPeriod"/>
            </a:pP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pre-order: A, B, C, D, E, F, G </a:t>
            </a:r>
          </a:p>
          <a:p>
            <a:pPr lvl="1"/>
            <a:r>
              <a:rPr lang="en-US" sz="2400" dirty="0" err="1">
                <a:latin typeface="Times New Roman" panose="02020603050405020304" pitchFamily="18" charset="0"/>
                <a:cs typeface="Times New Roman" panose="02020603050405020304" pitchFamily="18" charset="0"/>
              </a:rPr>
              <a:t>inorder</a:t>
            </a:r>
            <a:r>
              <a:rPr lang="en-US" sz="2400" dirty="0">
                <a:latin typeface="Times New Roman" panose="02020603050405020304" pitchFamily="18" charset="0"/>
                <a:cs typeface="Times New Roman" panose="02020603050405020304" pitchFamily="18" charset="0"/>
              </a:rPr>
              <a:t>: C, B, E, D, A, F, G </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4563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dirty="0"/>
              <a:t>Q01 - Answer</a:t>
            </a:r>
          </a:p>
        </p:txBody>
      </p:sp>
      <p:sp>
        <p:nvSpPr>
          <p:cNvPr id="7" name="Rectangle 6">
            <a:extLst>
              <a:ext uri="{FF2B5EF4-FFF2-40B4-BE49-F238E27FC236}">
                <a16:creationId xmlns:a16="http://schemas.microsoft.com/office/drawing/2014/main" id="{FCE24775-85BF-4C1C-9047-247B2D1723ED}"/>
              </a:ext>
            </a:extLst>
          </p:cNvPr>
          <p:cNvSpPr/>
          <p:nvPr/>
        </p:nvSpPr>
        <p:spPr>
          <a:xfrm>
            <a:off x="1143000" y="1371600"/>
            <a:ext cx="9906000" cy="461665"/>
          </a:xfrm>
          <a:prstGeom prst="rect">
            <a:avLst/>
          </a:prstGeom>
        </p:spPr>
        <p:txBody>
          <a:bodyPr wrap="square">
            <a:spAutoFit/>
          </a:bodyPr>
          <a:lstStyle/>
          <a:p>
            <a:pPr marR="0" lvl="0">
              <a:spcBef>
                <a:spcPts val="0"/>
              </a:spcBef>
              <a:spcAft>
                <a:spcPts val="0"/>
              </a:spcAft>
            </a:pPr>
            <a:r>
              <a:rPr lang="en-US" sz="2400" dirty="0">
                <a:solidFill>
                  <a:schemeClr val="accent1">
                    <a:lumMod val="75000"/>
                  </a:schemeClr>
                </a:solidFill>
                <a:latin typeface="Times New Roman" panose="02020603050405020304" pitchFamily="18" charset="0"/>
                <a:ea typeface="Times New Roman" panose="02020603050405020304" pitchFamily="18" charset="0"/>
              </a:rPr>
              <a:t>Let’s go through the answer step-by-step   </a:t>
            </a:r>
          </a:p>
        </p:txBody>
      </p:sp>
      <p:sp>
        <p:nvSpPr>
          <p:cNvPr id="5" name="Rectangle 4">
            <a:extLst>
              <a:ext uri="{FF2B5EF4-FFF2-40B4-BE49-F238E27FC236}">
                <a16:creationId xmlns:a16="http://schemas.microsoft.com/office/drawing/2014/main" id="{9A34D691-4DE1-4621-9E65-49E8369282A9}"/>
              </a:ext>
            </a:extLst>
          </p:cNvPr>
          <p:cNvSpPr/>
          <p:nvPr/>
        </p:nvSpPr>
        <p:spPr>
          <a:xfrm>
            <a:off x="1676400" y="2162414"/>
            <a:ext cx="9144000" cy="3785652"/>
          </a:xfrm>
          <a:prstGeom prst="rect">
            <a:avLst/>
          </a:prstGeom>
        </p:spPr>
        <p:txBody>
          <a:bodyPr wrap="square">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first visiting node of the pre-order traversal is the </a:t>
            </a:r>
            <a:r>
              <a:rPr lang="en-US" sz="2400" b="1" dirty="0">
                <a:latin typeface="Times New Roman" panose="02020603050405020304" pitchFamily="18" charset="0"/>
                <a:cs typeface="Times New Roman" panose="02020603050405020304" pitchFamily="18" charset="0"/>
              </a:rPr>
              <a:t>root</a:t>
            </a:r>
            <a:r>
              <a:rPr lang="en-US" sz="2400" dirty="0">
                <a:latin typeface="Times New Roman" panose="02020603050405020304" pitchFamily="18" charset="0"/>
                <a:cs typeface="Times New Roman" panose="02020603050405020304" pitchFamily="18" charset="0"/>
              </a:rPr>
              <a:t>. From the in-order traversal, you can find that C, B, E, D are in the left subtree and F, G are in the right subtree. </a:t>
            </a:r>
          </a:p>
          <a:p>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second visiting node of the pre-order traversal is the root of the left subtree if the left subtree is not empty. </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Otherwise, it will be the root of the right subtree. From the in-order traversal, you can find that C is in the left subtree and E,D are in the right subtree. etc. </a:t>
            </a:r>
          </a:p>
        </p:txBody>
      </p:sp>
    </p:spTree>
    <p:extLst>
      <p:ext uri="{BB962C8B-B14F-4D97-AF65-F5344CB8AC3E}">
        <p14:creationId xmlns:p14="http://schemas.microsoft.com/office/powerpoint/2010/main" val="30901721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dirty="0"/>
              <a:t>Q01 - Answer</a:t>
            </a:r>
          </a:p>
        </p:txBody>
      </p:sp>
      <p:sp>
        <p:nvSpPr>
          <p:cNvPr id="7" name="Rectangle 6">
            <a:extLst>
              <a:ext uri="{FF2B5EF4-FFF2-40B4-BE49-F238E27FC236}">
                <a16:creationId xmlns:a16="http://schemas.microsoft.com/office/drawing/2014/main" id="{FCE24775-85BF-4C1C-9047-247B2D1723ED}"/>
              </a:ext>
            </a:extLst>
          </p:cNvPr>
          <p:cNvSpPr/>
          <p:nvPr/>
        </p:nvSpPr>
        <p:spPr>
          <a:xfrm>
            <a:off x="1143000" y="1371600"/>
            <a:ext cx="9906000" cy="461665"/>
          </a:xfrm>
          <a:prstGeom prst="rect">
            <a:avLst/>
          </a:prstGeom>
        </p:spPr>
        <p:txBody>
          <a:bodyPr wrap="square">
            <a:spAutoFit/>
          </a:bodyPr>
          <a:lstStyle/>
          <a:p>
            <a:pPr marR="0" lvl="0">
              <a:spcBef>
                <a:spcPts val="0"/>
              </a:spcBef>
              <a:spcAft>
                <a:spcPts val="0"/>
              </a:spcAft>
            </a:pPr>
            <a:r>
              <a:rPr lang="en-US" sz="2400" dirty="0">
                <a:solidFill>
                  <a:schemeClr val="accent1">
                    <a:lumMod val="75000"/>
                  </a:schemeClr>
                </a:solidFill>
                <a:latin typeface="Times New Roman" panose="02020603050405020304" pitchFamily="18" charset="0"/>
                <a:ea typeface="Times New Roman" panose="02020603050405020304" pitchFamily="18" charset="0"/>
              </a:rPr>
              <a:t>Let’s go through the answer step-by-step   </a:t>
            </a:r>
          </a:p>
        </p:txBody>
      </p:sp>
      <p:sp>
        <p:nvSpPr>
          <p:cNvPr id="8" name="Rectangle 2">
            <a:extLst>
              <a:ext uri="{FF2B5EF4-FFF2-40B4-BE49-F238E27FC236}">
                <a16:creationId xmlns:a16="http://schemas.microsoft.com/office/drawing/2014/main" id="{14771BDE-83BF-455D-A7F4-8BD68252821D}"/>
              </a:ext>
            </a:extLst>
          </p:cNvPr>
          <p:cNvSpPr>
            <a:spLocks noChangeArrowheads="1"/>
          </p:cNvSpPr>
          <p:nvPr/>
        </p:nvSpPr>
        <p:spPr bwMode="auto">
          <a:xfrm>
            <a:off x="3505200" y="2209800"/>
            <a:ext cx="59436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Given Traversals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Preorder</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Root → Left → Right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B, C, D, E, F, 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Inorder</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Left → Root → Right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 B, E, D, A, F, 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2707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dirty="0"/>
              <a:t>Q01 - Answer</a:t>
            </a:r>
          </a:p>
        </p:txBody>
      </p:sp>
      <p:sp>
        <p:nvSpPr>
          <p:cNvPr id="7" name="Rectangle 6">
            <a:extLst>
              <a:ext uri="{FF2B5EF4-FFF2-40B4-BE49-F238E27FC236}">
                <a16:creationId xmlns:a16="http://schemas.microsoft.com/office/drawing/2014/main" id="{FCE24775-85BF-4C1C-9047-247B2D1723ED}"/>
              </a:ext>
            </a:extLst>
          </p:cNvPr>
          <p:cNvSpPr/>
          <p:nvPr/>
        </p:nvSpPr>
        <p:spPr>
          <a:xfrm>
            <a:off x="1143000" y="1371600"/>
            <a:ext cx="9906000" cy="461665"/>
          </a:xfrm>
          <a:prstGeom prst="rect">
            <a:avLst/>
          </a:prstGeom>
        </p:spPr>
        <p:txBody>
          <a:bodyPr wrap="square">
            <a:spAutoFit/>
          </a:bodyPr>
          <a:lstStyle/>
          <a:p>
            <a:pPr marR="0" lvl="0">
              <a:spcBef>
                <a:spcPts val="0"/>
              </a:spcBef>
              <a:spcAft>
                <a:spcPts val="0"/>
              </a:spcAft>
            </a:pPr>
            <a:r>
              <a:rPr lang="en-US" sz="2400" dirty="0">
                <a:solidFill>
                  <a:schemeClr val="accent1">
                    <a:lumMod val="75000"/>
                  </a:schemeClr>
                </a:solidFill>
                <a:latin typeface="Times New Roman" panose="02020603050405020304" pitchFamily="18" charset="0"/>
                <a:ea typeface="Times New Roman" panose="02020603050405020304" pitchFamily="18" charset="0"/>
              </a:rPr>
              <a:t>Let’s go through the answer step-by-step   </a:t>
            </a:r>
          </a:p>
        </p:txBody>
      </p:sp>
      <p:sp>
        <p:nvSpPr>
          <p:cNvPr id="8" name="Rectangle 2">
            <a:extLst>
              <a:ext uri="{FF2B5EF4-FFF2-40B4-BE49-F238E27FC236}">
                <a16:creationId xmlns:a16="http://schemas.microsoft.com/office/drawing/2014/main" id="{14771BDE-83BF-455D-A7F4-8BD68252821D}"/>
              </a:ext>
            </a:extLst>
          </p:cNvPr>
          <p:cNvSpPr>
            <a:spLocks noChangeArrowheads="1"/>
          </p:cNvSpPr>
          <p:nvPr/>
        </p:nvSpPr>
        <p:spPr bwMode="auto">
          <a:xfrm>
            <a:off x="3352800" y="1979712"/>
            <a:ext cx="72390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u="sng" dirty="0">
                <a:latin typeface="Times New Roman" panose="02020603050405020304" pitchFamily="18" charset="0"/>
                <a:cs typeface="Times New Roman" panose="02020603050405020304" pitchFamily="18" charset="0"/>
              </a:rPr>
              <a:t>Step 1: Root</a:t>
            </a:r>
          </a:p>
          <a:p>
            <a:pPr lvl="0" eaLnBrk="0" fontAlgn="base" hangingPunct="0">
              <a:spcBef>
                <a:spcPct val="0"/>
              </a:spcBef>
              <a:spcAft>
                <a:spcPct val="0"/>
              </a:spcAft>
            </a:pPr>
            <a:endParaRPr lang="en-US" altLang="en-US" sz="2000" b="1"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First node in preorder = A.</a:t>
            </a: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So A is the root.</a:t>
            </a:r>
            <a:br>
              <a:rPr lang="en-US" altLang="en-US" sz="2000" dirty="0">
                <a:latin typeface="Times New Roman" panose="02020603050405020304" pitchFamily="18" charset="0"/>
                <a:cs typeface="Times New Roman" panose="02020603050405020304" pitchFamily="18" charset="0"/>
              </a:rPr>
            </a:b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In </a:t>
            </a:r>
            <a:r>
              <a:rPr lang="en-US" altLang="en-US" sz="2000" dirty="0" err="1">
                <a:latin typeface="Times New Roman" panose="02020603050405020304" pitchFamily="18" charset="0"/>
                <a:cs typeface="Times New Roman" panose="02020603050405020304" pitchFamily="18" charset="0"/>
              </a:rPr>
              <a:t>inorder</a:t>
            </a:r>
            <a:r>
              <a:rPr lang="en-US" altLang="en-US" sz="2000" dirty="0">
                <a:latin typeface="Times New Roman" panose="02020603050405020304" pitchFamily="18" charset="0"/>
                <a:cs typeface="Times New Roman" panose="02020603050405020304" pitchFamily="18" charset="0"/>
              </a:rPr>
              <a:t> sequence: </a:t>
            </a: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C, B, E, D </a:t>
            </a:r>
            <a:r>
              <a:rPr lang="en-US" altLang="en-US" sz="2000" b="1" dirty="0">
                <a:highlight>
                  <a:srgbClr val="FFFF00"/>
                </a:highlight>
                <a:latin typeface="Times New Roman" panose="02020603050405020304" pitchFamily="18" charset="0"/>
                <a:cs typeface="Times New Roman" panose="02020603050405020304" pitchFamily="18" charset="0"/>
              </a:rPr>
              <a:t>| A </a:t>
            </a:r>
            <a:r>
              <a:rPr lang="en-US" altLang="en-US" sz="2000" dirty="0">
                <a:latin typeface="Times New Roman" panose="02020603050405020304" pitchFamily="18" charset="0"/>
                <a:cs typeface="Times New Roman" panose="02020603050405020304" pitchFamily="18" charset="0"/>
              </a:rPr>
              <a:t>| F, G</a:t>
            </a:r>
          </a:p>
          <a:p>
            <a:pPr lvl="0"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Left subtree of A: </a:t>
            </a:r>
            <a:r>
              <a:rPr lang="en-US" altLang="en-US" sz="2000" b="1" dirty="0">
                <a:latin typeface="Times New Roman" panose="02020603050405020304" pitchFamily="18" charset="0"/>
                <a:cs typeface="Times New Roman" panose="02020603050405020304" pitchFamily="18" charset="0"/>
              </a:rPr>
              <a:t>C, B, E, D</a:t>
            </a:r>
          </a:p>
          <a:p>
            <a:pPr lvl="0"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Right subtree of A: </a:t>
            </a:r>
            <a:r>
              <a:rPr lang="en-US" altLang="en-US" sz="2000" b="1" dirty="0">
                <a:latin typeface="Times New Roman" panose="02020603050405020304" pitchFamily="18" charset="0"/>
                <a:cs typeface="Times New Roman" panose="02020603050405020304" pitchFamily="18" charset="0"/>
              </a:rPr>
              <a:t>F, G</a:t>
            </a:r>
            <a:endParaRPr kumimoji="0" lang="en-US" altLang="en-US" sz="2000" b="1"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39072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dirty="0"/>
              <a:t>Q01 - Answer</a:t>
            </a:r>
          </a:p>
        </p:txBody>
      </p:sp>
      <p:sp>
        <p:nvSpPr>
          <p:cNvPr id="7" name="Rectangle 6">
            <a:extLst>
              <a:ext uri="{FF2B5EF4-FFF2-40B4-BE49-F238E27FC236}">
                <a16:creationId xmlns:a16="http://schemas.microsoft.com/office/drawing/2014/main" id="{FCE24775-85BF-4C1C-9047-247B2D1723ED}"/>
              </a:ext>
            </a:extLst>
          </p:cNvPr>
          <p:cNvSpPr/>
          <p:nvPr/>
        </p:nvSpPr>
        <p:spPr>
          <a:xfrm>
            <a:off x="1143000" y="1371600"/>
            <a:ext cx="9906000" cy="461665"/>
          </a:xfrm>
          <a:prstGeom prst="rect">
            <a:avLst/>
          </a:prstGeom>
        </p:spPr>
        <p:txBody>
          <a:bodyPr wrap="square">
            <a:spAutoFit/>
          </a:bodyPr>
          <a:lstStyle/>
          <a:p>
            <a:pPr marR="0" lvl="0">
              <a:spcBef>
                <a:spcPts val="0"/>
              </a:spcBef>
              <a:spcAft>
                <a:spcPts val="0"/>
              </a:spcAft>
            </a:pPr>
            <a:r>
              <a:rPr lang="en-US" sz="2400" dirty="0">
                <a:solidFill>
                  <a:schemeClr val="accent1">
                    <a:lumMod val="75000"/>
                  </a:schemeClr>
                </a:solidFill>
                <a:latin typeface="Times New Roman" panose="02020603050405020304" pitchFamily="18" charset="0"/>
                <a:ea typeface="Times New Roman" panose="02020603050405020304" pitchFamily="18" charset="0"/>
              </a:rPr>
              <a:t>Let’s go through the answer step-by-step   </a:t>
            </a:r>
          </a:p>
        </p:txBody>
      </p:sp>
      <p:sp>
        <p:nvSpPr>
          <p:cNvPr id="8" name="Rectangle 2">
            <a:extLst>
              <a:ext uri="{FF2B5EF4-FFF2-40B4-BE49-F238E27FC236}">
                <a16:creationId xmlns:a16="http://schemas.microsoft.com/office/drawing/2014/main" id="{14771BDE-83BF-455D-A7F4-8BD68252821D}"/>
              </a:ext>
            </a:extLst>
          </p:cNvPr>
          <p:cNvSpPr>
            <a:spLocks noChangeArrowheads="1"/>
          </p:cNvSpPr>
          <p:nvPr/>
        </p:nvSpPr>
        <p:spPr bwMode="auto">
          <a:xfrm>
            <a:off x="3352800" y="2133602"/>
            <a:ext cx="723900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u="sng" dirty="0">
                <a:latin typeface="Times New Roman" panose="02020603050405020304" pitchFamily="18" charset="0"/>
                <a:cs typeface="Times New Roman" panose="02020603050405020304" pitchFamily="18" charset="0"/>
              </a:rPr>
              <a:t>Step 2: Left Subtree of A</a:t>
            </a:r>
          </a:p>
          <a:p>
            <a:pPr lvl="0" eaLnBrk="0" fontAlgn="base" hangingPunct="0">
              <a:spcBef>
                <a:spcPct val="0"/>
              </a:spcBef>
              <a:spcAft>
                <a:spcPct val="0"/>
              </a:spcAft>
            </a:pPr>
            <a:endParaRPr lang="en-US" altLang="en-US" sz="2000" b="1"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Next in preorder = </a:t>
            </a:r>
            <a:r>
              <a:rPr lang="en-US" altLang="en-US" sz="2000" b="1" dirty="0">
                <a:latin typeface="Times New Roman" panose="02020603050405020304" pitchFamily="18" charset="0"/>
                <a:cs typeface="Times New Roman" panose="02020603050405020304" pitchFamily="18" charset="0"/>
              </a:rPr>
              <a:t>B</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 root of left subtree</a:t>
            </a:r>
            <a:r>
              <a:rPr lang="en-US" altLang="en-US" sz="2000" dirty="0">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In </a:t>
            </a:r>
            <a:r>
              <a:rPr lang="en-US" altLang="en-US" sz="2000" dirty="0" err="1">
                <a:latin typeface="Times New Roman" panose="02020603050405020304" pitchFamily="18" charset="0"/>
                <a:cs typeface="Times New Roman" panose="02020603050405020304" pitchFamily="18" charset="0"/>
              </a:rPr>
              <a:t>inorder</a:t>
            </a:r>
            <a:r>
              <a:rPr lang="en-US" altLang="en-US" sz="2000" dirty="0">
                <a:latin typeface="Times New Roman" panose="02020603050405020304" pitchFamily="18" charset="0"/>
                <a:cs typeface="Times New Roman" panose="02020603050405020304" pitchFamily="18" charset="0"/>
              </a:rPr>
              <a:t> left part (C, B, E, D): </a:t>
            </a: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C </a:t>
            </a:r>
            <a:r>
              <a:rPr lang="en-US" altLang="en-US" sz="2000" b="1" dirty="0">
                <a:latin typeface="Times New Roman" panose="02020603050405020304" pitchFamily="18" charset="0"/>
                <a:cs typeface="Times New Roman" panose="02020603050405020304" pitchFamily="18" charset="0"/>
              </a:rPr>
              <a:t>|</a:t>
            </a:r>
            <a:r>
              <a:rPr lang="en-US" altLang="en-US" sz="2000" b="1" dirty="0">
                <a:highlight>
                  <a:srgbClr val="FFFF00"/>
                </a:highlight>
                <a:latin typeface="Times New Roman" panose="02020603050405020304" pitchFamily="18" charset="0"/>
                <a:cs typeface="Times New Roman" panose="02020603050405020304" pitchFamily="18" charset="0"/>
              </a:rPr>
              <a:t> B </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E, D</a:t>
            </a:r>
          </a:p>
          <a:p>
            <a:pPr lvl="0"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Left of B: </a:t>
            </a:r>
            <a:r>
              <a:rPr lang="en-US" altLang="en-US" sz="2000" b="1" dirty="0">
                <a:latin typeface="Times New Roman" panose="02020603050405020304" pitchFamily="18" charset="0"/>
                <a:cs typeface="Times New Roman" panose="02020603050405020304" pitchFamily="18" charset="0"/>
              </a:rPr>
              <a:t>C</a:t>
            </a:r>
          </a:p>
          <a:p>
            <a:pPr lvl="0"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Right of B: </a:t>
            </a:r>
            <a:r>
              <a:rPr lang="en-US" altLang="en-US" sz="2000" b="1" dirty="0">
                <a:latin typeface="Times New Roman" panose="02020603050405020304" pitchFamily="18" charset="0"/>
                <a:cs typeface="Times New Roman" panose="02020603050405020304" pitchFamily="18" charset="0"/>
              </a:rPr>
              <a:t>E, D</a:t>
            </a:r>
            <a:endParaRPr kumimoji="0" lang="en-US" altLang="en-US" sz="2000" b="1"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94830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dirty="0"/>
              <a:t>Q01 - Answer</a:t>
            </a:r>
          </a:p>
        </p:txBody>
      </p:sp>
      <p:sp>
        <p:nvSpPr>
          <p:cNvPr id="7" name="Rectangle 6">
            <a:extLst>
              <a:ext uri="{FF2B5EF4-FFF2-40B4-BE49-F238E27FC236}">
                <a16:creationId xmlns:a16="http://schemas.microsoft.com/office/drawing/2014/main" id="{FCE24775-85BF-4C1C-9047-247B2D1723ED}"/>
              </a:ext>
            </a:extLst>
          </p:cNvPr>
          <p:cNvSpPr/>
          <p:nvPr/>
        </p:nvSpPr>
        <p:spPr>
          <a:xfrm>
            <a:off x="1143000" y="1371600"/>
            <a:ext cx="9906000" cy="461665"/>
          </a:xfrm>
          <a:prstGeom prst="rect">
            <a:avLst/>
          </a:prstGeom>
        </p:spPr>
        <p:txBody>
          <a:bodyPr wrap="square">
            <a:spAutoFit/>
          </a:bodyPr>
          <a:lstStyle/>
          <a:p>
            <a:pPr marR="0" lvl="0">
              <a:spcBef>
                <a:spcPts val="0"/>
              </a:spcBef>
              <a:spcAft>
                <a:spcPts val="0"/>
              </a:spcAft>
            </a:pPr>
            <a:r>
              <a:rPr lang="en-US" sz="2400" dirty="0">
                <a:solidFill>
                  <a:schemeClr val="accent1">
                    <a:lumMod val="75000"/>
                  </a:schemeClr>
                </a:solidFill>
                <a:latin typeface="Times New Roman" panose="02020603050405020304" pitchFamily="18" charset="0"/>
                <a:ea typeface="Times New Roman" panose="02020603050405020304" pitchFamily="18" charset="0"/>
              </a:rPr>
              <a:t>Let’s go through the answer step-by-step   </a:t>
            </a:r>
          </a:p>
        </p:txBody>
      </p:sp>
      <p:sp>
        <p:nvSpPr>
          <p:cNvPr id="8" name="Rectangle 2">
            <a:extLst>
              <a:ext uri="{FF2B5EF4-FFF2-40B4-BE49-F238E27FC236}">
                <a16:creationId xmlns:a16="http://schemas.microsoft.com/office/drawing/2014/main" id="{14771BDE-83BF-455D-A7F4-8BD68252821D}"/>
              </a:ext>
            </a:extLst>
          </p:cNvPr>
          <p:cNvSpPr>
            <a:spLocks noChangeArrowheads="1"/>
          </p:cNvSpPr>
          <p:nvPr/>
        </p:nvSpPr>
        <p:spPr bwMode="auto">
          <a:xfrm>
            <a:off x="3352800" y="1928947"/>
            <a:ext cx="7239000" cy="234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000" b="1" u="sng" dirty="0">
                <a:latin typeface="Times New Roman" panose="02020603050405020304" pitchFamily="18" charset="0"/>
                <a:cs typeface="Times New Roman" panose="02020603050405020304" pitchFamily="18" charset="0"/>
              </a:rPr>
              <a:t>Step 3: Left Subtree of B</a:t>
            </a:r>
          </a:p>
          <a:p>
            <a:pPr lvl="0" eaLnBrk="0" fontAlgn="base" hangingPunct="0">
              <a:lnSpc>
                <a:spcPct val="150000"/>
              </a:lnSpc>
              <a:spcBef>
                <a:spcPct val="0"/>
              </a:spcBef>
              <a:spcAft>
                <a:spcPct val="0"/>
              </a:spcAft>
            </a:pPr>
            <a:endParaRPr lang="en-US" altLang="en-US" sz="2000" b="1" dirty="0">
              <a:latin typeface="Times New Roman" panose="02020603050405020304" pitchFamily="18" charset="0"/>
              <a:cs typeface="Times New Roman" panose="02020603050405020304" pitchFamily="18" charset="0"/>
            </a:endParaRP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Next in preorder = C.</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Matches </a:t>
            </a:r>
            <a:r>
              <a:rPr lang="en-US" altLang="en-US" sz="2000" dirty="0" err="1">
                <a:latin typeface="Times New Roman" panose="02020603050405020304" pitchFamily="18" charset="0"/>
                <a:cs typeface="Times New Roman" panose="02020603050405020304" pitchFamily="18" charset="0"/>
              </a:rPr>
              <a:t>inorder</a:t>
            </a:r>
            <a:r>
              <a:rPr lang="en-US" altLang="en-US" sz="2000" dirty="0">
                <a:latin typeface="Times New Roman" panose="02020603050405020304" pitchFamily="18" charset="0"/>
                <a:cs typeface="Times New Roman" panose="02020603050405020304" pitchFamily="18" charset="0"/>
              </a:rPr>
              <a:t> left (C) → so C is left child of B.</a:t>
            </a:r>
            <a:br>
              <a:rPr lang="en-US" altLang="en-US" sz="2000" dirty="0">
                <a:latin typeface="Times New Roman" panose="02020603050405020304" pitchFamily="18" charset="0"/>
                <a:cs typeface="Times New Roman" panose="02020603050405020304" pitchFamily="18" charset="0"/>
              </a:rPr>
            </a:b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43666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dirty="0"/>
              <a:t>Q01 - Answer</a:t>
            </a:r>
          </a:p>
        </p:txBody>
      </p:sp>
      <p:sp>
        <p:nvSpPr>
          <p:cNvPr id="7" name="Rectangle 6">
            <a:extLst>
              <a:ext uri="{FF2B5EF4-FFF2-40B4-BE49-F238E27FC236}">
                <a16:creationId xmlns:a16="http://schemas.microsoft.com/office/drawing/2014/main" id="{FCE24775-85BF-4C1C-9047-247B2D1723ED}"/>
              </a:ext>
            </a:extLst>
          </p:cNvPr>
          <p:cNvSpPr/>
          <p:nvPr/>
        </p:nvSpPr>
        <p:spPr>
          <a:xfrm>
            <a:off x="1143000" y="1371600"/>
            <a:ext cx="9906000" cy="461665"/>
          </a:xfrm>
          <a:prstGeom prst="rect">
            <a:avLst/>
          </a:prstGeom>
        </p:spPr>
        <p:txBody>
          <a:bodyPr wrap="square">
            <a:spAutoFit/>
          </a:bodyPr>
          <a:lstStyle/>
          <a:p>
            <a:pPr marR="0" lvl="0">
              <a:spcBef>
                <a:spcPts val="0"/>
              </a:spcBef>
              <a:spcAft>
                <a:spcPts val="0"/>
              </a:spcAft>
            </a:pPr>
            <a:r>
              <a:rPr lang="en-US" sz="2400" dirty="0">
                <a:solidFill>
                  <a:schemeClr val="accent1">
                    <a:lumMod val="75000"/>
                  </a:schemeClr>
                </a:solidFill>
                <a:latin typeface="Times New Roman" panose="02020603050405020304" pitchFamily="18" charset="0"/>
                <a:ea typeface="Times New Roman" panose="02020603050405020304" pitchFamily="18" charset="0"/>
              </a:rPr>
              <a:t>Let’s go through the answer step-by-step   </a:t>
            </a:r>
          </a:p>
        </p:txBody>
      </p:sp>
      <p:sp>
        <p:nvSpPr>
          <p:cNvPr id="8" name="Rectangle 2">
            <a:extLst>
              <a:ext uri="{FF2B5EF4-FFF2-40B4-BE49-F238E27FC236}">
                <a16:creationId xmlns:a16="http://schemas.microsoft.com/office/drawing/2014/main" id="{14771BDE-83BF-455D-A7F4-8BD68252821D}"/>
              </a:ext>
            </a:extLst>
          </p:cNvPr>
          <p:cNvSpPr>
            <a:spLocks noChangeArrowheads="1"/>
          </p:cNvSpPr>
          <p:nvPr/>
        </p:nvSpPr>
        <p:spPr bwMode="auto">
          <a:xfrm>
            <a:off x="3352800" y="2057400"/>
            <a:ext cx="723900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u="sng" dirty="0">
                <a:latin typeface="Times New Roman" panose="02020603050405020304" pitchFamily="18" charset="0"/>
                <a:cs typeface="Times New Roman" panose="02020603050405020304" pitchFamily="18" charset="0"/>
              </a:rPr>
              <a:t>Step 4: Right Subtree of B</a:t>
            </a:r>
          </a:p>
          <a:p>
            <a:pPr lvl="0" eaLnBrk="0" fontAlgn="base" hangingPunct="0">
              <a:spcBef>
                <a:spcPct val="0"/>
              </a:spcBef>
              <a:spcAft>
                <a:spcPct val="0"/>
              </a:spcAft>
            </a:pPr>
            <a:endParaRPr lang="en-US" altLang="en-US" sz="2000" b="1"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Next in preorder = D → root of right subtree of B.</a:t>
            </a:r>
          </a:p>
          <a:p>
            <a:pPr marL="342900" lvl="0" indent="-342900" eaLnBrk="0" fontAlgn="base" hangingPunct="0">
              <a:spcBef>
                <a:spcPct val="0"/>
              </a:spcBef>
              <a:spcAft>
                <a:spcPct val="0"/>
              </a:spcAft>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In </a:t>
            </a:r>
            <a:r>
              <a:rPr lang="en-US" altLang="en-US" sz="2000" dirty="0" err="1">
                <a:latin typeface="Times New Roman" panose="02020603050405020304" pitchFamily="18" charset="0"/>
                <a:cs typeface="Times New Roman" panose="02020603050405020304" pitchFamily="18" charset="0"/>
              </a:rPr>
              <a:t>inorder</a:t>
            </a:r>
            <a:r>
              <a:rPr lang="en-US" altLang="en-US" sz="2000" dirty="0">
                <a:latin typeface="Times New Roman" panose="02020603050405020304" pitchFamily="18" charset="0"/>
                <a:cs typeface="Times New Roman" panose="02020603050405020304" pitchFamily="18" charset="0"/>
              </a:rPr>
              <a:t> right part of B: E, D → split at D.</a:t>
            </a:r>
          </a:p>
          <a:p>
            <a:pPr lvl="0"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Left of D: E</a:t>
            </a: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Right of D: (empty)</a:t>
            </a:r>
          </a:p>
          <a:p>
            <a:pPr lvl="0"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So:</a:t>
            </a: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E = left child of D.</a:t>
            </a: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D = right child of B.</a:t>
            </a:r>
            <a:br>
              <a:rPr lang="en-US" altLang="en-US" sz="2000" dirty="0">
                <a:latin typeface="Times New Roman" panose="02020603050405020304" pitchFamily="18" charset="0"/>
                <a:cs typeface="Times New Roman" panose="02020603050405020304" pitchFamily="18" charset="0"/>
              </a:rPr>
            </a:b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96393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dirty="0"/>
              <a:t>Q01 - Answer</a:t>
            </a:r>
          </a:p>
        </p:txBody>
      </p:sp>
      <p:sp>
        <p:nvSpPr>
          <p:cNvPr id="7" name="Rectangle 6">
            <a:extLst>
              <a:ext uri="{FF2B5EF4-FFF2-40B4-BE49-F238E27FC236}">
                <a16:creationId xmlns:a16="http://schemas.microsoft.com/office/drawing/2014/main" id="{FCE24775-85BF-4C1C-9047-247B2D1723ED}"/>
              </a:ext>
            </a:extLst>
          </p:cNvPr>
          <p:cNvSpPr/>
          <p:nvPr/>
        </p:nvSpPr>
        <p:spPr>
          <a:xfrm>
            <a:off x="1143000" y="1371600"/>
            <a:ext cx="9906000" cy="461665"/>
          </a:xfrm>
          <a:prstGeom prst="rect">
            <a:avLst/>
          </a:prstGeom>
        </p:spPr>
        <p:txBody>
          <a:bodyPr wrap="square">
            <a:spAutoFit/>
          </a:bodyPr>
          <a:lstStyle/>
          <a:p>
            <a:pPr marR="0" lvl="0">
              <a:spcBef>
                <a:spcPts val="0"/>
              </a:spcBef>
              <a:spcAft>
                <a:spcPts val="0"/>
              </a:spcAft>
            </a:pPr>
            <a:r>
              <a:rPr lang="en-US" sz="2400" dirty="0">
                <a:solidFill>
                  <a:schemeClr val="accent1">
                    <a:lumMod val="75000"/>
                  </a:schemeClr>
                </a:solidFill>
                <a:latin typeface="Times New Roman" panose="02020603050405020304" pitchFamily="18" charset="0"/>
                <a:ea typeface="Times New Roman" panose="02020603050405020304" pitchFamily="18" charset="0"/>
              </a:rPr>
              <a:t>Let’s go through the answer step-by-step   </a:t>
            </a:r>
          </a:p>
        </p:txBody>
      </p:sp>
      <p:sp>
        <p:nvSpPr>
          <p:cNvPr id="8" name="Rectangle 2">
            <a:extLst>
              <a:ext uri="{FF2B5EF4-FFF2-40B4-BE49-F238E27FC236}">
                <a16:creationId xmlns:a16="http://schemas.microsoft.com/office/drawing/2014/main" id="{14771BDE-83BF-455D-A7F4-8BD68252821D}"/>
              </a:ext>
            </a:extLst>
          </p:cNvPr>
          <p:cNvSpPr>
            <a:spLocks noChangeArrowheads="1"/>
          </p:cNvSpPr>
          <p:nvPr/>
        </p:nvSpPr>
        <p:spPr bwMode="auto">
          <a:xfrm>
            <a:off x="3429000" y="2008525"/>
            <a:ext cx="72390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u="sng" dirty="0">
                <a:latin typeface="Times New Roman" panose="02020603050405020304" pitchFamily="18" charset="0"/>
                <a:cs typeface="Times New Roman" panose="02020603050405020304" pitchFamily="18" charset="0"/>
              </a:rPr>
              <a:t>Step 5: Right Subtree of A</a:t>
            </a:r>
          </a:p>
          <a:p>
            <a:pPr lvl="0"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After finishing left subtree (B,C,D,E), next preorder = F.</a:t>
            </a:r>
            <a:br>
              <a:rPr lang="en-US" altLang="en-US" sz="2000" dirty="0">
                <a:latin typeface="Times New Roman" panose="02020603050405020304" pitchFamily="18" charset="0"/>
                <a:cs typeface="Times New Roman" panose="02020603050405020304" pitchFamily="18" charset="0"/>
              </a:rPr>
            </a:b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So F is right child of A.</a:t>
            </a:r>
          </a:p>
          <a:p>
            <a:pPr lvl="0"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In </a:t>
            </a:r>
            <a:r>
              <a:rPr lang="en-US" altLang="en-US" sz="2000" dirty="0" err="1">
                <a:latin typeface="Times New Roman" panose="02020603050405020304" pitchFamily="18" charset="0"/>
                <a:cs typeface="Times New Roman" panose="02020603050405020304" pitchFamily="18" charset="0"/>
              </a:rPr>
              <a:t>inorder</a:t>
            </a:r>
            <a:r>
              <a:rPr lang="en-US" altLang="en-US" sz="2000" dirty="0">
                <a:latin typeface="Times New Roman" panose="02020603050405020304" pitchFamily="18" charset="0"/>
                <a:cs typeface="Times New Roman" panose="02020603050405020304" pitchFamily="18" charset="0"/>
              </a:rPr>
              <a:t> right part (F, G):</a:t>
            </a: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Root = F</a:t>
            </a: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Right = G</a:t>
            </a:r>
          </a:p>
          <a:p>
            <a:pPr lvl="0"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So F has right child G.</a:t>
            </a:r>
          </a:p>
        </p:txBody>
      </p:sp>
    </p:spTree>
    <p:extLst>
      <p:ext uri="{BB962C8B-B14F-4D97-AF65-F5344CB8AC3E}">
        <p14:creationId xmlns:p14="http://schemas.microsoft.com/office/powerpoint/2010/main" val="36924098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dirty="0"/>
              <a:t>Q01 - Answer</a:t>
            </a:r>
          </a:p>
        </p:txBody>
      </p:sp>
      <p:sp>
        <p:nvSpPr>
          <p:cNvPr id="7" name="Rectangle 6">
            <a:extLst>
              <a:ext uri="{FF2B5EF4-FFF2-40B4-BE49-F238E27FC236}">
                <a16:creationId xmlns:a16="http://schemas.microsoft.com/office/drawing/2014/main" id="{FCE24775-85BF-4C1C-9047-247B2D1723ED}"/>
              </a:ext>
            </a:extLst>
          </p:cNvPr>
          <p:cNvSpPr/>
          <p:nvPr/>
        </p:nvSpPr>
        <p:spPr>
          <a:xfrm>
            <a:off x="1143000" y="1371600"/>
            <a:ext cx="9906000" cy="461665"/>
          </a:xfrm>
          <a:prstGeom prst="rect">
            <a:avLst/>
          </a:prstGeom>
        </p:spPr>
        <p:txBody>
          <a:bodyPr wrap="square">
            <a:spAutoFit/>
          </a:bodyPr>
          <a:lstStyle/>
          <a:p>
            <a:pPr marR="0" lvl="0">
              <a:spcBef>
                <a:spcPts val="0"/>
              </a:spcBef>
              <a:spcAft>
                <a:spcPts val="0"/>
              </a:spcAft>
            </a:pPr>
            <a:r>
              <a:rPr lang="en-US" sz="2400" dirty="0">
                <a:solidFill>
                  <a:schemeClr val="accent1">
                    <a:lumMod val="75000"/>
                  </a:schemeClr>
                </a:solidFill>
                <a:latin typeface="Times New Roman" panose="02020603050405020304" pitchFamily="18" charset="0"/>
                <a:ea typeface="Times New Roman" panose="02020603050405020304" pitchFamily="18" charset="0"/>
              </a:rPr>
              <a:t>Let’s go through the answer step-by-step   </a:t>
            </a:r>
          </a:p>
        </p:txBody>
      </p:sp>
      <p:sp>
        <p:nvSpPr>
          <p:cNvPr id="8" name="Rectangle 2">
            <a:extLst>
              <a:ext uri="{FF2B5EF4-FFF2-40B4-BE49-F238E27FC236}">
                <a16:creationId xmlns:a16="http://schemas.microsoft.com/office/drawing/2014/main" id="{14771BDE-83BF-455D-A7F4-8BD68252821D}"/>
              </a:ext>
            </a:extLst>
          </p:cNvPr>
          <p:cNvSpPr>
            <a:spLocks noChangeArrowheads="1"/>
          </p:cNvSpPr>
          <p:nvPr/>
        </p:nvSpPr>
        <p:spPr bwMode="auto">
          <a:xfrm>
            <a:off x="3352800" y="2118955"/>
            <a:ext cx="7239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latin typeface="Times New Roman" panose="02020603050405020304" pitchFamily="18" charset="0"/>
                <a:cs typeface="Times New Roman" panose="02020603050405020304" pitchFamily="18" charset="0"/>
              </a:rPr>
              <a:t>Final Tree</a:t>
            </a:r>
          </a:p>
        </p:txBody>
      </p:sp>
      <p:sp>
        <p:nvSpPr>
          <p:cNvPr id="3" name="Rectangle 2">
            <a:extLst>
              <a:ext uri="{FF2B5EF4-FFF2-40B4-BE49-F238E27FC236}">
                <a16:creationId xmlns:a16="http://schemas.microsoft.com/office/drawing/2014/main" id="{5E772D02-5E58-4391-8B90-4C7569336823}"/>
              </a:ext>
            </a:extLst>
          </p:cNvPr>
          <p:cNvSpPr/>
          <p:nvPr/>
        </p:nvSpPr>
        <p:spPr>
          <a:xfrm>
            <a:off x="3886200" y="2808744"/>
            <a:ext cx="3276600" cy="2677656"/>
          </a:xfrm>
          <a:prstGeom prst="rect">
            <a:avLst/>
          </a:prstGeom>
        </p:spPr>
        <p:txBody>
          <a:bodyPr wrap="square">
            <a:spAutoFit/>
          </a:bodyPr>
          <a:lstStyle/>
          <a:p>
            <a:r>
              <a:rPr lang="en-US" sz="2400" b="1" dirty="0">
                <a:solidFill>
                  <a:schemeClr val="accent1"/>
                </a:solidFill>
                <a:latin typeface="Consolas" panose="020B0609020204030204" pitchFamily="49" charset="0"/>
              </a:rPr>
              <a:t>        </a:t>
            </a:r>
            <a:r>
              <a:rPr lang="en-US" sz="2400" b="1" dirty="0">
                <a:solidFill>
                  <a:srgbClr val="0070C0"/>
                </a:solidFill>
                <a:latin typeface="Consolas" panose="020B0609020204030204" pitchFamily="49" charset="0"/>
              </a:rPr>
              <a:t>A</a:t>
            </a:r>
          </a:p>
          <a:p>
            <a:r>
              <a:rPr lang="en-US" sz="2400" b="1" dirty="0">
                <a:solidFill>
                  <a:schemeClr val="accent1"/>
                </a:solidFill>
                <a:latin typeface="Consolas" panose="020B0609020204030204" pitchFamily="49" charset="0"/>
              </a:rPr>
              <a:t>       </a:t>
            </a:r>
            <a:r>
              <a:rPr lang="en-US" sz="2400" b="1" dirty="0">
                <a:latin typeface="Consolas" panose="020B0609020204030204" pitchFamily="49" charset="0"/>
              </a:rPr>
              <a:t>/ \</a:t>
            </a:r>
          </a:p>
          <a:p>
            <a:r>
              <a:rPr lang="en-US" sz="2400" b="1" dirty="0">
                <a:solidFill>
                  <a:schemeClr val="accent1"/>
                </a:solidFill>
                <a:latin typeface="Consolas" panose="020B0609020204030204" pitchFamily="49" charset="0"/>
              </a:rPr>
              <a:t>      </a:t>
            </a:r>
            <a:r>
              <a:rPr lang="en-US" sz="2400" b="1" dirty="0">
                <a:solidFill>
                  <a:schemeClr val="accent6">
                    <a:lumMod val="75000"/>
                  </a:schemeClr>
                </a:solidFill>
                <a:latin typeface="Consolas" panose="020B0609020204030204" pitchFamily="49" charset="0"/>
              </a:rPr>
              <a:t>B</a:t>
            </a:r>
            <a:r>
              <a:rPr lang="en-US" sz="2400" b="1" dirty="0">
                <a:solidFill>
                  <a:schemeClr val="accent1"/>
                </a:solidFill>
                <a:latin typeface="Consolas" panose="020B0609020204030204" pitchFamily="49" charset="0"/>
              </a:rPr>
              <a:t>   </a:t>
            </a:r>
            <a:r>
              <a:rPr lang="en-US" sz="2400" b="1" dirty="0">
                <a:solidFill>
                  <a:srgbClr val="C00000"/>
                </a:solidFill>
                <a:latin typeface="Consolas" panose="020B0609020204030204" pitchFamily="49" charset="0"/>
              </a:rPr>
              <a:t>F</a:t>
            </a:r>
          </a:p>
          <a:p>
            <a:r>
              <a:rPr lang="en-US" sz="2400" b="1" dirty="0">
                <a:solidFill>
                  <a:schemeClr val="accent1"/>
                </a:solidFill>
                <a:latin typeface="Consolas" panose="020B0609020204030204" pitchFamily="49" charset="0"/>
              </a:rPr>
              <a:t>    </a:t>
            </a:r>
            <a:r>
              <a:rPr lang="en-US" sz="2400" b="1" dirty="0">
                <a:latin typeface="Consolas" panose="020B0609020204030204" pitchFamily="49" charset="0"/>
              </a:rPr>
              <a:t> / \    \</a:t>
            </a:r>
          </a:p>
          <a:p>
            <a:r>
              <a:rPr lang="en-US" sz="2400" b="1" dirty="0">
                <a:solidFill>
                  <a:schemeClr val="accent1"/>
                </a:solidFill>
                <a:latin typeface="Consolas" panose="020B0609020204030204" pitchFamily="49" charset="0"/>
              </a:rPr>
              <a:t>    </a:t>
            </a:r>
            <a:r>
              <a:rPr lang="en-US" sz="2400" b="1" dirty="0">
                <a:solidFill>
                  <a:schemeClr val="accent6">
                    <a:lumMod val="75000"/>
                  </a:schemeClr>
                </a:solidFill>
                <a:latin typeface="Consolas" panose="020B0609020204030204" pitchFamily="49" charset="0"/>
              </a:rPr>
              <a:t>C</a:t>
            </a:r>
            <a:r>
              <a:rPr lang="en-US" sz="2400" b="1" dirty="0">
                <a:solidFill>
                  <a:srgbClr val="C00000"/>
                </a:solidFill>
                <a:latin typeface="Consolas" panose="020B0609020204030204" pitchFamily="49" charset="0"/>
              </a:rPr>
              <a:t> </a:t>
            </a:r>
            <a:r>
              <a:rPr lang="en-US" sz="2400" b="1" dirty="0">
                <a:solidFill>
                  <a:schemeClr val="accent1"/>
                </a:solidFill>
                <a:latin typeface="Consolas" panose="020B0609020204030204" pitchFamily="49" charset="0"/>
              </a:rPr>
              <a:t>  </a:t>
            </a:r>
            <a:r>
              <a:rPr lang="en-US" sz="2400" b="1" dirty="0">
                <a:solidFill>
                  <a:schemeClr val="accent6">
                    <a:lumMod val="75000"/>
                  </a:schemeClr>
                </a:solidFill>
                <a:latin typeface="Consolas" panose="020B0609020204030204" pitchFamily="49" charset="0"/>
              </a:rPr>
              <a:t>D</a:t>
            </a:r>
            <a:r>
              <a:rPr lang="en-US" sz="2400" b="1" dirty="0">
                <a:solidFill>
                  <a:schemeClr val="accent1"/>
                </a:solidFill>
                <a:latin typeface="Consolas" panose="020B0609020204030204" pitchFamily="49" charset="0"/>
              </a:rPr>
              <a:t>    </a:t>
            </a:r>
            <a:r>
              <a:rPr lang="en-US" sz="2400" b="1" dirty="0">
                <a:solidFill>
                  <a:srgbClr val="C00000"/>
                </a:solidFill>
                <a:latin typeface="Consolas" panose="020B0609020204030204" pitchFamily="49" charset="0"/>
              </a:rPr>
              <a:t>G</a:t>
            </a:r>
          </a:p>
          <a:p>
            <a:r>
              <a:rPr lang="en-US" sz="2400" b="1" dirty="0">
                <a:solidFill>
                  <a:schemeClr val="accent1"/>
                </a:solidFill>
                <a:latin typeface="Consolas" panose="020B0609020204030204" pitchFamily="49" charset="0"/>
              </a:rPr>
              <a:t>       </a:t>
            </a:r>
            <a:r>
              <a:rPr lang="en-US" sz="2400" b="1" dirty="0">
                <a:latin typeface="Consolas" panose="020B0609020204030204" pitchFamily="49" charset="0"/>
              </a:rPr>
              <a:t>/</a:t>
            </a:r>
          </a:p>
          <a:p>
            <a:r>
              <a:rPr lang="en-US" sz="2400" b="1" dirty="0">
                <a:solidFill>
                  <a:schemeClr val="accent1"/>
                </a:solidFill>
                <a:latin typeface="Consolas" panose="020B0609020204030204" pitchFamily="49" charset="0"/>
              </a:rPr>
              <a:t>      </a:t>
            </a:r>
            <a:r>
              <a:rPr lang="en-US" sz="2400" b="1" dirty="0">
                <a:solidFill>
                  <a:schemeClr val="accent6">
                    <a:lumMod val="75000"/>
                  </a:schemeClr>
                </a:solidFill>
                <a:latin typeface="Consolas" panose="020B0609020204030204" pitchFamily="49" charset="0"/>
              </a:rPr>
              <a:t>E</a:t>
            </a:r>
            <a:endParaRPr lang="en-US" sz="2400" b="1" dirty="0">
              <a:solidFill>
                <a:schemeClr val="accent6">
                  <a:lumMod val="75000"/>
                </a:schemeClr>
              </a:solidFill>
              <a:effectLst/>
              <a:latin typeface="Consolas" panose="020B0609020204030204" pitchFamily="49" charset="0"/>
            </a:endParaRPr>
          </a:p>
        </p:txBody>
      </p:sp>
    </p:spTree>
    <p:extLst>
      <p:ext uri="{BB962C8B-B14F-4D97-AF65-F5344CB8AC3E}">
        <p14:creationId xmlns:p14="http://schemas.microsoft.com/office/powerpoint/2010/main" val="33998476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dirty="0"/>
              <a:t>Q02</a:t>
            </a:r>
          </a:p>
        </p:txBody>
      </p:sp>
      <p:sp>
        <p:nvSpPr>
          <p:cNvPr id="4" name="Rectangle 3">
            <a:extLst>
              <a:ext uri="{FF2B5EF4-FFF2-40B4-BE49-F238E27FC236}">
                <a16:creationId xmlns:a16="http://schemas.microsoft.com/office/drawing/2014/main" id="{21BD78E2-8F60-4FE9-AB92-C50D665E75DF}"/>
              </a:ext>
            </a:extLst>
          </p:cNvPr>
          <p:cNvSpPr/>
          <p:nvPr/>
        </p:nvSpPr>
        <p:spPr>
          <a:xfrm>
            <a:off x="1295400" y="1566208"/>
            <a:ext cx="9601200" cy="3416320"/>
          </a:xfrm>
          <a:prstGeom prst="rect">
            <a:avLst/>
          </a:prstGeom>
        </p:spPr>
        <p:txBody>
          <a:bodyPr wrap="square">
            <a:spAutoFit/>
          </a:bodyPr>
          <a:lstStyle/>
          <a:p>
            <a:pPr marR="0" lvl="0">
              <a:spcBef>
                <a:spcPts val="0"/>
              </a:spcBef>
              <a:spcAft>
                <a:spcPts val="0"/>
              </a:spcAft>
            </a:pPr>
            <a:r>
              <a:rPr lang="en-US" sz="2400" b="1" dirty="0">
                <a:latin typeface="Times New Roman" panose="02020603050405020304" pitchFamily="18" charset="0"/>
                <a:cs typeface="Times New Roman" panose="02020603050405020304" pitchFamily="18" charset="0"/>
              </a:rPr>
              <a:t>(</a:t>
            </a:r>
            <a:r>
              <a:rPr lang="en-US" sz="2400" b="1" dirty="0" err="1">
                <a:latin typeface="Times New Roman" panose="02020603050405020304" pitchFamily="18" charset="0"/>
                <a:cs typeface="Times New Roman" panose="02020603050405020304" pitchFamily="18" charset="0"/>
              </a:rPr>
              <a:t>levelOrderTraversal</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Write an iterative function </a:t>
            </a:r>
            <a:r>
              <a:rPr lang="en-US" sz="2400" dirty="0" err="1">
                <a:latin typeface="Times New Roman" panose="02020603050405020304" pitchFamily="18" charset="0"/>
                <a:cs typeface="Times New Roman" panose="02020603050405020304" pitchFamily="18" charset="0"/>
              </a:rPr>
              <a:t>levelOrderIterative</a:t>
            </a:r>
            <a:r>
              <a:rPr lang="en-US" sz="2400" dirty="0">
                <a:latin typeface="Times New Roman" panose="02020603050405020304" pitchFamily="18" charset="0"/>
                <a:cs typeface="Times New Roman" panose="02020603050405020304" pitchFamily="18" charset="0"/>
              </a:rPr>
              <a:t>() that prints a level-by-level traversal of the binary search tree using a queue, starting at the root node level. The function uses only enqueue() or dequeue() operations to add or remove nodes from the queue. Ensure the queue is empty at the beginning of the traversal. </a:t>
            </a:r>
          </a:p>
          <a:p>
            <a:pPr marR="0" lvl="0">
              <a:spcBef>
                <a:spcPts val="0"/>
              </a:spcBef>
              <a:spcAft>
                <a:spcPts val="0"/>
              </a:spcAft>
            </a:pPr>
            <a:endParaRPr lang="en-US" sz="2400" dirty="0">
              <a:latin typeface="Times New Roman" panose="02020603050405020304" pitchFamily="18" charset="0"/>
              <a:cs typeface="Times New Roman" panose="02020603050405020304" pitchFamily="18" charset="0"/>
            </a:endParaRPr>
          </a:p>
          <a:p>
            <a:pPr marR="0" lvl="0">
              <a:spcBef>
                <a:spcPts val="0"/>
              </a:spcBef>
              <a:spcAft>
                <a:spcPts val="0"/>
              </a:spcAft>
            </a:pPr>
            <a:r>
              <a:rPr lang="en-US" sz="2400" dirty="0">
                <a:latin typeface="Times New Roman" panose="02020603050405020304" pitchFamily="18" charset="0"/>
                <a:cs typeface="Times New Roman" panose="02020603050405020304" pitchFamily="18" charset="0"/>
              </a:rPr>
              <a:t>The function prototype is given as follows: </a:t>
            </a:r>
          </a:p>
          <a:p>
            <a:pPr marR="0" lvl="0">
              <a:spcBef>
                <a:spcPts val="0"/>
              </a:spcBef>
              <a:spcAft>
                <a:spcPts val="0"/>
              </a:spcAft>
            </a:pPr>
            <a:endParaRPr lang="en-US" sz="2400" dirty="0">
              <a:latin typeface="Times New Roman" panose="02020603050405020304" pitchFamily="18" charset="0"/>
              <a:cs typeface="Times New Roman" panose="02020603050405020304" pitchFamily="18" charset="0"/>
            </a:endParaRPr>
          </a:p>
          <a:p>
            <a:pPr marR="0" lvl="0">
              <a:spcBef>
                <a:spcPts val="0"/>
              </a:spcBef>
              <a:spcAft>
                <a:spcPts val="0"/>
              </a:spcAft>
            </a:pPr>
            <a:r>
              <a:rPr lang="en-US" sz="2000" dirty="0">
                <a:latin typeface="Courier New" panose="02070309020205020404" pitchFamily="49" charset="0"/>
                <a:cs typeface="Courier New" panose="02070309020205020404" pitchFamily="49" charset="0"/>
              </a:rPr>
              <a:t>def </a:t>
            </a:r>
            <a:r>
              <a:rPr lang="en-US" sz="2000" dirty="0" err="1">
                <a:latin typeface="Courier New" panose="02070309020205020404" pitchFamily="49" charset="0"/>
                <a:cs typeface="Courier New" panose="02070309020205020404" pitchFamily="49" charset="0"/>
              </a:rPr>
              <a:t>levelOrderIterative</a:t>
            </a:r>
            <a:r>
              <a:rPr lang="en-US" sz="2000" dirty="0">
                <a:latin typeface="Courier New" panose="02070309020205020404" pitchFamily="49" charset="0"/>
                <a:cs typeface="Courier New" panose="02070309020205020404" pitchFamily="49" charset="0"/>
              </a:rPr>
              <a:t>(root): </a:t>
            </a:r>
            <a:endParaRPr lang="en-US" sz="2000" dirty="0">
              <a:latin typeface="Courier New" panose="02070309020205020404" pitchFamily="49" charset="0"/>
              <a:ea typeface="Times New Roman" panose="02020603050405020304" pitchFamily="18" charset="0"/>
              <a:cs typeface="Courier New" panose="02070309020205020404" pitchFamily="49" charset="0"/>
            </a:endParaRPr>
          </a:p>
        </p:txBody>
      </p:sp>
    </p:spTree>
    <p:extLst>
      <p:ext uri="{BB962C8B-B14F-4D97-AF65-F5344CB8AC3E}">
        <p14:creationId xmlns:p14="http://schemas.microsoft.com/office/powerpoint/2010/main" val="39667063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dirty="0"/>
              <a:t>Q02 - Answer</a:t>
            </a:r>
          </a:p>
        </p:txBody>
      </p:sp>
      <p:sp>
        <p:nvSpPr>
          <p:cNvPr id="7" name="Rectangle 6">
            <a:extLst>
              <a:ext uri="{FF2B5EF4-FFF2-40B4-BE49-F238E27FC236}">
                <a16:creationId xmlns:a16="http://schemas.microsoft.com/office/drawing/2014/main" id="{FCE24775-85BF-4C1C-9047-247B2D1723ED}"/>
              </a:ext>
            </a:extLst>
          </p:cNvPr>
          <p:cNvSpPr/>
          <p:nvPr/>
        </p:nvSpPr>
        <p:spPr>
          <a:xfrm>
            <a:off x="1143000" y="1371600"/>
            <a:ext cx="9906000" cy="461665"/>
          </a:xfrm>
          <a:prstGeom prst="rect">
            <a:avLst/>
          </a:prstGeom>
        </p:spPr>
        <p:txBody>
          <a:bodyPr wrap="square">
            <a:spAutoFit/>
          </a:bodyPr>
          <a:lstStyle/>
          <a:p>
            <a:pPr marR="0" lvl="0">
              <a:spcBef>
                <a:spcPts val="0"/>
              </a:spcBef>
              <a:spcAft>
                <a:spcPts val="0"/>
              </a:spcAft>
            </a:pPr>
            <a:r>
              <a:rPr lang="en-US" sz="2400" dirty="0">
                <a:solidFill>
                  <a:schemeClr val="accent1">
                    <a:lumMod val="75000"/>
                  </a:schemeClr>
                </a:solidFill>
                <a:latin typeface="Times New Roman" panose="02020603050405020304" pitchFamily="18" charset="0"/>
                <a:ea typeface="Times New Roman" panose="02020603050405020304" pitchFamily="18" charset="0"/>
              </a:rPr>
              <a:t>Let’s go through the answer step-by-step   </a:t>
            </a:r>
          </a:p>
        </p:txBody>
      </p:sp>
      <p:sp>
        <p:nvSpPr>
          <p:cNvPr id="11" name="Rectangle 10">
            <a:extLst>
              <a:ext uri="{FF2B5EF4-FFF2-40B4-BE49-F238E27FC236}">
                <a16:creationId xmlns:a16="http://schemas.microsoft.com/office/drawing/2014/main" id="{9A160827-942E-482E-8B34-E253BF44CE36}"/>
              </a:ext>
            </a:extLst>
          </p:cNvPr>
          <p:cNvSpPr/>
          <p:nvPr/>
        </p:nvSpPr>
        <p:spPr>
          <a:xfrm>
            <a:off x="1676400" y="2057400"/>
            <a:ext cx="9906000" cy="461665"/>
          </a:xfrm>
          <a:prstGeom prst="rect">
            <a:avLst/>
          </a:prstGeom>
        </p:spPr>
        <p:txBody>
          <a:bodyPr wrap="square">
            <a:spAutoFit/>
          </a:bodyPr>
          <a:lstStyle/>
          <a:p>
            <a:pPr marR="0" lvl="0">
              <a:spcBef>
                <a:spcPts val="0"/>
              </a:spcBef>
              <a:spcAft>
                <a:spcPts val="0"/>
              </a:spcAft>
            </a:pPr>
            <a:r>
              <a:rPr lang="en-US" sz="2400" b="1" dirty="0">
                <a:latin typeface="Times New Roman" panose="02020603050405020304" pitchFamily="18" charset="0"/>
                <a:ea typeface="Times New Roman" panose="02020603050405020304" pitchFamily="18" charset="0"/>
              </a:rPr>
              <a:t>1. Class Definitions</a:t>
            </a:r>
          </a:p>
        </p:txBody>
      </p:sp>
      <p:sp>
        <p:nvSpPr>
          <p:cNvPr id="4" name="Rectangle 3">
            <a:extLst>
              <a:ext uri="{FF2B5EF4-FFF2-40B4-BE49-F238E27FC236}">
                <a16:creationId xmlns:a16="http://schemas.microsoft.com/office/drawing/2014/main" id="{3B8E54A4-A621-4784-A144-3400E3108B6C}"/>
              </a:ext>
            </a:extLst>
          </p:cNvPr>
          <p:cNvSpPr/>
          <p:nvPr/>
        </p:nvSpPr>
        <p:spPr>
          <a:xfrm>
            <a:off x="2552700" y="2743200"/>
            <a:ext cx="8496300" cy="1169551"/>
          </a:xfrm>
          <a:prstGeom prst="rect">
            <a:avLst/>
          </a:prstGeom>
        </p:spPr>
        <p:txBody>
          <a:bodyPr wrap="square">
            <a:spAutoFit/>
          </a:bodyPr>
          <a:lstStyle/>
          <a:p>
            <a:r>
              <a:rPr lang="en-US" sz="1400" dirty="0">
                <a:solidFill>
                  <a:srgbClr val="0000FF"/>
                </a:solidFill>
                <a:latin typeface="Consolas" panose="020B0609020204030204" pitchFamily="49" charset="0"/>
              </a:rPr>
              <a:t>class</a:t>
            </a:r>
            <a:r>
              <a:rPr lang="en-US" sz="1400" dirty="0">
                <a:solidFill>
                  <a:srgbClr val="000000"/>
                </a:solidFill>
                <a:latin typeface="Consolas" panose="020B0609020204030204" pitchFamily="49" charset="0"/>
              </a:rPr>
              <a:t> </a:t>
            </a:r>
            <a:r>
              <a:rPr lang="en-US" sz="1400" dirty="0" err="1">
                <a:solidFill>
                  <a:srgbClr val="2B91AF"/>
                </a:solidFill>
                <a:latin typeface="Consolas" panose="020B0609020204030204" pitchFamily="49" charset="0"/>
              </a:rPr>
              <a:t>BSTNode</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def</a:t>
            </a: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__init__</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self</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item</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self</a:t>
            </a:r>
            <a:r>
              <a:rPr lang="en-US" sz="1400" dirty="0" err="1">
                <a:solidFill>
                  <a:srgbClr val="000000"/>
                </a:solidFill>
                <a:latin typeface="Consolas" panose="020B0609020204030204" pitchFamily="49" charset="0"/>
              </a:rPr>
              <a:t>.item</a:t>
            </a:r>
            <a:r>
              <a:rPr lang="en-US" sz="1400" dirty="0">
                <a:solidFill>
                  <a:srgbClr val="000000"/>
                </a:solidFill>
                <a:latin typeface="Consolas" panose="020B0609020204030204" pitchFamily="49" charset="0"/>
              </a:rPr>
              <a:t> = </a:t>
            </a:r>
            <a:r>
              <a:rPr lang="en-US" sz="1400" dirty="0">
                <a:solidFill>
                  <a:srgbClr val="808080"/>
                </a:solidFill>
                <a:latin typeface="Consolas" panose="020B0609020204030204" pitchFamily="49" charset="0"/>
              </a:rPr>
              <a:t>item</a:t>
            </a:r>
            <a:r>
              <a:rPr lang="en-US"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self</a:t>
            </a:r>
            <a:r>
              <a:rPr lang="en-US" sz="1400" dirty="0" err="1">
                <a:solidFill>
                  <a:srgbClr val="000000"/>
                </a:solidFill>
                <a:latin typeface="Consolas" panose="020B0609020204030204" pitchFamily="49" charset="0"/>
              </a:rPr>
              <a:t>.left</a:t>
            </a:r>
            <a:r>
              <a:rPr lang="en-US" sz="1400" dirty="0">
                <a:solidFill>
                  <a:srgbClr val="000000"/>
                </a:solidFill>
                <a:latin typeface="Consolas" panose="020B0609020204030204" pitchFamily="49" charset="0"/>
              </a:rPr>
              <a:t> = </a:t>
            </a:r>
            <a:r>
              <a:rPr lang="en-US" sz="1400" dirty="0">
                <a:solidFill>
                  <a:srgbClr val="808080"/>
                </a:solidFill>
                <a:latin typeface="Consolas" panose="020B0609020204030204" pitchFamily="49" charset="0"/>
              </a:rPr>
              <a:t>left</a:t>
            </a:r>
            <a:r>
              <a:rPr lang="en-US"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self</a:t>
            </a:r>
            <a:r>
              <a:rPr lang="en-US" sz="1400" dirty="0" err="1">
                <a:solidFill>
                  <a:srgbClr val="000000"/>
                </a:solidFill>
                <a:latin typeface="Consolas" panose="020B0609020204030204" pitchFamily="49" charset="0"/>
              </a:rPr>
              <a:t>.right</a:t>
            </a:r>
            <a:r>
              <a:rPr lang="en-US" sz="1400" dirty="0">
                <a:solidFill>
                  <a:srgbClr val="000000"/>
                </a:solidFill>
                <a:latin typeface="Consolas" panose="020B0609020204030204" pitchFamily="49" charset="0"/>
              </a:rPr>
              <a:t> = </a:t>
            </a:r>
            <a:r>
              <a:rPr lang="en-US" sz="1400" dirty="0">
                <a:solidFill>
                  <a:srgbClr val="808080"/>
                </a:solidFill>
                <a:latin typeface="Consolas" panose="020B0609020204030204" pitchFamily="49" charset="0"/>
              </a:rPr>
              <a:t>right</a:t>
            </a:r>
            <a:r>
              <a:rPr lang="en-US" sz="1400" dirty="0">
                <a:solidFill>
                  <a:srgbClr val="000000"/>
                </a:solidFill>
                <a:latin typeface="Consolas" panose="020B0609020204030204" pitchFamily="49" charset="0"/>
              </a:rPr>
              <a:t>  </a:t>
            </a:r>
            <a:endParaRPr lang="en-US" sz="1400" b="0" dirty="0">
              <a:solidFill>
                <a:srgbClr val="000000"/>
              </a:solidFill>
              <a:effectLst/>
              <a:latin typeface="Consolas" panose="020B0609020204030204" pitchFamily="49" charset="0"/>
            </a:endParaRPr>
          </a:p>
        </p:txBody>
      </p:sp>
      <p:sp>
        <p:nvSpPr>
          <p:cNvPr id="3" name="Rectangle 2">
            <a:extLst>
              <a:ext uri="{FF2B5EF4-FFF2-40B4-BE49-F238E27FC236}">
                <a16:creationId xmlns:a16="http://schemas.microsoft.com/office/drawing/2014/main" id="{B82BA9FA-D73C-4053-80FD-7453C6451C31}"/>
              </a:ext>
            </a:extLst>
          </p:cNvPr>
          <p:cNvSpPr>
            <a:spLocks noChangeArrowheads="1"/>
          </p:cNvSpPr>
          <p:nvPr/>
        </p:nvSpPr>
        <p:spPr bwMode="auto">
          <a:xfrm>
            <a:off x="1905000" y="4136886"/>
            <a:ext cx="90678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defines a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Binary Tree Node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node has:</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item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value stored in the node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left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pointer/reference to the left child node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right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pointer/reference to the right child node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04859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dirty="0"/>
              <a:t>Q02 - Answer</a:t>
            </a:r>
          </a:p>
        </p:txBody>
      </p:sp>
      <p:sp>
        <p:nvSpPr>
          <p:cNvPr id="7" name="Rectangle 6">
            <a:extLst>
              <a:ext uri="{FF2B5EF4-FFF2-40B4-BE49-F238E27FC236}">
                <a16:creationId xmlns:a16="http://schemas.microsoft.com/office/drawing/2014/main" id="{FCE24775-85BF-4C1C-9047-247B2D1723ED}"/>
              </a:ext>
            </a:extLst>
          </p:cNvPr>
          <p:cNvSpPr/>
          <p:nvPr/>
        </p:nvSpPr>
        <p:spPr>
          <a:xfrm>
            <a:off x="1143000" y="1371600"/>
            <a:ext cx="9906000" cy="461665"/>
          </a:xfrm>
          <a:prstGeom prst="rect">
            <a:avLst/>
          </a:prstGeom>
        </p:spPr>
        <p:txBody>
          <a:bodyPr wrap="square">
            <a:spAutoFit/>
          </a:bodyPr>
          <a:lstStyle/>
          <a:p>
            <a:pPr marR="0" lvl="0">
              <a:spcBef>
                <a:spcPts val="0"/>
              </a:spcBef>
              <a:spcAft>
                <a:spcPts val="0"/>
              </a:spcAft>
            </a:pPr>
            <a:r>
              <a:rPr lang="en-US" sz="2400" dirty="0">
                <a:solidFill>
                  <a:schemeClr val="accent1">
                    <a:lumMod val="75000"/>
                  </a:schemeClr>
                </a:solidFill>
                <a:latin typeface="Times New Roman" panose="02020603050405020304" pitchFamily="18" charset="0"/>
                <a:ea typeface="Times New Roman" panose="02020603050405020304" pitchFamily="18" charset="0"/>
              </a:rPr>
              <a:t>Let’s go through the answer step-by-step   </a:t>
            </a:r>
          </a:p>
        </p:txBody>
      </p:sp>
      <p:sp>
        <p:nvSpPr>
          <p:cNvPr id="11" name="Rectangle 10">
            <a:extLst>
              <a:ext uri="{FF2B5EF4-FFF2-40B4-BE49-F238E27FC236}">
                <a16:creationId xmlns:a16="http://schemas.microsoft.com/office/drawing/2014/main" id="{9A160827-942E-482E-8B34-E253BF44CE36}"/>
              </a:ext>
            </a:extLst>
          </p:cNvPr>
          <p:cNvSpPr/>
          <p:nvPr/>
        </p:nvSpPr>
        <p:spPr>
          <a:xfrm>
            <a:off x="1676400" y="2057400"/>
            <a:ext cx="9906000" cy="461665"/>
          </a:xfrm>
          <a:prstGeom prst="rect">
            <a:avLst/>
          </a:prstGeom>
        </p:spPr>
        <p:txBody>
          <a:bodyPr wrap="square">
            <a:spAutoFit/>
          </a:bodyPr>
          <a:lstStyle/>
          <a:p>
            <a:pPr marR="0" lvl="0">
              <a:spcBef>
                <a:spcPts val="0"/>
              </a:spcBef>
              <a:spcAft>
                <a:spcPts val="0"/>
              </a:spcAft>
            </a:pPr>
            <a:r>
              <a:rPr lang="en-US" sz="2400" b="1" dirty="0">
                <a:latin typeface="Times New Roman" panose="02020603050405020304" pitchFamily="18" charset="0"/>
                <a:ea typeface="Times New Roman" panose="02020603050405020304" pitchFamily="18" charset="0"/>
              </a:rPr>
              <a:t>1. Class Definitions</a:t>
            </a:r>
          </a:p>
        </p:txBody>
      </p:sp>
      <p:sp>
        <p:nvSpPr>
          <p:cNvPr id="3" name="Rectangle 2">
            <a:extLst>
              <a:ext uri="{FF2B5EF4-FFF2-40B4-BE49-F238E27FC236}">
                <a16:creationId xmlns:a16="http://schemas.microsoft.com/office/drawing/2014/main" id="{B82BA9FA-D73C-4053-80FD-7453C6451C31}"/>
              </a:ext>
            </a:extLst>
          </p:cNvPr>
          <p:cNvSpPr>
            <a:spLocks noChangeArrowheads="1"/>
          </p:cNvSpPr>
          <p:nvPr/>
        </p:nvSpPr>
        <p:spPr bwMode="auto">
          <a:xfrm>
            <a:off x="1950720" y="4258272"/>
            <a:ext cx="90678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class </a:t>
            </a:r>
            <a:r>
              <a:rPr lang="en-US" altLang="en-US" b="1" dirty="0" err="1">
                <a:latin typeface="Times New Roman" panose="02020603050405020304" pitchFamily="18" charset="0"/>
                <a:cs typeface="Times New Roman" panose="02020603050405020304" pitchFamily="18" charset="0"/>
              </a:rPr>
              <a:t>QueueNode</a:t>
            </a:r>
            <a:r>
              <a:rPr lang="en-US" altLang="en-US" b="1" dirty="0">
                <a:latin typeface="Times New Roman" panose="02020603050405020304" pitchFamily="18" charset="0"/>
                <a:cs typeface="Times New Roman" panose="02020603050405020304" pitchFamily="18" charset="0"/>
              </a:rPr>
              <a:t>:</a:t>
            </a:r>
            <a:br>
              <a:rPr lang="en-US" altLang="en-US" b="1" dirty="0">
                <a:latin typeface="Times New Roman" panose="02020603050405020304" pitchFamily="18" charset="0"/>
                <a:cs typeface="Times New Roman" panose="02020603050405020304" pitchFamily="18" charset="0"/>
              </a:rPr>
            </a:b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This defines a class called </a:t>
            </a:r>
            <a:r>
              <a:rPr lang="en-US" altLang="en-US" dirty="0" err="1">
                <a:latin typeface="Times New Roman" panose="02020603050405020304" pitchFamily="18" charset="0"/>
                <a:cs typeface="Times New Roman" panose="02020603050405020304" pitchFamily="18" charset="0"/>
              </a:rPr>
              <a:t>QueueNode</a:t>
            </a:r>
            <a:r>
              <a:rPr lang="en-US" altLang="en-US" dirty="0">
                <a:latin typeface="Times New Roman" panose="02020603050405020304" pitchFamily="18" charset="0"/>
                <a:cs typeface="Times New Roman" panose="02020603050405020304" pitchFamily="18" charset="0"/>
              </a:rPr>
              <a:t>.</a:t>
            </a:r>
            <a:br>
              <a:rPr lang="en-US" altLang="en-US" dirty="0">
                <a:latin typeface="Times New Roman" panose="02020603050405020304" pitchFamily="18" charset="0"/>
                <a:cs typeface="Times New Roman" panose="02020603050405020304" pitchFamily="18" charset="0"/>
              </a:rPr>
            </a:br>
            <a:endParaRPr lang="en-US" altLang="en-US"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Each </a:t>
            </a:r>
            <a:r>
              <a:rPr lang="en-US" altLang="en-US" dirty="0" err="1">
                <a:latin typeface="Times New Roman" panose="02020603050405020304" pitchFamily="18" charset="0"/>
                <a:cs typeface="Times New Roman" panose="02020603050405020304" pitchFamily="18" charset="0"/>
              </a:rPr>
              <a:t>QueueNode</a:t>
            </a:r>
            <a:r>
              <a:rPr lang="en-US" altLang="en-US" dirty="0">
                <a:latin typeface="Times New Roman" panose="02020603050405020304" pitchFamily="18" charset="0"/>
                <a:cs typeface="Times New Roman" panose="02020603050405020304" pitchFamily="18" charset="0"/>
              </a:rPr>
              <a:t> represents one node in a queue implemented as a linked list.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7B5C23B2-1C52-4461-BC2C-D4CC97A247E9}"/>
              </a:ext>
            </a:extLst>
          </p:cNvPr>
          <p:cNvSpPr/>
          <p:nvPr/>
        </p:nvSpPr>
        <p:spPr>
          <a:xfrm>
            <a:off x="2667000" y="2720816"/>
            <a:ext cx="6096000" cy="1200329"/>
          </a:xfrm>
          <a:prstGeom prst="rect">
            <a:avLst/>
          </a:prstGeom>
        </p:spPr>
        <p:txBody>
          <a:bodyPr>
            <a:spAutoFit/>
          </a:bodyPr>
          <a:lstStyle/>
          <a:p>
            <a:r>
              <a:rPr lang="en-US" dirty="0">
                <a:solidFill>
                  <a:srgbClr val="0000FF"/>
                </a:solidFill>
                <a:latin typeface="Consolas" panose="020B0609020204030204" pitchFamily="49" charset="0"/>
              </a:rPr>
              <a:t>class</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QueueNode</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def</a:t>
            </a:r>
            <a:r>
              <a:rPr lang="en-US" dirty="0">
                <a:solidFill>
                  <a:srgbClr val="000000"/>
                </a:solidFill>
                <a:latin typeface="Consolas" panose="020B0609020204030204" pitchFamily="49" charset="0"/>
              </a:rPr>
              <a:t> </a:t>
            </a:r>
            <a:r>
              <a:rPr lang="en-US" dirty="0">
                <a:solidFill>
                  <a:srgbClr val="74531F"/>
                </a:solidFill>
                <a:latin typeface="Consolas" panose="020B0609020204030204" pitchFamily="49" charset="0"/>
              </a:rPr>
              <a:t>__init__</a:t>
            </a:r>
            <a:r>
              <a:rPr lang="en-US" dirty="0">
                <a:solidFill>
                  <a:srgbClr val="000000"/>
                </a:solidFill>
                <a:latin typeface="Consolas" panose="020B0609020204030204" pitchFamily="49" charset="0"/>
              </a:rPr>
              <a:t>(</a:t>
            </a:r>
            <a:r>
              <a:rPr lang="en-US" dirty="0">
                <a:solidFill>
                  <a:srgbClr val="808080"/>
                </a:solidFill>
                <a:latin typeface="Consolas" panose="020B0609020204030204" pitchFamily="49" charset="0"/>
              </a:rPr>
              <a:t>self</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data</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err="1">
                <a:solidFill>
                  <a:srgbClr val="808080"/>
                </a:solidFill>
                <a:latin typeface="Consolas" panose="020B0609020204030204" pitchFamily="49" charset="0"/>
              </a:rPr>
              <a:t>self</a:t>
            </a:r>
            <a:r>
              <a:rPr lang="en-US" dirty="0" err="1">
                <a:solidFill>
                  <a:srgbClr val="000000"/>
                </a:solidFill>
                <a:latin typeface="Consolas" panose="020B0609020204030204" pitchFamily="49" charset="0"/>
              </a:rPr>
              <a:t>.data</a:t>
            </a:r>
            <a:r>
              <a:rPr lang="en-US" dirty="0">
                <a:solidFill>
                  <a:srgbClr val="000000"/>
                </a:solidFill>
                <a:latin typeface="Consolas" panose="020B0609020204030204" pitchFamily="49" charset="0"/>
              </a:rPr>
              <a:t> = </a:t>
            </a:r>
            <a:r>
              <a:rPr lang="en-US" dirty="0">
                <a:solidFill>
                  <a:srgbClr val="808080"/>
                </a:solidFill>
                <a:latin typeface="Consolas" panose="020B0609020204030204" pitchFamily="49" charset="0"/>
              </a:rPr>
              <a:t>data</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r>
              <a:rPr lang="en-US" dirty="0" err="1">
                <a:solidFill>
                  <a:srgbClr val="808080"/>
                </a:solidFill>
                <a:latin typeface="Consolas" panose="020B0609020204030204" pitchFamily="49" charset="0"/>
              </a:rPr>
              <a:t>self</a:t>
            </a:r>
            <a:r>
              <a:rPr lang="en-US" dirty="0" err="1">
                <a:solidFill>
                  <a:srgbClr val="000000"/>
                </a:solidFill>
                <a:latin typeface="Consolas" panose="020B0609020204030204" pitchFamily="49" charset="0"/>
              </a:rPr>
              <a:t>.nextPtr</a:t>
            </a:r>
            <a:r>
              <a:rPr lang="en-US" dirty="0">
                <a:solidFill>
                  <a:srgbClr val="000000"/>
                </a:solidFill>
                <a:latin typeface="Consolas" panose="020B0609020204030204" pitchFamily="49" charset="0"/>
              </a:rPr>
              <a:t> = </a:t>
            </a:r>
            <a:r>
              <a:rPr lang="en-US" dirty="0">
                <a:solidFill>
                  <a:srgbClr val="0000FF"/>
                </a:solidFill>
                <a:latin typeface="Consolas" panose="020B0609020204030204" pitchFamily="49" charset="0"/>
              </a:rPr>
              <a:t>None</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2577408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dirty="0"/>
              <a:t>Q02 - Answer</a:t>
            </a:r>
          </a:p>
        </p:txBody>
      </p:sp>
      <p:sp>
        <p:nvSpPr>
          <p:cNvPr id="7" name="Rectangle 6">
            <a:extLst>
              <a:ext uri="{FF2B5EF4-FFF2-40B4-BE49-F238E27FC236}">
                <a16:creationId xmlns:a16="http://schemas.microsoft.com/office/drawing/2014/main" id="{FCE24775-85BF-4C1C-9047-247B2D1723ED}"/>
              </a:ext>
            </a:extLst>
          </p:cNvPr>
          <p:cNvSpPr/>
          <p:nvPr/>
        </p:nvSpPr>
        <p:spPr>
          <a:xfrm>
            <a:off x="1143000" y="1371600"/>
            <a:ext cx="9906000" cy="461665"/>
          </a:xfrm>
          <a:prstGeom prst="rect">
            <a:avLst/>
          </a:prstGeom>
        </p:spPr>
        <p:txBody>
          <a:bodyPr wrap="square">
            <a:spAutoFit/>
          </a:bodyPr>
          <a:lstStyle/>
          <a:p>
            <a:pPr marR="0" lvl="0">
              <a:spcBef>
                <a:spcPts val="0"/>
              </a:spcBef>
              <a:spcAft>
                <a:spcPts val="0"/>
              </a:spcAft>
            </a:pPr>
            <a:r>
              <a:rPr lang="en-US" sz="2400" dirty="0">
                <a:solidFill>
                  <a:schemeClr val="accent1">
                    <a:lumMod val="75000"/>
                  </a:schemeClr>
                </a:solidFill>
                <a:latin typeface="Times New Roman" panose="02020603050405020304" pitchFamily="18" charset="0"/>
                <a:ea typeface="Times New Roman" panose="02020603050405020304" pitchFamily="18" charset="0"/>
              </a:rPr>
              <a:t>Let’s go through the answer step-by-step   </a:t>
            </a:r>
          </a:p>
        </p:txBody>
      </p:sp>
      <p:sp>
        <p:nvSpPr>
          <p:cNvPr id="11" name="Rectangle 10">
            <a:extLst>
              <a:ext uri="{FF2B5EF4-FFF2-40B4-BE49-F238E27FC236}">
                <a16:creationId xmlns:a16="http://schemas.microsoft.com/office/drawing/2014/main" id="{9A160827-942E-482E-8B34-E253BF44CE36}"/>
              </a:ext>
            </a:extLst>
          </p:cNvPr>
          <p:cNvSpPr/>
          <p:nvPr/>
        </p:nvSpPr>
        <p:spPr>
          <a:xfrm>
            <a:off x="1676400" y="2057400"/>
            <a:ext cx="9906000" cy="461665"/>
          </a:xfrm>
          <a:prstGeom prst="rect">
            <a:avLst/>
          </a:prstGeom>
        </p:spPr>
        <p:txBody>
          <a:bodyPr wrap="square">
            <a:spAutoFit/>
          </a:bodyPr>
          <a:lstStyle/>
          <a:p>
            <a:pPr marR="0" lvl="0">
              <a:spcBef>
                <a:spcPts val="0"/>
              </a:spcBef>
              <a:spcAft>
                <a:spcPts val="0"/>
              </a:spcAft>
            </a:pPr>
            <a:r>
              <a:rPr lang="en-US" sz="2400" b="1" dirty="0">
                <a:latin typeface="Times New Roman" panose="02020603050405020304" pitchFamily="18" charset="0"/>
                <a:ea typeface="Times New Roman" panose="02020603050405020304" pitchFamily="18" charset="0"/>
              </a:rPr>
              <a:t>1. Class Definitions</a:t>
            </a:r>
          </a:p>
        </p:txBody>
      </p:sp>
      <p:sp>
        <p:nvSpPr>
          <p:cNvPr id="3" name="Rectangle 2">
            <a:extLst>
              <a:ext uri="{FF2B5EF4-FFF2-40B4-BE49-F238E27FC236}">
                <a16:creationId xmlns:a16="http://schemas.microsoft.com/office/drawing/2014/main" id="{B82BA9FA-D73C-4053-80FD-7453C6451C31}"/>
              </a:ext>
            </a:extLst>
          </p:cNvPr>
          <p:cNvSpPr>
            <a:spLocks noChangeArrowheads="1"/>
          </p:cNvSpPr>
          <p:nvPr/>
        </p:nvSpPr>
        <p:spPr bwMode="auto">
          <a:xfrm>
            <a:off x="1981200" y="3890665"/>
            <a:ext cx="90678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class Queue:</a:t>
            </a:r>
            <a:br>
              <a:rPr lang="en-US" altLang="en-US" b="1" dirty="0">
                <a:latin typeface="Times New Roman" panose="02020603050405020304" pitchFamily="18" charset="0"/>
                <a:cs typeface="Times New Roman" panose="02020603050405020304" pitchFamily="18" charset="0"/>
              </a:rPr>
            </a:b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This defines a Queue data structure.</a:t>
            </a:r>
          </a:p>
          <a:p>
            <a:pPr lv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The queue will be implemented using a linked list of </a:t>
            </a:r>
            <a:r>
              <a:rPr lang="en-US" altLang="en-US" dirty="0" err="1">
                <a:latin typeface="Times New Roman" panose="02020603050405020304" pitchFamily="18" charset="0"/>
                <a:cs typeface="Times New Roman" panose="02020603050405020304" pitchFamily="18" charset="0"/>
              </a:rPr>
              <a:t>QueueNode</a:t>
            </a:r>
            <a:r>
              <a:rPr lang="en-US" altLang="en-US" dirty="0">
                <a:latin typeface="Times New Roman" panose="02020603050405020304" pitchFamily="18" charset="0"/>
                <a:cs typeface="Times New Roman" panose="02020603050405020304" pitchFamily="18" charset="0"/>
              </a:rPr>
              <a:t> objects.</a:t>
            </a:r>
          </a:p>
          <a:p>
            <a:pPr lvl="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It follows the FIFO (First In, First Out) rule:</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Elements are inserted at the tail (enqueue).</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Elements are removed from the head (dequeue).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36EAB683-0519-4631-B7B0-719FCEE3BF35}"/>
              </a:ext>
            </a:extLst>
          </p:cNvPr>
          <p:cNvSpPr/>
          <p:nvPr/>
        </p:nvSpPr>
        <p:spPr>
          <a:xfrm>
            <a:off x="3048000" y="2743200"/>
            <a:ext cx="6096000" cy="1200329"/>
          </a:xfrm>
          <a:prstGeom prst="rect">
            <a:avLst/>
          </a:prstGeom>
        </p:spPr>
        <p:txBody>
          <a:bodyPr>
            <a:spAutoFit/>
          </a:bodyPr>
          <a:lstStyle/>
          <a:p>
            <a:r>
              <a:rPr lang="en-US" dirty="0">
                <a:solidFill>
                  <a:srgbClr val="0000FF"/>
                </a:solidFill>
                <a:latin typeface="Consolas" panose="020B0609020204030204" pitchFamily="49" charset="0"/>
              </a:rPr>
              <a:t>class</a:t>
            </a:r>
            <a:r>
              <a:rPr lang="en-US" dirty="0">
                <a:solidFill>
                  <a:srgbClr val="000000"/>
                </a:solidFill>
                <a:latin typeface="Consolas" panose="020B0609020204030204" pitchFamily="49" charset="0"/>
              </a:rPr>
              <a:t> </a:t>
            </a:r>
            <a:r>
              <a:rPr lang="en-US" dirty="0">
                <a:solidFill>
                  <a:srgbClr val="2B91AF"/>
                </a:solidFill>
                <a:latin typeface="Consolas" panose="020B0609020204030204" pitchFamily="49" charset="0"/>
              </a:rPr>
              <a:t>Queue</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def</a:t>
            </a:r>
            <a:r>
              <a:rPr lang="en-US" dirty="0">
                <a:solidFill>
                  <a:srgbClr val="000000"/>
                </a:solidFill>
                <a:latin typeface="Consolas" panose="020B0609020204030204" pitchFamily="49" charset="0"/>
              </a:rPr>
              <a:t> </a:t>
            </a:r>
            <a:r>
              <a:rPr lang="en-US" dirty="0">
                <a:solidFill>
                  <a:srgbClr val="74531F"/>
                </a:solidFill>
                <a:latin typeface="Consolas" panose="020B0609020204030204" pitchFamily="49" charset="0"/>
              </a:rPr>
              <a:t>__init__</a:t>
            </a:r>
            <a:r>
              <a:rPr lang="en-US" dirty="0">
                <a:solidFill>
                  <a:srgbClr val="000000"/>
                </a:solidFill>
                <a:latin typeface="Consolas" panose="020B0609020204030204" pitchFamily="49" charset="0"/>
              </a:rPr>
              <a:t>(</a:t>
            </a:r>
            <a:r>
              <a:rPr lang="en-US" dirty="0">
                <a:solidFill>
                  <a:srgbClr val="808080"/>
                </a:solidFill>
                <a:latin typeface="Consolas" panose="020B0609020204030204" pitchFamily="49" charset="0"/>
              </a:rPr>
              <a:t>self</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err="1">
                <a:solidFill>
                  <a:srgbClr val="808080"/>
                </a:solidFill>
                <a:latin typeface="Consolas" panose="020B0609020204030204" pitchFamily="49" charset="0"/>
              </a:rPr>
              <a:t>self</a:t>
            </a:r>
            <a:r>
              <a:rPr lang="en-US" dirty="0" err="1">
                <a:solidFill>
                  <a:srgbClr val="000000"/>
                </a:solidFill>
                <a:latin typeface="Consolas" panose="020B0609020204030204" pitchFamily="49" charset="0"/>
              </a:rPr>
              <a:t>.head</a:t>
            </a:r>
            <a:r>
              <a:rPr lang="en-US" dirty="0">
                <a:solidFill>
                  <a:srgbClr val="000000"/>
                </a:solidFill>
                <a:latin typeface="Consolas" panose="020B0609020204030204" pitchFamily="49" charset="0"/>
              </a:rPr>
              <a:t> = </a:t>
            </a:r>
            <a:r>
              <a:rPr lang="en-US" dirty="0">
                <a:solidFill>
                  <a:srgbClr val="0000FF"/>
                </a:solidFill>
                <a:latin typeface="Consolas" panose="020B0609020204030204" pitchFamily="49" charset="0"/>
              </a:rPr>
              <a:t>None</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r>
              <a:rPr lang="en-US" dirty="0" err="1">
                <a:solidFill>
                  <a:srgbClr val="808080"/>
                </a:solidFill>
                <a:latin typeface="Consolas" panose="020B0609020204030204" pitchFamily="49" charset="0"/>
              </a:rPr>
              <a:t>self</a:t>
            </a:r>
            <a:r>
              <a:rPr lang="en-US" dirty="0" err="1">
                <a:solidFill>
                  <a:srgbClr val="000000"/>
                </a:solidFill>
                <a:latin typeface="Consolas" panose="020B0609020204030204" pitchFamily="49" charset="0"/>
              </a:rPr>
              <a:t>.tail</a:t>
            </a:r>
            <a:r>
              <a:rPr lang="en-US" dirty="0">
                <a:solidFill>
                  <a:srgbClr val="000000"/>
                </a:solidFill>
                <a:latin typeface="Consolas" panose="020B0609020204030204" pitchFamily="49" charset="0"/>
              </a:rPr>
              <a:t> = </a:t>
            </a:r>
            <a:r>
              <a:rPr lang="en-US" dirty="0">
                <a:solidFill>
                  <a:srgbClr val="0000FF"/>
                </a:solidFill>
                <a:latin typeface="Consolas" panose="020B0609020204030204" pitchFamily="49" charset="0"/>
              </a:rPr>
              <a:t>None</a:t>
            </a:r>
            <a:endParaRPr lang="en-US"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469564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2F4C5B-AD8B-441A-8412-B397C2ABE834}"/>
              </a:ext>
            </a:extLst>
          </p:cNvPr>
          <p:cNvSpPr/>
          <p:nvPr/>
        </p:nvSpPr>
        <p:spPr>
          <a:xfrm>
            <a:off x="5486400" y="1255009"/>
            <a:ext cx="6096000" cy="4582024"/>
          </a:xfrm>
          <a:prstGeom prst="rect">
            <a:avLst/>
          </a:prstGeom>
        </p:spPr>
        <p:txBody>
          <a:bodyPr>
            <a:spAutoFit/>
          </a:bodyPr>
          <a:lstStyle/>
          <a:p>
            <a:pPr>
              <a:lnSpc>
                <a:spcPct val="150000"/>
              </a:lnSpc>
            </a:pPr>
            <a:r>
              <a:rPr lang="en-US" sz="1400" dirty="0">
                <a:solidFill>
                  <a:srgbClr val="0000FF"/>
                </a:solidFill>
                <a:latin typeface="Consolas" panose="020B0609020204030204" pitchFamily="49" charset="0"/>
              </a:rPr>
              <a:t>def</a:t>
            </a: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insert_bst_node</a:t>
            </a:r>
            <a:r>
              <a:rPr lang="en-US" sz="1400" dirty="0">
                <a:solidFill>
                  <a:srgbClr val="000000"/>
                </a:solidFill>
                <a:latin typeface="Consolas" panose="020B0609020204030204" pitchFamily="49" charset="0"/>
              </a:rPr>
              <a:t>(</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is</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None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 = </a:t>
            </a:r>
            <a:r>
              <a:rPr lang="en-US" sz="1400" dirty="0" err="1">
                <a:solidFill>
                  <a:srgbClr val="2B91AF"/>
                </a:solidFill>
                <a:latin typeface="Consolas" panose="020B0609020204030204" pitchFamily="49" charset="0"/>
              </a:rPr>
              <a:t>BSTNode</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else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 &lt;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].item:</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].left </a:t>
            </a:r>
            <a:r>
              <a:rPr lang="en-US" sz="1400" dirty="0">
                <a:solidFill>
                  <a:srgbClr val="0000FF"/>
                </a:solidFill>
                <a:latin typeface="Consolas" panose="020B0609020204030204" pitchFamily="49" charset="0"/>
              </a:rPr>
              <a:t>is</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None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].left = </a:t>
            </a:r>
            <a:r>
              <a:rPr lang="en-US" sz="1400" dirty="0" err="1">
                <a:solidFill>
                  <a:srgbClr val="2B91AF"/>
                </a:solidFill>
                <a:latin typeface="Consolas" panose="020B0609020204030204" pitchFamily="49" charset="0"/>
              </a:rPr>
              <a:t>BSTNode</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else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insert_bst_node</a:t>
            </a:r>
            <a:r>
              <a:rPr lang="en-US" sz="1400" dirty="0">
                <a:solidFill>
                  <a:srgbClr val="000000"/>
                </a:solidFill>
                <a:latin typeface="Consolas" panose="020B0609020204030204" pitchFamily="49" charset="0"/>
              </a:rPr>
              <a:t>([</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].left],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F08C4"/>
                </a:solidFill>
                <a:latin typeface="Consolas" panose="020B0609020204030204" pitchFamily="49" charset="0"/>
              </a:rPr>
              <a:t>elif</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 &gt;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].item:</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].right </a:t>
            </a:r>
            <a:r>
              <a:rPr lang="en-US" sz="1400" dirty="0">
                <a:solidFill>
                  <a:srgbClr val="0000FF"/>
                </a:solidFill>
                <a:latin typeface="Consolas" panose="020B0609020204030204" pitchFamily="49" charset="0"/>
              </a:rPr>
              <a:t>is</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None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].right = </a:t>
            </a:r>
            <a:r>
              <a:rPr lang="en-US" sz="1400" dirty="0" err="1">
                <a:solidFill>
                  <a:srgbClr val="2B91AF"/>
                </a:solidFill>
                <a:latin typeface="Consolas" panose="020B0609020204030204" pitchFamily="49" charset="0"/>
              </a:rPr>
              <a:t>BSTNode</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else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insert_bst_node</a:t>
            </a:r>
            <a:r>
              <a:rPr lang="en-US" sz="1400" dirty="0">
                <a:solidFill>
                  <a:srgbClr val="000000"/>
                </a:solidFill>
                <a:latin typeface="Consolas" panose="020B0609020204030204" pitchFamily="49" charset="0"/>
              </a:rPr>
              <a:t>([</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].right],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endParaRPr lang="en-US" sz="14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insert_bst_node(</a:t>
            </a:r>
            <a:r>
              <a:rPr lang="en-US" sz="2000" b="1" u="sng" dirty="0" err="1">
                <a:solidFill>
                  <a:srgbClr val="005684"/>
                </a:solidFill>
                <a:latin typeface="Times New Roman" panose="02020603050405020304" pitchFamily="18" charset="0"/>
                <a:ea typeface="Times New Roman" panose="02020603050405020304" pitchFamily="18" charset="0"/>
              </a:rPr>
              <a:t>node_ref</a:t>
            </a:r>
            <a:r>
              <a:rPr lang="en-US" sz="2000" b="1" u="sng" dirty="0">
                <a:solidFill>
                  <a:srgbClr val="005684"/>
                </a:solidFill>
                <a:latin typeface="Times New Roman" panose="02020603050405020304" pitchFamily="18" charset="0"/>
                <a:ea typeface="Times New Roman" panose="02020603050405020304" pitchFamily="18" charset="0"/>
              </a:rPr>
              <a:t>, value)</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961570" y="2051381"/>
            <a:ext cx="3618787" cy="3785652"/>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This function inserts a new value into a Binary Search Tree (BST).</a:t>
            </a:r>
          </a:p>
          <a:p>
            <a:pPr lvl="0" eaLnBrk="0" fontAlgn="base" hangingPunct="0">
              <a:spcBef>
                <a:spcPct val="0"/>
              </a:spcBef>
              <a:spcAft>
                <a:spcPct val="0"/>
              </a:spcAft>
            </a:pPr>
            <a:endParaRPr lang="en-US" altLang="en-US" sz="2000" b="1"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err="1">
                <a:solidFill>
                  <a:schemeClr val="tx1"/>
                </a:solidFill>
                <a:latin typeface="Times New Roman" panose="02020603050405020304" pitchFamily="18" charset="0"/>
                <a:cs typeface="Times New Roman" panose="02020603050405020304" pitchFamily="18" charset="0"/>
              </a:rPr>
              <a:t>node_ref</a:t>
            </a:r>
            <a:r>
              <a:rPr lang="en-US" altLang="en-US" sz="2000" dirty="0">
                <a:solidFill>
                  <a:schemeClr val="tx1"/>
                </a:solidFill>
                <a:latin typeface="Times New Roman" panose="02020603050405020304" pitchFamily="18" charset="0"/>
                <a:cs typeface="Times New Roman" panose="02020603050405020304" pitchFamily="18" charset="0"/>
              </a:rPr>
              <a:t> is a list containing a node ([node]) instead of just a node.</a:t>
            </a:r>
          </a:p>
          <a:p>
            <a:pPr lvl="0" eaLnBrk="0" fontAlgn="base" hangingPunct="0">
              <a:spcBef>
                <a:spcPct val="0"/>
              </a:spcBef>
              <a:spcAft>
                <a:spcPct val="0"/>
              </a:spcAft>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This trick is used because lists are mutable in Python, so we can change the reference (like "pass by reference").</a:t>
            </a: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rot="19904457">
            <a:off x="4701987" y="1914530"/>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5455920" y="1290804"/>
            <a:ext cx="3886199" cy="31397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86245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2F4C5B-AD8B-441A-8412-B397C2ABE834}"/>
              </a:ext>
            </a:extLst>
          </p:cNvPr>
          <p:cNvSpPr/>
          <p:nvPr/>
        </p:nvSpPr>
        <p:spPr>
          <a:xfrm>
            <a:off x="5486400" y="1255009"/>
            <a:ext cx="6096000" cy="4582024"/>
          </a:xfrm>
          <a:prstGeom prst="rect">
            <a:avLst/>
          </a:prstGeom>
        </p:spPr>
        <p:txBody>
          <a:bodyPr>
            <a:spAutoFit/>
          </a:bodyPr>
          <a:lstStyle/>
          <a:p>
            <a:pPr>
              <a:lnSpc>
                <a:spcPct val="150000"/>
              </a:lnSpc>
            </a:pPr>
            <a:r>
              <a:rPr lang="en-US" sz="1400" dirty="0">
                <a:solidFill>
                  <a:srgbClr val="0000FF"/>
                </a:solidFill>
                <a:latin typeface="Consolas" panose="020B0609020204030204" pitchFamily="49" charset="0"/>
              </a:rPr>
              <a:t>def</a:t>
            </a: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insert_bst_node</a:t>
            </a:r>
            <a:r>
              <a:rPr lang="en-US" sz="1400" dirty="0">
                <a:solidFill>
                  <a:srgbClr val="000000"/>
                </a:solidFill>
                <a:latin typeface="Consolas" panose="020B0609020204030204" pitchFamily="49" charset="0"/>
              </a:rPr>
              <a:t>(</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is</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None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 = </a:t>
            </a:r>
            <a:r>
              <a:rPr lang="en-US" sz="1400" dirty="0" err="1">
                <a:solidFill>
                  <a:srgbClr val="2B91AF"/>
                </a:solidFill>
                <a:latin typeface="Consolas" panose="020B0609020204030204" pitchFamily="49" charset="0"/>
              </a:rPr>
              <a:t>BSTNode</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else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 &lt;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].item:</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].left </a:t>
            </a:r>
            <a:r>
              <a:rPr lang="en-US" sz="1400" dirty="0">
                <a:solidFill>
                  <a:srgbClr val="0000FF"/>
                </a:solidFill>
                <a:latin typeface="Consolas" panose="020B0609020204030204" pitchFamily="49" charset="0"/>
              </a:rPr>
              <a:t>is</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None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].left = </a:t>
            </a:r>
            <a:r>
              <a:rPr lang="en-US" sz="1400" dirty="0" err="1">
                <a:solidFill>
                  <a:srgbClr val="2B91AF"/>
                </a:solidFill>
                <a:latin typeface="Consolas" panose="020B0609020204030204" pitchFamily="49" charset="0"/>
              </a:rPr>
              <a:t>BSTNode</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else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insert_bst_node</a:t>
            </a:r>
            <a:r>
              <a:rPr lang="en-US" sz="1400" dirty="0">
                <a:solidFill>
                  <a:srgbClr val="000000"/>
                </a:solidFill>
                <a:latin typeface="Consolas" panose="020B0609020204030204" pitchFamily="49" charset="0"/>
              </a:rPr>
              <a:t>([</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].left],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F08C4"/>
                </a:solidFill>
                <a:latin typeface="Consolas" panose="020B0609020204030204" pitchFamily="49" charset="0"/>
              </a:rPr>
              <a:t>elif</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 &gt;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].item:</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].right </a:t>
            </a:r>
            <a:r>
              <a:rPr lang="en-US" sz="1400" dirty="0">
                <a:solidFill>
                  <a:srgbClr val="0000FF"/>
                </a:solidFill>
                <a:latin typeface="Consolas" panose="020B0609020204030204" pitchFamily="49" charset="0"/>
              </a:rPr>
              <a:t>is</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None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].right = </a:t>
            </a:r>
            <a:r>
              <a:rPr lang="en-US" sz="1400" dirty="0" err="1">
                <a:solidFill>
                  <a:srgbClr val="2B91AF"/>
                </a:solidFill>
                <a:latin typeface="Consolas" panose="020B0609020204030204" pitchFamily="49" charset="0"/>
              </a:rPr>
              <a:t>BSTNode</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else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insert_bst_node</a:t>
            </a:r>
            <a:r>
              <a:rPr lang="en-US" sz="1400" dirty="0">
                <a:solidFill>
                  <a:srgbClr val="000000"/>
                </a:solidFill>
                <a:latin typeface="Consolas" panose="020B0609020204030204" pitchFamily="49" charset="0"/>
              </a:rPr>
              <a:t>([</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].right],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endParaRPr lang="en-US" sz="14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insert_bst_node(</a:t>
            </a:r>
            <a:r>
              <a:rPr lang="en-US" sz="2000" b="1" u="sng" dirty="0" err="1">
                <a:solidFill>
                  <a:srgbClr val="005684"/>
                </a:solidFill>
                <a:latin typeface="Times New Roman" panose="02020603050405020304" pitchFamily="18" charset="0"/>
                <a:ea typeface="Times New Roman" panose="02020603050405020304" pitchFamily="18" charset="0"/>
              </a:rPr>
              <a:t>node_ref</a:t>
            </a:r>
            <a:r>
              <a:rPr lang="en-US" sz="2000" b="1" u="sng" dirty="0">
                <a:solidFill>
                  <a:srgbClr val="005684"/>
                </a:solidFill>
                <a:latin typeface="Times New Roman" panose="02020603050405020304" pitchFamily="18" charset="0"/>
                <a:ea typeface="Times New Roman" panose="02020603050405020304" pitchFamily="18" charset="0"/>
              </a:rPr>
              <a:t>, value)</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961571" y="2597799"/>
            <a:ext cx="3886200" cy="2554545"/>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If the position is empty (no node), create a new </a:t>
            </a:r>
            <a:r>
              <a:rPr lang="en-US" altLang="en-US" sz="2000" b="1" dirty="0" err="1">
                <a:solidFill>
                  <a:schemeClr val="tx1"/>
                </a:solidFill>
                <a:latin typeface="Times New Roman" panose="02020603050405020304" pitchFamily="18" charset="0"/>
                <a:cs typeface="Times New Roman" panose="02020603050405020304" pitchFamily="18" charset="0"/>
              </a:rPr>
              <a:t>BSTNode</a:t>
            </a:r>
            <a:r>
              <a:rPr lang="en-US" altLang="en-US" sz="2000" dirty="0">
                <a:solidFill>
                  <a:schemeClr val="tx1"/>
                </a:solidFill>
                <a:latin typeface="Times New Roman" panose="02020603050405020304" pitchFamily="18" charset="0"/>
                <a:cs typeface="Times New Roman" panose="02020603050405020304" pitchFamily="18" charset="0"/>
              </a:rPr>
              <a:t> with </a:t>
            </a:r>
            <a:r>
              <a:rPr lang="en-US" altLang="en-US" sz="2000" b="1" dirty="0">
                <a:solidFill>
                  <a:schemeClr val="tx1"/>
                </a:solidFill>
                <a:latin typeface="Times New Roman" panose="02020603050405020304" pitchFamily="18" charset="0"/>
                <a:cs typeface="Times New Roman" panose="02020603050405020304" pitchFamily="18" charset="0"/>
              </a:rPr>
              <a:t>value</a:t>
            </a:r>
            <a:r>
              <a:rPr lang="en-US" altLang="en-US" sz="2000" dirty="0">
                <a:solidFill>
                  <a:schemeClr val="tx1"/>
                </a:solidFill>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This becomes:</a:t>
            </a:r>
            <a:br>
              <a:rPr lang="en-US" altLang="en-US" sz="2000" dirty="0">
                <a:solidFill>
                  <a:schemeClr val="tx1"/>
                </a:solidFill>
                <a:latin typeface="Times New Roman" panose="02020603050405020304" pitchFamily="18" charset="0"/>
                <a:cs typeface="Times New Roman" panose="02020603050405020304" pitchFamily="18" charset="0"/>
              </a:rPr>
            </a:b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the </a:t>
            </a:r>
            <a:r>
              <a:rPr lang="en-US" altLang="en-US" sz="2000" b="1" dirty="0">
                <a:solidFill>
                  <a:schemeClr val="tx1"/>
                </a:solidFill>
                <a:highlight>
                  <a:srgbClr val="FFFF00"/>
                </a:highlight>
                <a:latin typeface="Times New Roman" panose="02020603050405020304" pitchFamily="18" charset="0"/>
                <a:cs typeface="Times New Roman" panose="02020603050405020304" pitchFamily="18" charset="0"/>
              </a:rPr>
              <a:t>root</a:t>
            </a:r>
            <a:r>
              <a:rPr lang="en-US" altLang="en-US" sz="2000" dirty="0">
                <a:solidFill>
                  <a:schemeClr val="tx1"/>
                </a:solidFill>
                <a:latin typeface="Times New Roman" panose="02020603050405020304" pitchFamily="18" charset="0"/>
                <a:cs typeface="Times New Roman" panose="02020603050405020304" pitchFamily="18" charset="0"/>
              </a:rPr>
              <a:t> if the tree was </a:t>
            </a:r>
            <a:r>
              <a:rPr lang="en-US" altLang="en-US" sz="2000" b="1" dirty="0">
                <a:solidFill>
                  <a:schemeClr val="tx1"/>
                </a:solidFill>
                <a:latin typeface="Times New Roman" panose="02020603050405020304" pitchFamily="18" charset="0"/>
                <a:cs typeface="Times New Roman" panose="02020603050405020304" pitchFamily="18" charset="0"/>
              </a:rPr>
              <a:t>empty</a:t>
            </a:r>
            <a:r>
              <a:rPr lang="en-US" altLang="en-US" sz="2000" dirty="0">
                <a:solidFill>
                  <a:schemeClr val="tx1"/>
                </a:solidFill>
                <a:latin typeface="Times New Roman" panose="02020603050405020304" pitchFamily="18" charset="0"/>
                <a:cs typeface="Times New Roman" panose="02020603050405020304" pitchFamily="18" charset="0"/>
              </a:rPr>
              <a:t>.</a:t>
            </a: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or a </a:t>
            </a:r>
            <a:r>
              <a:rPr lang="en-US" altLang="en-US" sz="2000" b="1" dirty="0">
                <a:solidFill>
                  <a:schemeClr val="tx1"/>
                </a:solidFill>
                <a:highlight>
                  <a:srgbClr val="FFFF00"/>
                </a:highlight>
                <a:latin typeface="Times New Roman" panose="02020603050405020304" pitchFamily="18" charset="0"/>
                <a:cs typeface="Times New Roman" panose="02020603050405020304" pitchFamily="18" charset="0"/>
              </a:rPr>
              <a:t>leaf node</a:t>
            </a:r>
            <a:r>
              <a:rPr lang="en-US" altLang="en-US" sz="2000" dirty="0">
                <a:solidFill>
                  <a:schemeClr val="tx1"/>
                </a:solidFill>
                <a:latin typeface="Times New Roman" panose="02020603050405020304" pitchFamily="18" charset="0"/>
                <a:cs typeface="Times New Roman" panose="02020603050405020304" pitchFamily="18" charset="0"/>
              </a:rPr>
              <a:t> if it’s a valid spot in the tree.</a:t>
            </a: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rot="20090977">
            <a:off x="4954196" y="2186700"/>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5882274" y="1577960"/>
            <a:ext cx="3886199" cy="72031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09990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2F4C5B-AD8B-441A-8412-B397C2ABE834}"/>
              </a:ext>
            </a:extLst>
          </p:cNvPr>
          <p:cNvSpPr/>
          <p:nvPr/>
        </p:nvSpPr>
        <p:spPr>
          <a:xfrm>
            <a:off x="5486400" y="1255009"/>
            <a:ext cx="6096000" cy="4582024"/>
          </a:xfrm>
          <a:prstGeom prst="rect">
            <a:avLst/>
          </a:prstGeom>
        </p:spPr>
        <p:txBody>
          <a:bodyPr>
            <a:spAutoFit/>
          </a:bodyPr>
          <a:lstStyle/>
          <a:p>
            <a:pPr>
              <a:lnSpc>
                <a:spcPct val="150000"/>
              </a:lnSpc>
            </a:pPr>
            <a:r>
              <a:rPr lang="en-US" sz="1400" dirty="0">
                <a:solidFill>
                  <a:srgbClr val="0000FF"/>
                </a:solidFill>
                <a:latin typeface="Consolas" panose="020B0609020204030204" pitchFamily="49" charset="0"/>
              </a:rPr>
              <a:t>def</a:t>
            </a: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insert_bst_node</a:t>
            </a:r>
            <a:r>
              <a:rPr lang="en-US" sz="1400" dirty="0">
                <a:solidFill>
                  <a:srgbClr val="000000"/>
                </a:solidFill>
                <a:latin typeface="Consolas" panose="020B0609020204030204" pitchFamily="49" charset="0"/>
              </a:rPr>
              <a:t>(</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is</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None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 = </a:t>
            </a:r>
            <a:r>
              <a:rPr lang="en-US" sz="1400" dirty="0" err="1">
                <a:solidFill>
                  <a:srgbClr val="2B91AF"/>
                </a:solidFill>
                <a:latin typeface="Consolas" panose="020B0609020204030204" pitchFamily="49" charset="0"/>
              </a:rPr>
              <a:t>BSTNode</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else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 &lt;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].item:</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].left </a:t>
            </a:r>
            <a:r>
              <a:rPr lang="en-US" sz="1400" dirty="0">
                <a:solidFill>
                  <a:srgbClr val="0000FF"/>
                </a:solidFill>
                <a:latin typeface="Consolas" panose="020B0609020204030204" pitchFamily="49" charset="0"/>
              </a:rPr>
              <a:t>is</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None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].left = </a:t>
            </a:r>
            <a:r>
              <a:rPr lang="en-US" sz="1400" dirty="0" err="1">
                <a:solidFill>
                  <a:srgbClr val="2B91AF"/>
                </a:solidFill>
                <a:latin typeface="Consolas" panose="020B0609020204030204" pitchFamily="49" charset="0"/>
              </a:rPr>
              <a:t>BSTNode</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else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insert_bst_node</a:t>
            </a:r>
            <a:r>
              <a:rPr lang="en-US" sz="1400" dirty="0">
                <a:solidFill>
                  <a:srgbClr val="000000"/>
                </a:solidFill>
                <a:latin typeface="Consolas" panose="020B0609020204030204" pitchFamily="49" charset="0"/>
              </a:rPr>
              <a:t>([</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].left],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F08C4"/>
                </a:solidFill>
                <a:latin typeface="Consolas" panose="020B0609020204030204" pitchFamily="49" charset="0"/>
              </a:rPr>
              <a:t>elif</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 &gt;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].item:</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].right </a:t>
            </a:r>
            <a:r>
              <a:rPr lang="en-US" sz="1400" dirty="0">
                <a:solidFill>
                  <a:srgbClr val="0000FF"/>
                </a:solidFill>
                <a:latin typeface="Consolas" panose="020B0609020204030204" pitchFamily="49" charset="0"/>
              </a:rPr>
              <a:t>is</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None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].right = </a:t>
            </a:r>
            <a:r>
              <a:rPr lang="en-US" sz="1400" dirty="0" err="1">
                <a:solidFill>
                  <a:srgbClr val="2B91AF"/>
                </a:solidFill>
                <a:latin typeface="Consolas" panose="020B0609020204030204" pitchFamily="49" charset="0"/>
              </a:rPr>
              <a:t>BSTNode</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else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insert_bst_node</a:t>
            </a:r>
            <a:r>
              <a:rPr lang="en-US" sz="1400" dirty="0">
                <a:solidFill>
                  <a:srgbClr val="000000"/>
                </a:solidFill>
                <a:latin typeface="Consolas" panose="020B0609020204030204" pitchFamily="49" charset="0"/>
              </a:rPr>
              <a:t>([</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].right],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endParaRPr lang="en-US" sz="14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insert_bst_node(</a:t>
            </a:r>
            <a:r>
              <a:rPr lang="en-US" sz="2000" b="1" u="sng" dirty="0" err="1">
                <a:solidFill>
                  <a:srgbClr val="005684"/>
                </a:solidFill>
                <a:latin typeface="Times New Roman" panose="02020603050405020304" pitchFamily="18" charset="0"/>
                <a:ea typeface="Times New Roman" panose="02020603050405020304" pitchFamily="18" charset="0"/>
              </a:rPr>
              <a:t>node_ref</a:t>
            </a:r>
            <a:r>
              <a:rPr lang="en-US" sz="2000" b="1" u="sng" dirty="0">
                <a:solidFill>
                  <a:srgbClr val="005684"/>
                </a:solidFill>
                <a:latin typeface="Times New Roman" panose="02020603050405020304" pitchFamily="18" charset="0"/>
                <a:ea typeface="Times New Roman" panose="02020603050405020304" pitchFamily="18" charset="0"/>
              </a:rPr>
              <a:t>, value)</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961571" y="3059464"/>
            <a:ext cx="3886200" cy="1631216"/>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If the spot isn’t empty → compare values</a:t>
            </a:r>
          </a:p>
          <a:p>
            <a:pPr lvl="0" eaLnBrk="0" fontAlgn="base" hangingPunct="0">
              <a:spcBef>
                <a:spcPct val="0"/>
              </a:spcBef>
              <a:spcAft>
                <a:spcPct val="0"/>
              </a:spcAft>
            </a:pP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If value is smaller, it belongs in the left subtree.</a:t>
            </a: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rot="20090977">
            <a:off x="4954196" y="2186700"/>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5960338" y="2336055"/>
            <a:ext cx="3886199" cy="55954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14361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2F4C5B-AD8B-441A-8412-B397C2ABE834}"/>
              </a:ext>
            </a:extLst>
          </p:cNvPr>
          <p:cNvSpPr/>
          <p:nvPr/>
        </p:nvSpPr>
        <p:spPr>
          <a:xfrm>
            <a:off x="5486400" y="1255009"/>
            <a:ext cx="6096000" cy="4582024"/>
          </a:xfrm>
          <a:prstGeom prst="rect">
            <a:avLst/>
          </a:prstGeom>
        </p:spPr>
        <p:txBody>
          <a:bodyPr>
            <a:spAutoFit/>
          </a:bodyPr>
          <a:lstStyle/>
          <a:p>
            <a:pPr>
              <a:lnSpc>
                <a:spcPct val="150000"/>
              </a:lnSpc>
            </a:pPr>
            <a:r>
              <a:rPr lang="en-US" sz="1400" dirty="0">
                <a:solidFill>
                  <a:srgbClr val="0000FF"/>
                </a:solidFill>
                <a:latin typeface="Consolas" panose="020B0609020204030204" pitchFamily="49" charset="0"/>
              </a:rPr>
              <a:t>def</a:t>
            </a: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insert_bst_node</a:t>
            </a:r>
            <a:r>
              <a:rPr lang="en-US" sz="1400" dirty="0">
                <a:solidFill>
                  <a:srgbClr val="000000"/>
                </a:solidFill>
                <a:latin typeface="Consolas" panose="020B0609020204030204" pitchFamily="49" charset="0"/>
              </a:rPr>
              <a:t>(</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is</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None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 = </a:t>
            </a:r>
            <a:r>
              <a:rPr lang="en-US" sz="1400" dirty="0" err="1">
                <a:solidFill>
                  <a:srgbClr val="2B91AF"/>
                </a:solidFill>
                <a:latin typeface="Consolas" panose="020B0609020204030204" pitchFamily="49" charset="0"/>
              </a:rPr>
              <a:t>BSTNode</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else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 &lt;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].item:</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].left </a:t>
            </a:r>
            <a:r>
              <a:rPr lang="en-US" sz="1400" dirty="0">
                <a:solidFill>
                  <a:srgbClr val="0000FF"/>
                </a:solidFill>
                <a:latin typeface="Consolas" panose="020B0609020204030204" pitchFamily="49" charset="0"/>
              </a:rPr>
              <a:t>is</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None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].left = </a:t>
            </a:r>
            <a:r>
              <a:rPr lang="en-US" sz="1400" dirty="0" err="1">
                <a:solidFill>
                  <a:srgbClr val="2B91AF"/>
                </a:solidFill>
                <a:latin typeface="Consolas" panose="020B0609020204030204" pitchFamily="49" charset="0"/>
              </a:rPr>
              <a:t>BSTNode</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else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insert_bst_node</a:t>
            </a:r>
            <a:r>
              <a:rPr lang="en-US" sz="1400" dirty="0">
                <a:solidFill>
                  <a:srgbClr val="000000"/>
                </a:solidFill>
                <a:latin typeface="Consolas" panose="020B0609020204030204" pitchFamily="49" charset="0"/>
              </a:rPr>
              <a:t>([</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].left],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F08C4"/>
                </a:solidFill>
                <a:latin typeface="Consolas" panose="020B0609020204030204" pitchFamily="49" charset="0"/>
              </a:rPr>
              <a:t>elif</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 &gt;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].item:</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].right </a:t>
            </a:r>
            <a:r>
              <a:rPr lang="en-US" sz="1400" dirty="0">
                <a:solidFill>
                  <a:srgbClr val="0000FF"/>
                </a:solidFill>
                <a:latin typeface="Consolas" panose="020B0609020204030204" pitchFamily="49" charset="0"/>
              </a:rPr>
              <a:t>is</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None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].right = </a:t>
            </a:r>
            <a:r>
              <a:rPr lang="en-US" sz="1400" dirty="0" err="1">
                <a:solidFill>
                  <a:srgbClr val="2B91AF"/>
                </a:solidFill>
                <a:latin typeface="Consolas" panose="020B0609020204030204" pitchFamily="49" charset="0"/>
              </a:rPr>
              <a:t>BSTNode</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else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insert_bst_node</a:t>
            </a:r>
            <a:r>
              <a:rPr lang="en-US" sz="1400" dirty="0">
                <a:solidFill>
                  <a:srgbClr val="000000"/>
                </a:solidFill>
                <a:latin typeface="Consolas" panose="020B0609020204030204" pitchFamily="49" charset="0"/>
              </a:rPr>
              <a:t>([</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].right],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endParaRPr lang="en-US" sz="14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insert_bst_node(</a:t>
            </a:r>
            <a:r>
              <a:rPr lang="en-US" sz="2000" b="1" u="sng" dirty="0" err="1">
                <a:solidFill>
                  <a:srgbClr val="005684"/>
                </a:solidFill>
                <a:latin typeface="Times New Roman" panose="02020603050405020304" pitchFamily="18" charset="0"/>
                <a:ea typeface="Times New Roman" panose="02020603050405020304" pitchFamily="18" charset="0"/>
              </a:rPr>
              <a:t>node_ref</a:t>
            </a:r>
            <a:r>
              <a:rPr lang="en-US" sz="2000" b="1" u="sng" dirty="0">
                <a:solidFill>
                  <a:srgbClr val="005684"/>
                </a:solidFill>
                <a:latin typeface="Times New Roman" panose="02020603050405020304" pitchFamily="18" charset="0"/>
                <a:ea typeface="Times New Roman" panose="02020603050405020304" pitchFamily="18" charset="0"/>
              </a:rPr>
              <a:t>, value)</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1245590" y="2866214"/>
            <a:ext cx="3886200" cy="1631216"/>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If no left child exists </a:t>
            </a:r>
            <a:r>
              <a:rPr lang="en-US" altLang="en-US" sz="2000" dirty="0">
                <a:solidFill>
                  <a:schemeClr val="tx1"/>
                </a:solidFill>
                <a:latin typeface="Times New Roman" panose="02020603050405020304" pitchFamily="18" charset="0"/>
                <a:cs typeface="Times New Roman" panose="02020603050405020304" pitchFamily="18" charset="0"/>
              </a:rPr>
              <a:t>→ create a new node.</a:t>
            </a:r>
          </a:p>
          <a:p>
            <a:pPr lvl="0" eaLnBrk="0" fontAlgn="base" hangingPunct="0">
              <a:spcBef>
                <a:spcPct val="0"/>
              </a:spcBef>
              <a:spcAft>
                <a:spcPct val="0"/>
              </a:spcAft>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If a left child exists </a:t>
            </a:r>
            <a:r>
              <a:rPr lang="en-US" altLang="en-US" sz="2000" dirty="0">
                <a:solidFill>
                  <a:schemeClr val="tx1"/>
                </a:solidFill>
                <a:latin typeface="Times New Roman" panose="02020603050405020304" pitchFamily="18" charset="0"/>
                <a:cs typeface="Times New Roman" panose="02020603050405020304" pitchFamily="18" charset="0"/>
              </a:rPr>
              <a:t>→ recursively insert in the left subtree.</a:t>
            </a: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360390" y="3381680"/>
            <a:ext cx="678460" cy="31233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591300" y="2884694"/>
            <a:ext cx="4762500" cy="130630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53233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2F4C5B-AD8B-441A-8412-B397C2ABE834}"/>
              </a:ext>
            </a:extLst>
          </p:cNvPr>
          <p:cNvSpPr/>
          <p:nvPr/>
        </p:nvSpPr>
        <p:spPr>
          <a:xfrm>
            <a:off x="5486400" y="1255009"/>
            <a:ext cx="6096000" cy="4582024"/>
          </a:xfrm>
          <a:prstGeom prst="rect">
            <a:avLst/>
          </a:prstGeom>
        </p:spPr>
        <p:txBody>
          <a:bodyPr>
            <a:spAutoFit/>
          </a:bodyPr>
          <a:lstStyle/>
          <a:p>
            <a:pPr>
              <a:lnSpc>
                <a:spcPct val="150000"/>
              </a:lnSpc>
            </a:pPr>
            <a:r>
              <a:rPr lang="en-US" sz="1400" dirty="0">
                <a:solidFill>
                  <a:srgbClr val="0000FF"/>
                </a:solidFill>
                <a:latin typeface="Consolas" panose="020B0609020204030204" pitchFamily="49" charset="0"/>
              </a:rPr>
              <a:t>def</a:t>
            </a: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insert_bst_node</a:t>
            </a:r>
            <a:r>
              <a:rPr lang="en-US" sz="1400" dirty="0">
                <a:solidFill>
                  <a:srgbClr val="000000"/>
                </a:solidFill>
                <a:latin typeface="Consolas" panose="020B0609020204030204" pitchFamily="49" charset="0"/>
              </a:rPr>
              <a:t>(</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is</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None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 = </a:t>
            </a:r>
            <a:r>
              <a:rPr lang="en-US" sz="1400" dirty="0" err="1">
                <a:solidFill>
                  <a:srgbClr val="2B91AF"/>
                </a:solidFill>
                <a:latin typeface="Consolas" panose="020B0609020204030204" pitchFamily="49" charset="0"/>
              </a:rPr>
              <a:t>BSTNode</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else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 &lt;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].item:</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].left </a:t>
            </a:r>
            <a:r>
              <a:rPr lang="en-US" sz="1400" dirty="0">
                <a:solidFill>
                  <a:srgbClr val="0000FF"/>
                </a:solidFill>
                <a:latin typeface="Consolas" panose="020B0609020204030204" pitchFamily="49" charset="0"/>
              </a:rPr>
              <a:t>is</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None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].left = </a:t>
            </a:r>
            <a:r>
              <a:rPr lang="en-US" sz="1400" dirty="0" err="1">
                <a:solidFill>
                  <a:srgbClr val="2B91AF"/>
                </a:solidFill>
                <a:latin typeface="Consolas" panose="020B0609020204030204" pitchFamily="49" charset="0"/>
              </a:rPr>
              <a:t>BSTNode</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else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insert_bst_node</a:t>
            </a:r>
            <a:r>
              <a:rPr lang="en-US" sz="1400" dirty="0">
                <a:solidFill>
                  <a:srgbClr val="000000"/>
                </a:solidFill>
                <a:latin typeface="Consolas" panose="020B0609020204030204" pitchFamily="49" charset="0"/>
              </a:rPr>
              <a:t>([</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].left],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F08C4"/>
                </a:solidFill>
                <a:latin typeface="Consolas" panose="020B0609020204030204" pitchFamily="49" charset="0"/>
              </a:rPr>
              <a:t>elif</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 &gt;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].item:</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].right </a:t>
            </a:r>
            <a:r>
              <a:rPr lang="en-US" sz="1400" dirty="0">
                <a:solidFill>
                  <a:srgbClr val="0000FF"/>
                </a:solidFill>
                <a:latin typeface="Consolas" panose="020B0609020204030204" pitchFamily="49" charset="0"/>
              </a:rPr>
              <a:t>is</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None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].right = </a:t>
            </a:r>
            <a:r>
              <a:rPr lang="en-US" sz="1400" dirty="0" err="1">
                <a:solidFill>
                  <a:srgbClr val="2B91AF"/>
                </a:solidFill>
                <a:latin typeface="Consolas" panose="020B0609020204030204" pitchFamily="49" charset="0"/>
              </a:rPr>
              <a:t>BSTNode</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else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insert_bst_node</a:t>
            </a:r>
            <a:r>
              <a:rPr lang="en-US" sz="1400" dirty="0">
                <a:solidFill>
                  <a:srgbClr val="000000"/>
                </a:solidFill>
                <a:latin typeface="Consolas" panose="020B0609020204030204" pitchFamily="49" charset="0"/>
              </a:rPr>
              <a:t>([</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].right],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endParaRPr lang="en-US" sz="14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insert_bst_node(</a:t>
            </a:r>
            <a:r>
              <a:rPr lang="en-US" sz="2000" b="1" u="sng" dirty="0" err="1">
                <a:solidFill>
                  <a:srgbClr val="005684"/>
                </a:solidFill>
                <a:latin typeface="Times New Roman" panose="02020603050405020304" pitchFamily="18" charset="0"/>
                <a:ea typeface="Times New Roman" panose="02020603050405020304" pitchFamily="18" charset="0"/>
              </a:rPr>
              <a:t>node_ref</a:t>
            </a:r>
            <a:r>
              <a:rPr lang="en-US" sz="2000" b="1" u="sng" dirty="0">
                <a:solidFill>
                  <a:srgbClr val="005684"/>
                </a:solidFill>
                <a:latin typeface="Times New Roman" panose="02020603050405020304" pitchFamily="18" charset="0"/>
                <a:ea typeface="Times New Roman" panose="02020603050405020304" pitchFamily="18" charset="0"/>
              </a:rPr>
              <a:t>, value)</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1122631" y="3990272"/>
            <a:ext cx="3886200" cy="707886"/>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If value is greater, it belongs in the right subtree.</a:t>
            </a: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328145" y="4257893"/>
            <a:ext cx="678460" cy="31233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183910" y="4191000"/>
            <a:ext cx="4762500" cy="30643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97519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2F4C5B-AD8B-441A-8412-B397C2ABE834}"/>
              </a:ext>
            </a:extLst>
          </p:cNvPr>
          <p:cNvSpPr/>
          <p:nvPr/>
        </p:nvSpPr>
        <p:spPr>
          <a:xfrm>
            <a:off x="5486400" y="1255009"/>
            <a:ext cx="6096000" cy="4582024"/>
          </a:xfrm>
          <a:prstGeom prst="rect">
            <a:avLst/>
          </a:prstGeom>
        </p:spPr>
        <p:txBody>
          <a:bodyPr>
            <a:spAutoFit/>
          </a:bodyPr>
          <a:lstStyle/>
          <a:p>
            <a:pPr>
              <a:lnSpc>
                <a:spcPct val="150000"/>
              </a:lnSpc>
            </a:pPr>
            <a:r>
              <a:rPr lang="en-US" sz="1400" dirty="0">
                <a:solidFill>
                  <a:srgbClr val="0000FF"/>
                </a:solidFill>
                <a:latin typeface="Consolas" panose="020B0609020204030204" pitchFamily="49" charset="0"/>
              </a:rPr>
              <a:t>def</a:t>
            </a: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insert_bst_node</a:t>
            </a:r>
            <a:r>
              <a:rPr lang="en-US" sz="1400" dirty="0">
                <a:solidFill>
                  <a:srgbClr val="000000"/>
                </a:solidFill>
                <a:latin typeface="Consolas" panose="020B0609020204030204" pitchFamily="49" charset="0"/>
              </a:rPr>
              <a:t>(</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is</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None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 = </a:t>
            </a:r>
            <a:r>
              <a:rPr lang="en-US" sz="1400" dirty="0" err="1">
                <a:solidFill>
                  <a:srgbClr val="2B91AF"/>
                </a:solidFill>
                <a:latin typeface="Consolas" panose="020B0609020204030204" pitchFamily="49" charset="0"/>
              </a:rPr>
              <a:t>BSTNode</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else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 &lt;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].item:</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].left </a:t>
            </a:r>
            <a:r>
              <a:rPr lang="en-US" sz="1400" dirty="0">
                <a:solidFill>
                  <a:srgbClr val="0000FF"/>
                </a:solidFill>
                <a:latin typeface="Consolas" panose="020B0609020204030204" pitchFamily="49" charset="0"/>
              </a:rPr>
              <a:t>is</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None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].left = </a:t>
            </a:r>
            <a:r>
              <a:rPr lang="en-US" sz="1400" dirty="0" err="1">
                <a:solidFill>
                  <a:srgbClr val="2B91AF"/>
                </a:solidFill>
                <a:latin typeface="Consolas" panose="020B0609020204030204" pitchFamily="49" charset="0"/>
              </a:rPr>
              <a:t>BSTNode</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else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insert_bst_node</a:t>
            </a:r>
            <a:r>
              <a:rPr lang="en-US" sz="1400" dirty="0">
                <a:solidFill>
                  <a:srgbClr val="000000"/>
                </a:solidFill>
                <a:latin typeface="Consolas" panose="020B0609020204030204" pitchFamily="49" charset="0"/>
              </a:rPr>
              <a:t>([</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].left],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F08C4"/>
                </a:solidFill>
                <a:latin typeface="Consolas" panose="020B0609020204030204" pitchFamily="49" charset="0"/>
              </a:rPr>
              <a:t>elif</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 &gt;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].item:</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].right </a:t>
            </a:r>
            <a:r>
              <a:rPr lang="en-US" sz="1400" dirty="0">
                <a:solidFill>
                  <a:srgbClr val="0000FF"/>
                </a:solidFill>
                <a:latin typeface="Consolas" panose="020B0609020204030204" pitchFamily="49" charset="0"/>
              </a:rPr>
              <a:t>is</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None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].right = </a:t>
            </a:r>
            <a:r>
              <a:rPr lang="en-US" sz="1400" dirty="0" err="1">
                <a:solidFill>
                  <a:srgbClr val="2B91AF"/>
                </a:solidFill>
                <a:latin typeface="Consolas" panose="020B0609020204030204" pitchFamily="49" charset="0"/>
              </a:rPr>
              <a:t>BSTNode</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else</a:t>
            </a:r>
            <a:r>
              <a:rPr lang="en-US" sz="1400" dirty="0">
                <a:solidFill>
                  <a:srgbClr val="000000"/>
                </a:solidFill>
                <a:latin typeface="Consolas" panose="020B0609020204030204" pitchFamily="49" charset="0"/>
              </a:rPr>
              <a:t>:</a:t>
            </a:r>
          </a:p>
          <a:p>
            <a:pPr>
              <a:lnSpc>
                <a:spcPct val="150000"/>
              </a:lnSpc>
            </a:pP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insert_bst_node</a:t>
            </a:r>
            <a:r>
              <a:rPr lang="en-US" sz="1400" dirty="0">
                <a:solidFill>
                  <a:srgbClr val="000000"/>
                </a:solidFill>
                <a:latin typeface="Consolas" panose="020B0609020204030204" pitchFamily="49" charset="0"/>
              </a:rPr>
              <a:t>([</a:t>
            </a:r>
            <a:r>
              <a:rPr lang="en-US" sz="1400" dirty="0" err="1">
                <a:solidFill>
                  <a:srgbClr val="808080"/>
                </a:solidFill>
                <a:latin typeface="Consolas" panose="020B0609020204030204" pitchFamily="49" charset="0"/>
              </a:rPr>
              <a:t>node_ref</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].right], </a:t>
            </a:r>
            <a:r>
              <a:rPr lang="en-US" sz="1400" dirty="0">
                <a:solidFill>
                  <a:srgbClr val="808080"/>
                </a:solidFill>
                <a:latin typeface="Consolas" panose="020B0609020204030204" pitchFamily="49" charset="0"/>
              </a:rPr>
              <a:t>value</a:t>
            </a:r>
            <a:r>
              <a:rPr lang="en-US" sz="1400" dirty="0">
                <a:solidFill>
                  <a:srgbClr val="000000"/>
                </a:solidFill>
                <a:latin typeface="Consolas" panose="020B0609020204030204" pitchFamily="49" charset="0"/>
              </a:rPr>
              <a:t>)</a:t>
            </a:r>
            <a:endParaRPr lang="en-US" sz="14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insert_bst_node(</a:t>
            </a:r>
            <a:r>
              <a:rPr lang="en-US" sz="2000" b="1" u="sng" dirty="0" err="1">
                <a:solidFill>
                  <a:srgbClr val="005684"/>
                </a:solidFill>
                <a:latin typeface="Times New Roman" panose="02020603050405020304" pitchFamily="18" charset="0"/>
                <a:ea typeface="Times New Roman" panose="02020603050405020304" pitchFamily="18" charset="0"/>
              </a:rPr>
              <a:t>node_ref</a:t>
            </a:r>
            <a:r>
              <a:rPr lang="en-US" sz="2000" b="1" u="sng" dirty="0">
                <a:solidFill>
                  <a:srgbClr val="005684"/>
                </a:solidFill>
                <a:latin typeface="Times New Roman" panose="02020603050405020304" pitchFamily="18" charset="0"/>
                <a:ea typeface="Times New Roman" panose="02020603050405020304" pitchFamily="18" charset="0"/>
              </a:rPr>
              <a:t>, value)</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1181546" y="4388584"/>
            <a:ext cx="3886200" cy="1631216"/>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If no right child exists </a:t>
            </a:r>
            <a:r>
              <a:rPr lang="en-US" altLang="en-US" sz="2000" dirty="0">
                <a:solidFill>
                  <a:schemeClr val="tx1"/>
                </a:solidFill>
                <a:latin typeface="Times New Roman" panose="02020603050405020304" pitchFamily="18" charset="0"/>
                <a:cs typeface="Times New Roman" panose="02020603050405020304" pitchFamily="18" charset="0"/>
              </a:rPr>
              <a:t>→ create new node.</a:t>
            </a:r>
          </a:p>
          <a:p>
            <a:pPr lvl="0" eaLnBrk="0" fontAlgn="base" hangingPunct="0">
              <a:spcBef>
                <a:spcPct val="0"/>
              </a:spcBef>
              <a:spcAft>
                <a:spcPct val="0"/>
              </a:spcAft>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If a right child exists </a:t>
            </a:r>
            <a:r>
              <a:rPr lang="en-US" altLang="en-US" sz="2000" dirty="0">
                <a:solidFill>
                  <a:schemeClr val="tx1"/>
                </a:solidFill>
                <a:latin typeface="Times New Roman" panose="02020603050405020304" pitchFamily="18" charset="0"/>
                <a:cs typeface="Times New Roman" panose="02020603050405020304" pitchFamily="18" charset="0"/>
              </a:rPr>
              <a:t>→ recurse into the right subtree.</a:t>
            </a: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467590" y="5126204"/>
            <a:ext cx="678460" cy="31233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614754" y="4544942"/>
            <a:ext cx="4815246" cy="147485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8945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4C8615A-B35A-44E1-9668-6167DB99243D}"/>
              </a:ext>
            </a:extLst>
          </p:cNvPr>
          <p:cNvSpPr/>
          <p:nvPr/>
        </p:nvSpPr>
        <p:spPr>
          <a:xfrm>
            <a:off x="6096000" y="1898814"/>
            <a:ext cx="6096000" cy="4115422"/>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enqueue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queue</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node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new_node</a:t>
            </a:r>
            <a:r>
              <a:rPr lang="en-US" sz="1600" dirty="0">
                <a:solidFill>
                  <a:srgbClr val="000000"/>
                </a:solidFill>
                <a:latin typeface="Consolas" panose="020B0609020204030204" pitchFamily="49" charset="0"/>
              </a:rPr>
              <a:t> = </a:t>
            </a:r>
            <a:r>
              <a:rPr lang="en-US" sz="1600" dirty="0" err="1">
                <a:solidFill>
                  <a:srgbClr val="2B91AF"/>
                </a:solidFill>
                <a:latin typeface="Consolas" panose="020B0609020204030204" pitchFamily="49" charset="0"/>
              </a:rPr>
              <a:t>QueueNode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node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is_empty</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 </a:t>
            </a:r>
            <a:r>
              <a:rPr lang="en-US" sz="1600" dirty="0" err="1">
                <a:solidFill>
                  <a:srgbClr val="1F377F"/>
                </a:solidFill>
                <a:latin typeface="Consolas" panose="020B0609020204030204" pitchFamily="49" charset="0"/>
              </a:rPr>
              <a:t>new_node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else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.tail.nextPtr</a:t>
            </a:r>
            <a:r>
              <a:rPr lang="en-US" sz="1600" dirty="0">
                <a:solidFill>
                  <a:srgbClr val="000000"/>
                </a:solidFill>
                <a:latin typeface="Consolas" panose="020B0609020204030204" pitchFamily="49" charset="0"/>
              </a:rPr>
              <a:t> = </a:t>
            </a:r>
            <a:r>
              <a:rPr lang="en-US" sz="1600" dirty="0" err="1">
                <a:solidFill>
                  <a:srgbClr val="1F377F"/>
                </a:solidFill>
                <a:latin typeface="Consolas" panose="020B0609020204030204" pitchFamily="49" charset="0"/>
              </a:rPr>
              <a:t>new_node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.tail</a:t>
            </a:r>
            <a:r>
              <a:rPr lang="en-US" sz="1600" dirty="0">
                <a:solidFill>
                  <a:srgbClr val="000000"/>
                </a:solidFill>
                <a:latin typeface="Consolas" panose="020B0609020204030204" pitchFamily="49" charset="0"/>
              </a:rPr>
              <a:t> = </a:t>
            </a:r>
            <a:r>
              <a:rPr lang="en-US" sz="1600" dirty="0" err="1">
                <a:solidFill>
                  <a:srgbClr val="1F377F"/>
                </a:solidFill>
                <a:latin typeface="Consolas" panose="020B0609020204030204" pitchFamily="49" charset="0"/>
              </a:rPr>
              <a:t>new_node</a:t>
            </a:r>
            <a:endParaRPr lang="en-US" sz="1600" dirty="0">
              <a:solidFill>
                <a:srgbClr val="000000"/>
              </a:solidFill>
              <a:latin typeface="Consolas" panose="020B0609020204030204" pitchFamily="49" charset="0"/>
            </a:endParaRPr>
          </a:p>
          <a:p>
            <a:pPr>
              <a:lnSpc>
                <a:spcPct val="150000"/>
              </a:lnSpc>
            </a:pPr>
            <a:br>
              <a:rPr lang="en-US" sz="1600" dirty="0">
                <a:solidFill>
                  <a:srgbClr val="000000"/>
                </a:solidFill>
                <a:latin typeface="Consolas" panose="020B0609020204030204" pitchFamily="49" charset="0"/>
              </a:rPr>
            </a:b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enqueue(queue, node)</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883920" y="1992668"/>
            <a:ext cx="4161424" cy="3170099"/>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Create a new queue node</a:t>
            </a:r>
          </a:p>
          <a:p>
            <a:pPr lvl="0" eaLnBrk="0" fontAlgn="base" hangingPunct="0">
              <a:spcBef>
                <a:spcPct val="0"/>
              </a:spcBef>
              <a:spcAft>
                <a:spcPct val="0"/>
              </a:spcAft>
            </a:pPr>
            <a:endParaRPr kumimoji="0" lang="en-US" altLang="en-US" sz="2000" b="1"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Wraps the given node (data) inside a </a:t>
            </a:r>
            <a:r>
              <a:rPr lang="en-US" altLang="en-US" sz="2000" dirty="0" err="1">
                <a:solidFill>
                  <a:schemeClr val="tx1"/>
                </a:solidFill>
                <a:latin typeface="Times New Roman" panose="02020603050405020304" pitchFamily="18" charset="0"/>
                <a:cs typeface="Times New Roman" panose="02020603050405020304" pitchFamily="18" charset="0"/>
              </a:rPr>
              <a:t>QueueNode</a:t>
            </a:r>
            <a:r>
              <a:rPr lang="en-US" altLang="en-US" sz="2000" dirty="0">
                <a:solidFill>
                  <a:schemeClr val="tx1"/>
                </a:solidFill>
                <a:latin typeface="Times New Roman" panose="02020603050405020304" pitchFamily="18" charset="0"/>
                <a:cs typeface="Times New Roman" panose="02020603050405020304" pitchFamily="18" charset="0"/>
              </a:rPr>
              <a:t> object.</a:t>
            </a:r>
          </a:p>
          <a:p>
            <a:pPr lvl="0" eaLnBrk="0" fontAlgn="base" hangingPunct="0">
              <a:spcBef>
                <a:spcPct val="0"/>
              </a:spcBef>
              <a:spcAft>
                <a:spcPct val="0"/>
              </a:spcAft>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A </a:t>
            </a:r>
            <a:r>
              <a:rPr lang="en-US" altLang="en-US" sz="2000" dirty="0" err="1">
                <a:solidFill>
                  <a:schemeClr val="tx1"/>
                </a:solidFill>
                <a:latin typeface="Times New Roman" panose="02020603050405020304" pitchFamily="18" charset="0"/>
                <a:cs typeface="Times New Roman" panose="02020603050405020304" pitchFamily="18" charset="0"/>
              </a:rPr>
              <a:t>QueueNode</a:t>
            </a:r>
            <a:r>
              <a:rPr lang="en-US" altLang="en-US" sz="2000" dirty="0">
                <a:solidFill>
                  <a:schemeClr val="tx1"/>
                </a:solidFill>
                <a:latin typeface="Times New Roman" panose="02020603050405020304" pitchFamily="18" charset="0"/>
                <a:cs typeface="Times New Roman" panose="02020603050405020304" pitchFamily="18" charset="0"/>
              </a:rPr>
              <a:t> stores:</a:t>
            </a:r>
          </a:p>
          <a:p>
            <a:pPr marL="342900" lvl="0" indent="-342900" eaLnBrk="0" fontAlgn="base" hangingPunct="0">
              <a:spcBef>
                <a:spcPct val="0"/>
              </a:spcBef>
              <a:spcAft>
                <a:spcPct val="0"/>
              </a:spcAft>
              <a:buFont typeface="Arial" panose="020B0604020202020204" pitchFamily="34" charset="0"/>
              <a:buChar char="•"/>
            </a:pPr>
            <a:r>
              <a:rPr lang="en-US" altLang="en-US" sz="2000" b="1" dirty="0">
                <a:solidFill>
                  <a:schemeClr val="tx1"/>
                </a:solidFill>
                <a:latin typeface="Times New Roman" panose="02020603050405020304" pitchFamily="18" charset="0"/>
                <a:cs typeface="Times New Roman" panose="02020603050405020304" pitchFamily="18" charset="0"/>
              </a:rPr>
              <a:t>data</a:t>
            </a:r>
            <a:r>
              <a:rPr lang="en-US" altLang="en-US" sz="2000" dirty="0">
                <a:solidFill>
                  <a:schemeClr val="tx1"/>
                </a:solidFill>
                <a:latin typeface="Times New Roman" panose="02020603050405020304" pitchFamily="18" charset="0"/>
                <a:cs typeface="Times New Roman" panose="02020603050405020304" pitchFamily="18" charset="0"/>
              </a:rPr>
              <a:t> → the value we want to enqueue</a:t>
            </a:r>
          </a:p>
          <a:p>
            <a:pPr marL="342900" lvl="0" indent="-342900" eaLnBrk="0" fontAlgn="base" hangingPunct="0">
              <a:spcBef>
                <a:spcPct val="0"/>
              </a:spcBef>
              <a:spcAft>
                <a:spcPct val="0"/>
              </a:spcAft>
              <a:buFont typeface="Arial" panose="020B0604020202020204" pitchFamily="34" charset="0"/>
              <a:buChar char="•"/>
            </a:pPr>
            <a:r>
              <a:rPr lang="en-US" altLang="en-US" sz="2000" b="1" dirty="0" err="1">
                <a:solidFill>
                  <a:schemeClr val="tx1"/>
                </a:solidFill>
                <a:latin typeface="Times New Roman" panose="02020603050405020304" pitchFamily="18" charset="0"/>
                <a:cs typeface="Times New Roman" panose="02020603050405020304" pitchFamily="18" charset="0"/>
              </a:rPr>
              <a:t>nextPtr</a:t>
            </a:r>
            <a:r>
              <a:rPr lang="en-US" altLang="en-US" sz="2000" dirty="0">
                <a:solidFill>
                  <a:schemeClr val="tx1"/>
                </a:solidFill>
                <a:latin typeface="Times New Roman" panose="02020603050405020304" pitchFamily="18" charset="0"/>
                <a:cs typeface="Times New Roman" panose="02020603050405020304" pitchFamily="18" charset="0"/>
              </a:rPr>
              <a:t> → link to the next node in the queue</a:t>
            </a: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231442" y="2396534"/>
            <a:ext cx="678460" cy="31233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146049" y="2286001"/>
            <a:ext cx="4145377" cy="533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08639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4C8615A-B35A-44E1-9668-6167DB99243D}"/>
              </a:ext>
            </a:extLst>
          </p:cNvPr>
          <p:cNvSpPr/>
          <p:nvPr/>
        </p:nvSpPr>
        <p:spPr>
          <a:xfrm>
            <a:off x="6096000" y="1898814"/>
            <a:ext cx="6096000" cy="4115422"/>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enqueue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queue</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node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new_node</a:t>
            </a:r>
            <a:r>
              <a:rPr lang="en-US" sz="1600" dirty="0">
                <a:solidFill>
                  <a:srgbClr val="000000"/>
                </a:solidFill>
                <a:latin typeface="Consolas" panose="020B0609020204030204" pitchFamily="49" charset="0"/>
              </a:rPr>
              <a:t> = </a:t>
            </a:r>
            <a:r>
              <a:rPr lang="en-US" sz="1600" dirty="0" err="1">
                <a:solidFill>
                  <a:srgbClr val="2B91AF"/>
                </a:solidFill>
                <a:latin typeface="Consolas" panose="020B0609020204030204" pitchFamily="49" charset="0"/>
              </a:rPr>
              <a:t>QueueNode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node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is_empty</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 </a:t>
            </a:r>
            <a:r>
              <a:rPr lang="en-US" sz="1600" dirty="0" err="1">
                <a:solidFill>
                  <a:srgbClr val="1F377F"/>
                </a:solidFill>
                <a:latin typeface="Consolas" panose="020B0609020204030204" pitchFamily="49" charset="0"/>
              </a:rPr>
              <a:t>new_node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else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.tail.nextPtr</a:t>
            </a:r>
            <a:r>
              <a:rPr lang="en-US" sz="1600" dirty="0">
                <a:solidFill>
                  <a:srgbClr val="000000"/>
                </a:solidFill>
                <a:latin typeface="Consolas" panose="020B0609020204030204" pitchFamily="49" charset="0"/>
              </a:rPr>
              <a:t> = </a:t>
            </a:r>
            <a:r>
              <a:rPr lang="en-US" sz="1600" dirty="0" err="1">
                <a:solidFill>
                  <a:srgbClr val="1F377F"/>
                </a:solidFill>
                <a:latin typeface="Consolas" panose="020B0609020204030204" pitchFamily="49" charset="0"/>
              </a:rPr>
              <a:t>new_node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.tail</a:t>
            </a:r>
            <a:r>
              <a:rPr lang="en-US" sz="1600" dirty="0">
                <a:solidFill>
                  <a:srgbClr val="000000"/>
                </a:solidFill>
                <a:latin typeface="Consolas" panose="020B0609020204030204" pitchFamily="49" charset="0"/>
              </a:rPr>
              <a:t> = </a:t>
            </a:r>
            <a:r>
              <a:rPr lang="en-US" sz="1600" dirty="0" err="1">
                <a:solidFill>
                  <a:srgbClr val="1F377F"/>
                </a:solidFill>
                <a:latin typeface="Consolas" panose="020B0609020204030204" pitchFamily="49" charset="0"/>
              </a:rPr>
              <a:t>new_node</a:t>
            </a:r>
            <a:endParaRPr lang="en-US" sz="1600" dirty="0">
              <a:solidFill>
                <a:srgbClr val="000000"/>
              </a:solidFill>
              <a:latin typeface="Consolas" panose="020B0609020204030204" pitchFamily="49" charset="0"/>
            </a:endParaRPr>
          </a:p>
          <a:p>
            <a:pPr>
              <a:lnSpc>
                <a:spcPct val="150000"/>
              </a:lnSpc>
            </a:pPr>
            <a:br>
              <a:rPr lang="en-US" sz="1600" dirty="0">
                <a:solidFill>
                  <a:srgbClr val="000000"/>
                </a:solidFill>
                <a:latin typeface="Consolas" panose="020B0609020204030204" pitchFamily="49" charset="0"/>
              </a:rPr>
            </a:b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enqueue(queue, node)</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914400" y="2270891"/>
            <a:ext cx="4161424" cy="2862322"/>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Check if the queue is empty</a:t>
            </a:r>
            <a:br>
              <a:rPr lang="en-US" altLang="en-US" sz="2000" b="1" dirty="0">
                <a:solidFill>
                  <a:schemeClr val="tx1"/>
                </a:solidFill>
                <a:latin typeface="Times New Roman" panose="02020603050405020304" pitchFamily="18" charset="0"/>
                <a:cs typeface="Times New Roman" panose="02020603050405020304" pitchFamily="18" charset="0"/>
              </a:rPr>
            </a:br>
            <a:endParaRPr kumimoji="0" lang="en-US" altLang="en-US" sz="2000" b="1"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If the queue is empty (</a:t>
            </a:r>
            <a:r>
              <a:rPr lang="en-US" altLang="en-US" sz="2000" b="1" dirty="0">
                <a:solidFill>
                  <a:schemeClr val="tx1"/>
                </a:solidFill>
                <a:latin typeface="Times New Roman" panose="02020603050405020304" pitchFamily="18" charset="0"/>
                <a:cs typeface="Times New Roman" panose="02020603050405020304" pitchFamily="18" charset="0"/>
              </a:rPr>
              <a:t>head</a:t>
            </a:r>
            <a:r>
              <a:rPr lang="en-US" altLang="en-US" sz="2000" dirty="0">
                <a:solidFill>
                  <a:schemeClr val="tx1"/>
                </a:solidFill>
                <a:latin typeface="Times New Roman" panose="02020603050405020304" pitchFamily="18" charset="0"/>
                <a:cs typeface="Times New Roman" panose="02020603050405020304" pitchFamily="18" charset="0"/>
              </a:rPr>
              <a:t> is </a:t>
            </a:r>
            <a:r>
              <a:rPr lang="en-US" altLang="en-US" sz="2000" b="1" dirty="0">
                <a:solidFill>
                  <a:schemeClr val="tx1"/>
                </a:solidFill>
                <a:latin typeface="Times New Roman" panose="02020603050405020304" pitchFamily="18" charset="0"/>
                <a:cs typeface="Times New Roman" panose="02020603050405020304" pitchFamily="18" charset="0"/>
              </a:rPr>
              <a:t>None</a:t>
            </a:r>
            <a:r>
              <a:rPr lang="en-US" altLang="en-US" sz="2000" dirty="0">
                <a:solidFill>
                  <a:schemeClr val="tx1"/>
                </a:solidFill>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Make the head point to the new node.</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This means the queue now has only one element.</a:t>
            </a: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350144" y="3265384"/>
            <a:ext cx="678460" cy="31233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400800" y="3044316"/>
            <a:ext cx="4145377" cy="76568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6956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4C8615A-B35A-44E1-9668-6167DB99243D}"/>
              </a:ext>
            </a:extLst>
          </p:cNvPr>
          <p:cNvSpPr/>
          <p:nvPr/>
        </p:nvSpPr>
        <p:spPr>
          <a:xfrm>
            <a:off x="6096000" y="1898814"/>
            <a:ext cx="6096000" cy="4115422"/>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enqueue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queue</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node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new_node</a:t>
            </a:r>
            <a:r>
              <a:rPr lang="en-US" sz="1600" dirty="0">
                <a:solidFill>
                  <a:srgbClr val="000000"/>
                </a:solidFill>
                <a:latin typeface="Consolas" panose="020B0609020204030204" pitchFamily="49" charset="0"/>
              </a:rPr>
              <a:t> = </a:t>
            </a:r>
            <a:r>
              <a:rPr lang="en-US" sz="1600" dirty="0" err="1">
                <a:solidFill>
                  <a:srgbClr val="2B91AF"/>
                </a:solidFill>
                <a:latin typeface="Consolas" panose="020B0609020204030204" pitchFamily="49" charset="0"/>
              </a:rPr>
              <a:t>QueueNode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node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is_empty</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 </a:t>
            </a:r>
            <a:r>
              <a:rPr lang="en-US" sz="1600" dirty="0" err="1">
                <a:solidFill>
                  <a:srgbClr val="1F377F"/>
                </a:solidFill>
                <a:latin typeface="Consolas" panose="020B0609020204030204" pitchFamily="49" charset="0"/>
              </a:rPr>
              <a:t>new_node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else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.tail.nextPtr</a:t>
            </a:r>
            <a:r>
              <a:rPr lang="en-US" sz="1600" dirty="0">
                <a:solidFill>
                  <a:srgbClr val="000000"/>
                </a:solidFill>
                <a:latin typeface="Consolas" panose="020B0609020204030204" pitchFamily="49" charset="0"/>
              </a:rPr>
              <a:t> = </a:t>
            </a:r>
            <a:r>
              <a:rPr lang="en-US" sz="1600" dirty="0" err="1">
                <a:solidFill>
                  <a:srgbClr val="1F377F"/>
                </a:solidFill>
                <a:latin typeface="Consolas" panose="020B0609020204030204" pitchFamily="49" charset="0"/>
              </a:rPr>
              <a:t>new_node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.tail</a:t>
            </a:r>
            <a:r>
              <a:rPr lang="en-US" sz="1600" dirty="0">
                <a:solidFill>
                  <a:srgbClr val="000000"/>
                </a:solidFill>
                <a:latin typeface="Consolas" panose="020B0609020204030204" pitchFamily="49" charset="0"/>
              </a:rPr>
              <a:t> = </a:t>
            </a:r>
            <a:r>
              <a:rPr lang="en-US" sz="1600" dirty="0" err="1">
                <a:solidFill>
                  <a:srgbClr val="1F377F"/>
                </a:solidFill>
                <a:latin typeface="Consolas" panose="020B0609020204030204" pitchFamily="49" charset="0"/>
              </a:rPr>
              <a:t>new_node</a:t>
            </a:r>
            <a:endParaRPr lang="en-US" sz="1600" dirty="0">
              <a:solidFill>
                <a:srgbClr val="000000"/>
              </a:solidFill>
              <a:latin typeface="Consolas" panose="020B0609020204030204" pitchFamily="49" charset="0"/>
            </a:endParaRPr>
          </a:p>
          <a:p>
            <a:pPr>
              <a:lnSpc>
                <a:spcPct val="150000"/>
              </a:lnSpc>
            </a:pPr>
            <a:br>
              <a:rPr lang="en-US" sz="1600" dirty="0">
                <a:solidFill>
                  <a:srgbClr val="000000"/>
                </a:solidFill>
                <a:latin typeface="Consolas" panose="020B0609020204030204" pitchFamily="49" charset="0"/>
              </a:rPr>
            </a:b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enqueue(queue, node)</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930994" y="2837697"/>
            <a:ext cx="4161424" cy="2862322"/>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If the queue is not empty</a:t>
            </a:r>
            <a:br>
              <a:rPr lang="en-US" altLang="en-US" sz="2000" b="1" dirty="0">
                <a:solidFill>
                  <a:schemeClr val="tx1"/>
                </a:solidFill>
                <a:latin typeface="Times New Roman" panose="02020603050405020304" pitchFamily="18" charset="0"/>
                <a:cs typeface="Times New Roman" panose="02020603050405020304" pitchFamily="18" charset="0"/>
              </a:rPr>
            </a:br>
            <a:endParaRPr kumimoji="0" lang="en-US" altLang="en-US" sz="2000" b="1"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If the queue already has elements:</a:t>
            </a:r>
          </a:p>
          <a:p>
            <a:pPr lvl="0" eaLnBrk="0" fontAlgn="base" hangingPunct="0">
              <a:spcBef>
                <a:spcPct val="0"/>
              </a:spcBef>
              <a:spcAft>
                <a:spcPct val="0"/>
              </a:spcAft>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The current last node (tail) should point to the new node.</a:t>
            </a:r>
            <a:br>
              <a:rPr lang="en-US" altLang="en-US" sz="2000" dirty="0">
                <a:solidFill>
                  <a:schemeClr val="tx1"/>
                </a:solidFill>
                <a:latin typeface="Times New Roman" panose="02020603050405020304" pitchFamily="18" charset="0"/>
                <a:cs typeface="Times New Roman" panose="02020603050405020304" pitchFamily="18" charset="0"/>
              </a:rPr>
            </a:b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This “links” the new node at the end of the queue.</a:t>
            </a: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417540" y="3956525"/>
            <a:ext cx="678460" cy="31233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477000" y="3732531"/>
            <a:ext cx="4145377" cy="83946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45342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4C8615A-B35A-44E1-9668-6167DB99243D}"/>
              </a:ext>
            </a:extLst>
          </p:cNvPr>
          <p:cNvSpPr/>
          <p:nvPr/>
        </p:nvSpPr>
        <p:spPr>
          <a:xfrm>
            <a:off x="6096000" y="1898814"/>
            <a:ext cx="6096000" cy="4115422"/>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enqueue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queue</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node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new_node</a:t>
            </a:r>
            <a:r>
              <a:rPr lang="en-US" sz="1600" dirty="0">
                <a:solidFill>
                  <a:srgbClr val="000000"/>
                </a:solidFill>
                <a:latin typeface="Consolas" panose="020B0609020204030204" pitchFamily="49" charset="0"/>
              </a:rPr>
              <a:t> = </a:t>
            </a:r>
            <a:r>
              <a:rPr lang="en-US" sz="1600" dirty="0" err="1">
                <a:solidFill>
                  <a:srgbClr val="2B91AF"/>
                </a:solidFill>
                <a:latin typeface="Consolas" panose="020B0609020204030204" pitchFamily="49" charset="0"/>
              </a:rPr>
              <a:t>QueueNode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node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is_empty</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 </a:t>
            </a:r>
            <a:r>
              <a:rPr lang="en-US" sz="1600" dirty="0" err="1">
                <a:solidFill>
                  <a:srgbClr val="1F377F"/>
                </a:solidFill>
                <a:latin typeface="Consolas" panose="020B0609020204030204" pitchFamily="49" charset="0"/>
              </a:rPr>
              <a:t>new_node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else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.tail.nextPtr</a:t>
            </a:r>
            <a:r>
              <a:rPr lang="en-US" sz="1600" dirty="0">
                <a:solidFill>
                  <a:srgbClr val="000000"/>
                </a:solidFill>
                <a:latin typeface="Consolas" panose="020B0609020204030204" pitchFamily="49" charset="0"/>
              </a:rPr>
              <a:t> = </a:t>
            </a:r>
            <a:r>
              <a:rPr lang="en-US" sz="1600" dirty="0" err="1">
                <a:solidFill>
                  <a:srgbClr val="1F377F"/>
                </a:solidFill>
                <a:latin typeface="Consolas" panose="020B0609020204030204" pitchFamily="49" charset="0"/>
              </a:rPr>
              <a:t>new_node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.tail</a:t>
            </a:r>
            <a:r>
              <a:rPr lang="en-US" sz="1600" dirty="0">
                <a:solidFill>
                  <a:srgbClr val="000000"/>
                </a:solidFill>
                <a:latin typeface="Consolas" panose="020B0609020204030204" pitchFamily="49" charset="0"/>
              </a:rPr>
              <a:t> = </a:t>
            </a:r>
            <a:r>
              <a:rPr lang="en-US" sz="1600" dirty="0" err="1">
                <a:solidFill>
                  <a:srgbClr val="1F377F"/>
                </a:solidFill>
                <a:latin typeface="Consolas" panose="020B0609020204030204" pitchFamily="49" charset="0"/>
              </a:rPr>
              <a:t>new_node</a:t>
            </a:r>
            <a:endParaRPr lang="en-US" sz="1600" dirty="0">
              <a:solidFill>
                <a:srgbClr val="000000"/>
              </a:solidFill>
              <a:latin typeface="Consolas" panose="020B0609020204030204" pitchFamily="49" charset="0"/>
            </a:endParaRPr>
          </a:p>
          <a:p>
            <a:pPr>
              <a:lnSpc>
                <a:spcPct val="150000"/>
              </a:lnSpc>
            </a:pPr>
            <a:br>
              <a:rPr lang="en-US" sz="1600" dirty="0">
                <a:solidFill>
                  <a:srgbClr val="000000"/>
                </a:solidFill>
                <a:latin typeface="Consolas" panose="020B0609020204030204" pitchFamily="49" charset="0"/>
              </a:rPr>
            </a:b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enqueue(queue, node)</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914400" y="2971800"/>
            <a:ext cx="4161424" cy="3170099"/>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Update the tail pointer</a:t>
            </a:r>
            <a:br>
              <a:rPr lang="en-US" altLang="en-US" sz="2000" b="1" dirty="0">
                <a:solidFill>
                  <a:schemeClr val="tx1"/>
                </a:solidFill>
                <a:latin typeface="Times New Roman" panose="02020603050405020304" pitchFamily="18" charset="0"/>
                <a:cs typeface="Times New Roman" panose="02020603050405020304" pitchFamily="18" charset="0"/>
              </a:rPr>
            </a:br>
            <a:endParaRPr kumimoji="0" lang="en-US" altLang="en-US" sz="2000" b="1"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Regardless of whether the queue was empty or not,</a:t>
            </a:r>
          </a:p>
          <a:p>
            <a:pPr lvl="0" eaLnBrk="0" fontAlgn="base" hangingPunct="0">
              <a:spcBef>
                <a:spcPct val="0"/>
              </a:spcBef>
              <a:spcAft>
                <a:spcPct val="0"/>
              </a:spcAft>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The new node is now the last element.</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So </a:t>
            </a:r>
            <a:r>
              <a:rPr lang="en-US" altLang="en-US" sz="2000" b="1" dirty="0" err="1">
                <a:solidFill>
                  <a:schemeClr val="tx1"/>
                </a:solidFill>
                <a:latin typeface="Times New Roman" panose="02020603050405020304" pitchFamily="18" charset="0"/>
                <a:cs typeface="Times New Roman" panose="02020603050405020304" pitchFamily="18" charset="0"/>
              </a:rPr>
              <a:t>queue.tail</a:t>
            </a:r>
            <a:r>
              <a:rPr lang="en-US" altLang="en-US" sz="2000" b="1" dirty="0">
                <a:solidFill>
                  <a:schemeClr val="tx1"/>
                </a:solidFill>
                <a:latin typeface="Times New Roman" panose="02020603050405020304" pitchFamily="18" charset="0"/>
                <a:cs typeface="Times New Roman" panose="02020603050405020304" pitchFamily="18" charset="0"/>
              </a:rPr>
              <a:t> </a:t>
            </a:r>
            <a:r>
              <a:rPr lang="en-US" altLang="en-US" sz="2000" dirty="0">
                <a:solidFill>
                  <a:schemeClr val="tx1"/>
                </a:solidFill>
                <a:latin typeface="Times New Roman" panose="02020603050405020304" pitchFamily="18" charset="0"/>
                <a:cs typeface="Times New Roman" panose="02020603050405020304" pitchFamily="18" charset="0"/>
              </a:rPr>
              <a:t>is updated to point to it.</a:t>
            </a: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397218" y="4909659"/>
            <a:ext cx="678460" cy="31233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400800" y="4724400"/>
            <a:ext cx="4145377" cy="83946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04103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6CDAFA-2A9B-47DF-AC91-C953A3D0FEB1}"/>
              </a:ext>
            </a:extLst>
          </p:cNvPr>
          <p:cNvSpPr/>
          <p:nvPr/>
        </p:nvSpPr>
        <p:spPr>
          <a:xfrm>
            <a:off x="5877559" y="1694555"/>
            <a:ext cx="6096000" cy="3376758"/>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dequeue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queue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node</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.head.data</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.head.nextPtr</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 If the queue becomes empty</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.tail</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None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node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dequeue(queue)</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882058" y="1939841"/>
            <a:ext cx="4161424" cy="1938992"/>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Check if the queue is empty</a:t>
            </a:r>
            <a:br>
              <a:rPr lang="en-US" altLang="en-US" sz="2000" b="1" dirty="0">
                <a:solidFill>
                  <a:schemeClr val="tx1"/>
                </a:solidFill>
                <a:latin typeface="Times New Roman" panose="02020603050405020304" pitchFamily="18" charset="0"/>
                <a:cs typeface="Times New Roman" panose="02020603050405020304" pitchFamily="18" charset="0"/>
              </a:rPr>
            </a:br>
            <a:endParaRPr kumimoji="0" lang="en-US" altLang="en-US" sz="2000" b="1"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If </a:t>
            </a:r>
            <a:r>
              <a:rPr lang="en-US" altLang="en-US" sz="2000" b="1" dirty="0">
                <a:solidFill>
                  <a:schemeClr val="tx1"/>
                </a:solidFill>
                <a:latin typeface="Times New Roman" panose="02020603050405020304" pitchFamily="18" charset="0"/>
                <a:cs typeface="Times New Roman" panose="02020603050405020304" pitchFamily="18" charset="0"/>
              </a:rPr>
              <a:t>head</a:t>
            </a:r>
            <a:r>
              <a:rPr lang="en-US" altLang="en-US" sz="2000" dirty="0">
                <a:solidFill>
                  <a:schemeClr val="tx1"/>
                </a:solidFill>
                <a:latin typeface="Times New Roman" panose="02020603050405020304" pitchFamily="18" charset="0"/>
                <a:cs typeface="Times New Roman" panose="02020603050405020304" pitchFamily="18" charset="0"/>
              </a:rPr>
              <a:t> is </a:t>
            </a:r>
            <a:r>
              <a:rPr lang="en-US" altLang="en-US" sz="2000" b="1" dirty="0">
                <a:solidFill>
                  <a:schemeClr val="tx1"/>
                </a:solidFill>
                <a:latin typeface="Times New Roman" panose="02020603050405020304" pitchFamily="18" charset="0"/>
                <a:cs typeface="Times New Roman" panose="02020603050405020304" pitchFamily="18" charset="0"/>
              </a:rPr>
              <a:t>None</a:t>
            </a:r>
            <a:r>
              <a:rPr lang="en-US" altLang="en-US" sz="2000" dirty="0">
                <a:solidFill>
                  <a:schemeClr val="tx1"/>
                </a:solidFill>
                <a:latin typeface="Times New Roman" panose="02020603050405020304" pitchFamily="18" charset="0"/>
                <a:cs typeface="Times New Roman" panose="02020603050405020304" pitchFamily="18" charset="0"/>
              </a:rPr>
              <a:t>, the queue is empty.</a:t>
            </a:r>
          </a:p>
          <a:p>
            <a:pPr lvl="0" eaLnBrk="0" fontAlgn="base" hangingPunct="0">
              <a:spcBef>
                <a:spcPct val="0"/>
              </a:spcBef>
              <a:spcAft>
                <a:spcPct val="0"/>
              </a:spcAft>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In that case, we skip to the last line and return None (</a:t>
            </a:r>
            <a:r>
              <a:rPr lang="en-US" altLang="en-US" sz="2000" b="1" dirty="0">
                <a:solidFill>
                  <a:schemeClr val="tx1"/>
                </a:solidFill>
                <a:latin typeface="Times New Roman" panose="02020603050405020304" pitchFamily="18" charset="0"/>
                <a:cs typeface="Times New Roman" panose="02020603050405020304" pitchFamily="18" charset="0"/>
              </a:rPr>
              <a:t>nothing to remove</a:t>
            </a:r>
            <a:r>
              <a:rPr lang="en-US" altLang="en-US" sz="2000" dirty="0">
                <a:solidFill>
                  <a:schemeClr val="tx1"/>
                </a:solidFill>
                <a:latin typeface="Times New Roman" panose="02020603050405020304" pitchFamily="18" charset="0"/>
                <a:cs typeface="Times New Roman" panose="02020603050405020304" pitchFamily="18" charset="0"/>
              </a:rPr>
              <a:t>).</a:t>
            </a: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137462" y="2206032"/>
            <a:ext cx="678460" cy="31233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065520" y="2133599"/>
            <a:ext cx="4145377" cy="45720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63314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6CDAFA-2A9B-47DF-AC91-C953A3D0FEB1}"/>
              </a:ext>
            </a:extLst>
          </p:cNvPr>
          <p:cNvSpPr/>
          <p:nvPr/>
        </p:nvSpPr>
        <p:spPr>
          <a:xfrm>
            <a:off x="5877559" y="1694555"/>
            <a:ext cx="6096000" cy="3376758"/>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dequeue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queue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node</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.head.data</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.head.nextPtr</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 If the queue becomes empty</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.tail</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None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node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dequeue(queue)</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914400" y="2305615"/>
            <a:ext cx="4161424" cy="2246769"/>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Store the data of the head node</a:t>
            </a:r>
            <a:br>
              <a:rPr lang="en-US" altLang="en-US" sz="2000" b="1" dirty="0">
                <a:solidFill>
                  <a:schemeClr val="tx1"/>
                </a:solidFill>
                <a:latin typeface="Times New Roman" panose="02020603050405020304" pitchFamily="18" charset="0"/>
                <a:cs typeface="Times New Roman" panose="02020603050405020304" pitchFamily="18" charset="0"/>
              </a:rPr>
            </a:br>
            <a:endParaRPr kumimoji="0" lang="en-US" altLang="en-US" sz="2000" b="1"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The element at the front of the queue (the head) is what we need to dequeue.</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Save its </a:t>
            </a:r>
            <a:r>
              <a:rPr lang="en-US" altLang="en-US" sz="2000" b="1" dirty="0">
                <a:solidFill>
                  <a:schemeClr val="tx1"/>
                </a:solidFill>
                <a:latin typeface="Times New Roman" panose="02020603050405020304" pitchFamily="18" charset="0"/>
                <a:cs typeface="Times New Roman" panose="02020603050405020304" pitchFamily="18" charset="0"/>
              </a:rPr>
              <a:t>data</a:t>
            </a:r>
            <a:r>
              <a:rPr lang="en-US" altLang="en-US" sz="2000" dirty="0">
                <a:solidFill>
                  <a:schemeClr val="tx1"/>
                </a:solidFill>
                <a:latin typeface="Times New Roman" panose="02020603050405020304" pitchFamily="18" charset="0"/>
                <a:cs typeface="Times New Roman" panose="02020603050405020304" pitchFamily="18" charset="0"/>
              </a:rPr>
              <a:t> in </a:t>
            </a:r>
            <a:r>
              <a:rPr lang="en-US" altLang="en-US" sz="2000" b="1" dirty="0">
                <a:solidFill>
                  <a:schemeClr val="tx1"/>
                </a:solidFill>
                <a:latin typeface="Times New Roman" panose="02020603050405020304" pitchFamily="18" charset="0"/>
                <a:cs typeface="Times New Roman" panose="02020603050405020304" pitchFamily="18" charset="0"/>
              </a:rPr>
              <a:t>node</a:t>
            </a:r>
            <a:r>
              <a:rPr lang="en-US" altLang="en-US" sz="2000" dirty="0">
                <a:solidFill>
                  <a:schemeClr val="tx1"/>
                </a:solidFill>
                <a:latin typeface="Times New Roman" panose="02020603050405020304" pitchFamily="18" charset="0"/>
                <a:cs typeface="Times New Roman" panose="02020603050405020304" pitchFamily="18" charset="0"/>
              </a:rPr>
              <a:t>.</a:t>
            </a: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394810" y="2577744"/>
            <a:ext cx="678460" cy="31233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324600" y="2505311"/>
            <a:ext cx="4145377" cy="45720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78575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6CDAFA-2A9B-47DF-AC91-C953A3D0FEB1}"/>
              </a:ext>
            </a:extLst>
          </p:cNvPr>
          <p:cNvSpPr/>
          <p:nvPr/>
        </p:nvSpPr>
        <p:spPr>
          <a:xfrm>
            <a:off x="5877559" y="1694555"/>
            <a:ext cx="6096000" cy="3376758"/>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dequeue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queue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node</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.head.data</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.head.nextPtr</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 If the queue becomes empty</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.tail</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None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node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dequeue(queue)</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929641" y="2613123"/>
            <a:ext cx="4161424" cy="1323439"/>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Move the head to the next node</a:t>
            </a:r>
            <a:br>
              <a:rPr lang="en-US" altLang="en-US" sz="2000" b="1" dirty="0">
                <a:solidFill>
                  <a:schemeClr val="tx1"/>
                </a:solidFill>
                <a:latin typeface="Times New Roman" panose="02020603050405020304" pitchFamily="18" charset="0"/>
                <a:cs typeface="Times New Roman" panose="02020603050405020304" pitchFamily="18" charset="0"/>
              </a:rPr>
            </a:br>
            <a:endParaRPr kumimoji="0" lang="en-US" altLang="en-US" sz="2000" b="1"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Removes the front node by making </a:t>
            </a:r>
            <a:r>
              <a:rPr lang="en-US" altLang="en-US" sz="2000" b="1" dirty="0">
                <a:solidFill>
                  <a:schemeClr val="tx1"/>
                </a:solidFill>
                <a:latin typeface="Times New Roman" panose="02020603050405020304" pitchFamily="18" charset="0"/>
                <a:cs typeface="Times New Roman" panose="02020603050405020304" pitchFamily="18" charset="0"/>
              </a:rPr>
              <a:t>head</a:t>
            </a:r>
            <a:r>
              <a:rPr lang="en-US" altLang="en-US" sz="2000" dirty="0">
                <a:solidFill>
                  <a:schemeClr val="tx1"/>
                </a:solidFill>
                <a:latin typeface="Times New Roman" panose="02020603050405020304" pitchFamily="18" charset="0"/>
                <a:cs typeface="Times New Roman" panose="02020603050405020304" pitchFamily="18" charset="0"/>
              </a:rPr>
              <a:t> point to the next node in line.</a:t>
            </a: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476692" y="2962510"/>
            <a:ext cx="678460" cy="31233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556019" y="2890078"/>
            <a:ext cx="4145377" cy="38476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74926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6CDAFA-2A9B-47DF-AC91-C953A3D0FEB1}"/>
              </a:ext>
            </a:extLst>
          </p:cNvPr>
          <p:cNvSpPr/>
          <p:nvPr/>
        </p:nvSpPr>
        <p:spPr>
          <a:xfrm>
            <a:off x="5877559" y="1694555"/>
            <a:ext cx="6096000" cy="3376758"/>
          </a:xfrm>
          <a:prstGeom prst="rect">
            <a:avLst/>
          </a:prstGeom>
        </p:spPr>
        <p:txBody>
          <a:bodyPr wrap="square">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dequeue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queue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node</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.head.data</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.head.nextPtr</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 If the queue becomes empty</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.tail</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None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node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dequeue(queue)</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976811" y="2133600"/>
            <a:ext cx="4161424" cy="3170099"/>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If the queue becomes empty</a:t>
            </a:r>
            <a:br>
              <a:rPr lang="en-US" altLang="en-US" sz="2000" b="1" dirty="0">
                <a:solidFill>
                  <a:schemeClr val="tx1"/>
                </a:solidFill>
                <a:latin typeface="Times New Roman" panose="02020603050405020304" pitchFamily="18" charset="0"/>
                <a:cs typeface="Times New Roman" panose="02020603050405020304" pitchFamily="18" charset="0"/>
              </a:rPr>
            </a:br>
            <a:endParaRPr kumimoji="0" lang="en-US" altLang="en-US" sz="2000" b="1"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After removing the head, if no nodes are left:</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Both </a:t>
            </a:r>
            <a:r>
              <a:rPr lang="en-US" altLang="en-US" sz="2000" b="1" dirty="0">
                <a:solidFill>
                  <a:schemeClr val="tx1"/>
                </a:solidFill>
                <a:latin typeface="Times New Roman" panose="02020603050405020304" pitchFamily="18" charset="0"/>
                <a:cs typeface="Times New Roman" panose="02020603050405020304" pitchFamily="18" charset="0"/>
              </a:rPr>
              <a:t>head</a:t>
            </a:r>
            <a:r>
              <a:rPr lang="en-US" altLang="en-US" sz="2000" dirty="0">
                <a:solidFill>
                  <a:schemeClr val="tx1"/>
                </a:solidFill>
                <a:latin typeface="Times New Roman" panose="02020603050405020304" pitchFamily="18" charset="0"/>
                <a:cs typeface="Times New Roman" panose="02020603050405020304" pitchFamily="18" charset="0"/>
              </a:rPr>
              <a:t> and </a:t>
            </a:r>
            <a:r>
              <a:rPr lang="en-US" altLang="en-US" sz="2000" b="1" dirty="0">
                <a:solidFill>
                  <a:schemeClr val="tx1"/>
                </a:solidFill>
                <a:latin typeface="Times New Roman" panose="02020603050405020304" pitchFamily="18" charset="0"/>
                <a:cs typeface="Times New Roman" panose="02020603050405020304" pitchFamily="18" charset="0"/>
              </a:rPr>
              <a:t>tail</a:t>
            </a:r>
            <a:r>
              <a:rPr lang="en-US" altLang="en-US" sz="2000" dirty="0">
                <a:solidFill>
                  <a:schemeClr val="tx1"/>
                </a:solidFill>
                <a:latin typeface="Times New Roman" panose="02020603050405020304" pitchFamily="18" charset="0"/>
                <a:cs typeface="Times New Roman" panose="02020603050405020304" pitchFamily="18" charset="0"/>
              </a:rPr>
              <a:t> must be set to </a:t>
            </a:r>
            <a:r>
              <a:rPr lang="en-US" altLang="en-US" sz="2000" b="1" dirty="0">
                <a:solidFill>
                  <a:schemeClr val="tx1"/>
                </a:solidFill>
                <a:latin typeface="Times New Roman" panose="02020603050405020304" pitchFamily="18" charset="0"/>
                <a:cs typeface="Times New Roman" panose="02020603050405020304" pitchFamily="18" charset="0"/>
              </a:rPr>
              <a:t>None</a:t>
            </a:r>
            <a:r>
              <a:rPr lang="en-US" altLang="en-US" sz="2000" dirty="0">
                <a:solidFill>
                  <a:schemeClr val="tx1"/>
                </a:solidFill>
                <a:latin typeface="Times New Roman" panose="02020603050405020304" pitchFamily="18" charset="0"/>
                <a:cs typeface="Times New Roman" panose="02020603050405020304" pitchFamily="18" charset="0"/>
              </a:rPr>
              <a:t>.</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This ensures the queue is correctly marked as empty.</a:t>
            </a: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316383" y="3881275"/>
            <a:ext cx="678460" cy="31233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556019" y="3190550"/>
            <a:ext cx="2892781" cy="12290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89795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6CDAFA-2A9B-47DF-AC91-C953A3D0FEB1}"/>
              </a:ext>
            </a:extLst>
          </p:cNvPr>
          <p:cNvSpPr/>
          <p:nvPr/>
        </p:nvSpPr>
        <p:spPr>
          <a:xfrm>
            <a:off x="5877559" y="1694555"/>
            <a:ext cx="6096000" cy="3376758"/>
          </a:xfrm>
          <a:prstGeom prst="rect">
            <a:avLst/>
          </a:prstGeom>
        </p:spPr>
        <p:txBody>
          <a:bodyPr wrap="square">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dequeue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queue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node</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.head.data</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.head.nextPtr</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 If the queue becomes empty</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.tail</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None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node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dequeue(queue)</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961571" y="4125414"/>
            <a:ext cx="4161424" cy="707886"/>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Returns the value of the removed node.</a:t>
            </a: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417540" y="4323191"/>
            <a:ext cx="678460" cy="31233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553200" y="4267200"/>
            <a:ext cx="2892781" cy="38853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4867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6CDAFA-2A9B-47DF-AC91-C953A3D0FEB1}"/>
              </a:ext>
            </a:extLst>
          </p:cNvPr>
          <p:cNvSpPr/>
          <p:nvPr/>
        </p:nvSpPr>
        <p:spPr>
          <a:xfrm>
            <a:off x="5877559" y="1694555"/>
            <a:ext cx="6096000" cy="3376758"/>
          </a:xfrm>
          <a:prstGeom prst="rect">
            <a:avLst/>
          </a:prstGeom>
        </p:spPr>
        <p:txBody>
          <a:bodyPr wrap="square">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dequeue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queue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node</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.head.data</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.head.nextPtr</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 If the queue becomes empty</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queue</a:t>
            </a:r>
            <a:r>
              <a:rPr lang="en-US" sz="1600" dirty="0" err="1">
                <a:solidFill>
                  <a:srgbClr val="000000"/>
                </a:solidFill>
                <a:latin typeface="Consolas" panose="020B0609020204030204" pitchFamily="49" charset="0"/>
              </a:rPr>
              <a:t>.tail</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None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node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dequeue(queue)</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914400" y="4506660"/>
            <a:ext cx="4161424" cy="707886"/>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If no element was there in the first place, return None.</a:t>
            </a: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298659" y="4704437"/>
            <a:ext cx="678460" cy="31233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152783" y="4689154"/>
            <a:ext cx="2892781" cy="38853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72548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C32DE-21C9-45F3-8877-3111AA5F51EB}"/>
              </a:ext>
            </a:extLst>
          </p:cNvPr>
          <p:cNvSpPr/>
          <p:nvPr/>
        </p:nvSpPr>
        <p:spPr>
          <a:xfrm>
            <a:off x="6477000" y="1736344"/>
            <a:ext cx="6096000" cy="3007426"/>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is_empty</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head</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head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endParaRPr lang="en-US" sz="1600" dirty="0">
              <a:solidFill>
                <a:srgbClr val="000000"/>
              </a:solidFill>
              <a:latin typeface="Consolas" panose="020B0609020204030204" pitchFamily="49" charset="0"/>
            </a:endParaRPr>
          </a:p>
          <a:p>
            <a:pPr>
              <a:lnSpc>
                <a:spcPct val="150000"/>
              </a:lnSpc>
            </a:pPr>
            <a:br>
              <a:rPr lang="en-US" sz="1600" dirty="0">
                <a:solidFill>
                  <a:srgbClr val="000000"/>
                </a:solidFill>
                <a:latin typeface="Consolas" panose="020B0609020204030204" pitchFamily="49" charset="0"/>
              </a:rPr>
            </a:b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remove_all</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remove_all</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].left])</a:t>
            </a:r>
          </a:p>
          <a:p>
            <a:pPr>
              <a:lnSpc>
                <a:spcPct val="150000"/>
              </a:lnSpc>
            </a:pP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remove_all</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].right])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del</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4915988" cy="400110"/>
          </a:xfrm>
          <a:prstGeom prst="rect">
            <a:avLst/>
          </a:prstGeom>
        </p:spPr>
        <p:txBody>
          <a:bodyPr wrap="square">
            <a:spAutoFit/>
          </a:bodyPr>
          <a:lstStyle/>
          <a:p>
            <a:pPr marR="0" lvl="0">
              <a:spcBef>
                <a:spcPts val="0"/>
              </a:spcBef>
              <a:spcAft>
                <a:spcPts val="0"/>
              </a:spcAft>
            </a:pPr>
            <a:r>
              <a:rPr lang="en-US" sz="2000" b="1" u="sng" dirty="0" err="1">
                <a:solidFill>
                  <a:srgbClr val="005684"/>
                </a:solidFill>
                <a:latin typeface="Times New Roman" panose="02020603050405020304" pitchFamily="18" charset="0"/>
                <a:ea typeface="Times New Roman" panose="02020603050405020304" pitchFamily="18" charset="0"/>
              </a:rPr>
              <a:t>is_empty</a:t>
            </a:r>
            <a:r>
              <a:rPr lang="en-US" sz="2000" b="1" u="sng" dirty="0">
                <a:solidFill>
                  <a:srgbClr val="005684"/>
                </a:solidFill>
                <a:latin typeface="Times New Roman" panose="02020603050405020304" pitchFamily="18" charset="0"/>
                <a:ea typeface="Times New Roman" panose="02020603050405020304" pitchFamily="18" charset="0"/>
              </a:rPr>
              <a:t>(head)  and  </a:t>
            </a:r>
            <a:r>
              <a:rPr lang="en-US" sz="2000" b="1" u="sng" dirty="0" err="1">
                <a:solidFill>
                  <a:srgbClr val="005684"/>
                </a:solidFill>
                <a:latin typeface="Times New Roman" panose="02020603050405020304" pitchFamily="18" charset="0"/>
                <a:ea typeface="Times New Roman" panose="02020603050405020304" pitchFamily="18" charset="0"/>
              </a:rPr>
              <a:t>remove_all</a:t>
            </a:r>
            <a:r>
              <a:rPr lang="en-US" sz="2000" b="1" u="sng" dirty="0">
                <a:solidFill>
                  <a:srgbClr val="005684"/>
                </a:solidFill>
                <a:latin typeface="Times New Roman" panose="02020603050405020304" pitchFamily="18" charset="0"/>
                <a:ea typeface="Times New Roman" panose="02020603050405020304" pitchFamily="18" charset="0"/>
              </a:rPr>
              <a:t>(</a:t>
            </a:r>
            <a:r>
              <a:rPr lang="en-US" sz="2000" b="1" u="sng" dirty="0" err="1">
                <a:solidFill>
                  <a:srgbClr val="005684"/>
                </a:solidFill>
                <a:latin typeface="Times New Roman" panose="02020603050405020304" pitchFamily="18" charset="0"/>
                <a:ea typeface="Times New Roman" panose="02020603050405020304" pitchFamily="18" charset="0"/>
              </a:rPr>
              <a:t>node_ref</a:t>
            </a:r>
            <a:r>
              <a:rPr lang="en-US" sz="2000" b="1" u="sng" dirty="0">
                <a:solidFill>
                  <a:srgbClr val="005684"/>
                </a:solidFill>
                <a:latin typeface="Times New Roman" panose="02020603050405020304" pitchFamily="18" charset="0"/>
                <a:ea typeface="Times New Roman" panose="02020603050405020304" pitchFamily="18" charset="0"/>
              </a:rPr>
              <a:t>) </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1065616" y="2071795"/>
            <a:ext cx="4161424" cy="3170099"/>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Checks whether the queue is empty</a:t>
            </a:r>
          </a:p>
          <a:p>
            <a:pPr lvl="0" eaLnBrk="0" fontAlgn="base" hangingPunct="0">
              <a:spcBef>
                <a:spcPct val="0"/>
              </a:spcBef>
              <a:spcAft>
                <a:spcPct val="0"/>
              </a:spcAft>
            </a:pPr>
            <a:endParaRPr kumimoji="0" lang="en-US" altLang="en-US" sz="2000" b="1"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A queue is empty if its head pointer is None.</a:t>
            </a:r>
          </a:p>
          <a:p>
            <a:pPr lvl="0" eaLnBrk="0" fontAlgn="base" hangingPunct="0">
              <a:spcBef>
                <a:spcPct val="0"/>
              </a:spcBef>
              <a:spcAft>
                <a:spcPct val="0"/>
              </a:spcAft>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Returns:</a:t>
            </a:r>
          </a:p>
          <a:p>
            <a:pPr lvl="0" eaLnBrk="0" fontAlgn="base" hangingPunct="0">
              <a:spcBef>
                <a:spcPct val="0"/>
              </a:spcBef>
              <a:spcAft>
                <a:spcPct val="0"/>
              </a:spcAft>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True</a:t>
            </a:r>
            <a:r>
              <a:rPr lang="en-US" altLang="en-US" sz="2000" dirty="0">
                <a:solidFill>
                  <a:schemeClr val="tx1"/>
                </a:solidFill>
                <a:latin typeface="Times New Roman" panose="02020603050405020304" pitchFamily="18" charset="0"/>
                <a:cs typeface="Times New Roman" panose="02020603050405020304" pitchFamily="18" charset="0"/>
              </a:rPr>
              <a:t> → queue is empty</a:t>
            </a:r>
          </a:p>
          <a:p>
            <a:pPr lvl="0" eaLnBrk="0" fontAlgn="base" hangingPunct="0">
              <a:spcBef>
                <a:spcPct val="0"/>
              </a:spcBef>
              <a:spcAft>
                <a:spcPct val="0"/>
              </a:spcAft>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False</a:t>
            </a:r>
            <a:r>
              <a:rPr lang="en-US" altLang="en-US" sz="2000" dirty="0">
                <a:solidFill>
                  <a:schemeClr val="tx1"/>
                </a:solidFill>
                <a:latin typeface="Times New Roman" panose="02020603050405020304" pitchFamily="18" charset="0"/>
                <a:cs typeface="Times New Roman" panose="02020603050405020304" pitchFamily="18" charset="0"/>
              </a:rPr>
              <a:t> → queue has at least one node</a:t>
            </a: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417540" y="2227817"/>
            <a:ext cx="678460" cy="31233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858000" y="2207696"/>
            <a:ext cx="2892781" cy="38853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0495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C32DE-21C9-45F3-8877-3111AA5F51EB}"/>
              </a:ext>
            </a:extLst>
          </p:cNvPr>
          <p:cNvSpPr/>
          <p:nvPr/>
        </p:nvSpPr>
        <p:spPr>
          <a:xfrm>
            <a:off x="6477000" y="1736344"/>
            <a:ext cx="6096000" cy="3007426"/>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is_empty</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head</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head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endParaRPr lang="en-US" sz="1600" dirty="0">
              <a:solidFill>
                <a:srgbClr val="000000"/>
              </a:solidFill>
              <a:latin typeface="Consolas" panose="020B0609020204030204" pitchFamily="49" charset="0"/>
            </a:endParaRPr>
          </a:p>
          <a:p>
            <a:pPr>
              <a:lnSpc>
                <a:spcPct val="150000"/>
              </a:lnSpc>
            </a:pPr>
            <a:br>
              <a:rPr lang="en-US" sz="1600" dirty="0">
                <a:solidFill>
                  <a:srgbClr val="000000"/>
                </a:solidFill>
                <a:latin typeface="Consolas" panose="020B0609020204030204" pitchFamily="49" charset="0"/>
              </a:rPr>
            </a:b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remove_all</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remove_all</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].left])</a:t>
            </a:r>
          </a:p>
          <a:p>
            <a:pPr>
              <a:lnSpc>
                <a:spcPct val="150000"/>
              </a:lnSpc>
            </a:pP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remove_all</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].right])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del</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4915988" cy="400110"/>
          </a:xfrm>
          <a:prstGeom prst="rect">
            <a:avLst/>
          </a:prstGeom>
        </p:spPr>
        <p:txBody>
          <a:bodyPr wrap="square">
            <a:spAutoFit/>
          </a:bodyPr>
          <a:lstStyle/>
          <a:p>
            <a:pPr marR="0" lvl="0">
              <a:spcBef>
                <a:spcPts val="0"/>
              </a:spcBef>
              <a:spcAft>
                <a:spcPts val="0"/>
              </a:spcAft>
            </a:pPr>
            <a:r>
              <a:rPr lang="en-US" sz="2000" b="1" u="sng" dirty="0" err="1">
                <a:solidFill>
                  <a:srgbClr val="005684"/>
                </a:solidFill>
                <a:latin typeface="Times New Roman" panose="02020603050405020304" pitchFamily="18" charset="0"/>
                <a:ea typeface="Times New Roman" panose="02020603050405020304" pitchFamily="18" charset="0"/>
              </a:rPr>
              <a:t>is_empty</a:t>
            </a:r>
            <a:r>
              <a:rPr lang="en-US" sz="2000" b="1" u="sng" dirty="0">
                <a:solidFill>
                  <a:srgbClr val="005684"/>
                </a:solidFill>
                <a:latin typeface="Times New Roman" panose="02020603050405020304" pitchFamily="18" charset="0"/>
                <a:ea typeface="Times New Roman" panose="02020603050405020304" pitchFamily="18" charset="0"/>
              </a:rPr>
              <a:t>(head)  and  </a:t>
            </a:r>
            <a:r>
              <a:rPr lang="en-US" sz="2000" b="1" u="sng" dirty="0" err="1">
                <a:solidFill>
                  <a:srgbClr val="005684"/>
                </a:solidFill>
                <a:latin typeface="Times New Roman" panose="02020603050405020304" pitchFamily="18" charset="0"/>
                <a:ea typeface="Times New Roman" panose="02020603050405020304" pitchFamily="18" charset="0"/>
              </a:rPr>
              <a:t>remove_all</a:t>
            </a:r>
            <a:r>
              <a:rPr lang="en-US" sz="2000" b="1" u="sng" dirty="0">
                <a:solidFill>
                  <a:srgbClr val="005684"/>
                </a:solidFill>
                <a:latin typeface="Times New Roman" panose="02020603050405020304" pitchFamily="18" charset="0"/>
                <a:ea typeface="Times New Roman" panose="02020603050405020304" pitchFamily="18" charset="0"/>
              </a:rPr>
              <a:t>(</a:t>
            </a:r>
            <a:r>
              <a:rPr lang="en-US" sz="2000" b="1" u="sng" dirty="0" err="1">
                <a:solidFill>
                  <a:srgbClr val="005684"/>
                </a:solidFill>
                <a:latin typeface="Times New Roman" panose="02020603050405020304" pitchFamily="18" charset="0"/>
                <a:ea typeface="Times New Roman" panose="02020603050405020304" pitchFamily="18" charset="0"/>
              </a:rPr>
              <a:t>node_ref</a:t>
            </a:r>
            <a:r>
              <a:rPr lang="en-US" sz="2000" b="1" u="sng" dirty="0">
                <a:solidFill>
                  <a:srgbClr val="005684"/>
                </a:solidFill>
                <a:latin typeface="Times New Roman" panose="02020603050405020304" pitchFamily="18" charset="0"/>
                <a:ea typeface="Times New Roman" panose="02020603050405020304" pitchFamily="18" charset="0"/>
              </a:rPr>
              <a:t>) </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1188666" y="2454529"/>
            <a:ext cx="4161424" cy="2554545"/>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Base Case</a:t>
            </a:r>
          </a:p>
          <a:p>
            <a:pPr lvl="0" eaLnBrk="0" fontAlgn="base" hangingPunct="0">
              <a:spcBef>
                <a:spcPct val="0"/>
              </a:spcBef>
              <a:spcAft>
                <a:spcPct val="0"/>
              </a:spcAft>
            </a:pPr>
            <a:endParaRPr lang="en-US" altLang="en-US" sz="2000" b="1"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The recursion stops when </a:t>
            </a:r>
            <a:r>
              <a:rPr lang="en-US" altLang="en-US" sz="2000" b="1" dirty="0" err="1">
                <a:solidFill>
                  <a:schemeClr val="tx1"/>
                </a:solidFill>
                <a:latin typeface="Times New Roman" panose="02020603050405020304" pitchFamily="18" charset="0"/>
                <a:cs typeface="Times New Roman" panose="02020603050405020304" pitchFamily="18" charset="0"/>
              </a:rPr>
              <a:t>node_ref</a:t>
            </a:r>
            <a:r>
              <a:rPr lang="en-US" altLang="en-US" sz="2000" b="1" dirty="0">
                <a:solidFill>
                  <a:schemeClr val="tx1"/>
                </a:solidFill>
                <a:latin typeface="Times New Roman" panose="02020603050405020304" pitchFamily="18" charset="0"/>
                <a:cs typeface="Times New Roman" panose="02020603050405020304" pitchFamily="18" charset="0"/>
              </a:rPr>
              <a:t>[0] is None</a:t>
            </a:r>
          </a:p>
          <a:p>
            <a:pPr lvl="0" eaLnBrk="0" fontAlgn="base" hangingPunct="0">
              <a:spcBef>
                <a:spcPct val="0"/>
              </a:spcBef>
              <a:spcAft>
                <a:spcPct val="0"/>
              </a:spcAft>
            </a:pPr>
            <a:endParaRPr kumimoji="0" lang="en-US" altLang="en-US" sz="2000" b="1"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if the current node does not exist, there’s nothing to delete, so the function returns immediately.</a:t>
            </a: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649810" y="3341807"/>
            <a:ext cx="678460" cy="31233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858000" y="3268311"/>
            <a:ext cx="3429000" cy="38928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83945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C32DE-21C9-45F3-8877-3111AA5F51EB}"/>
              </a:ext>
            </a:extLst>
          </p:cNvPr>
          <p:cNvSpPr/>
          <p:nvPr/>
        </p:nvSpPr>
        <p:spPr>
          <a:xfrm>
            <a:off x="6477000" y="1736344"/>
            <a:ext cx="6096000" cy="3007426"/>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is_empty</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head</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head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endParaRPr lang="en-US" sz="1600" dirty="0">
              <a:solidFill>
                <a:srgbClr val="000000"/>
              </a:solidFill>
              <a:latin typeface="Consolas" panose="020B0609020204030204" pitchFamily="49" charset="0"/>
            </a:endParaRPr>
          </a:p>
          <a:p>
            <a:pPr>
              <a:lnSpc>
                <a:spcPct val="150000"/>
              </a:lnSpc>
            </a:pPr>
            <a:br>
              <a:rPr lang="en-US" sz="1600" dirty="0">
                <a:solidFill>
                  <a:srgbClr val="000000"/>
                </a:solidFill>
                <a:latin typeface="Consolas" panose="020B0609020204030204" pitchFamily="49" charset="0"/>
              </a:rPr>
            </a:b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remove_all</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remove_all</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].left])</a:t>
            </a:r>
          </a:p>
          <a:p>
            <a:pPr>
              <a:lnSpc>
                <a:spcPct val="150000"/>
              </a:lnSpc>
            </a:pP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remove_all</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].right])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del</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4915988" cy="400110"/>
          </a:xfrm>
          <a:prstGeom prst="rect">
            <a:avLst/>
          </a:prstGeom>
        </p:spPr>
        <p:txBody>
          <a:bodyPr wrap="square">
            <a:spAutoFit/>
          </a:bodyPr>
          <a:lstStyle/>
          <a:p>
            <a:pPr marR="0" lvl="0">
              <a:spcBef>
                <a:spcPts val="0"/>
              </a:spcBef>
              <a:spcAft>
                <a:spcPts val="0"/>
              </a:spcAft>
            </a:pPr>
            <a:r>
              <a:rPr lang="en-US" sz="2000" b="1" u="sng" dirty="0" err="1">
                <a:solidFill>
                  <a:srgbClr val="005684"/>
                </a:solidFill>
                <a:latin typeface="Times New Roman" panose="02020603050405020304" pitchFamily="18" charset="0"/>
                <a:ea typeface="Times New Roman" panose="02020603050405020304" pitchFamily="18" charset="0"/>
              </a:rPr>
              <a:t>is_empty</a:t>
            </a:r>
            <a:r>
              <a:rPr lang="en-US" sz="2000" b="1" u="sng" dirty="0">
                <a:solidFill>
                  <a:srgbClr val="005684"/>
                </a:solidFill>
                <a:latin typeface="Times New Roman" panose="02020603050405020304" pitchFamily="18" charset="0"/>
                <a:ea typeface="Times New Roman" panose="02020603050405020304" pitchFamily="18" charset="0"/>
              </a:rPr>
              <a:t>(head)  and  </a:t>
            </a:r>
            <a:r>
              <a:rPr lang="en-US" sz="2000" b="1" u="sng" dirty="0" err="1">
                <a:solidFill>
                  <a:srgbClr val="005684"/>
                </a:solidFill>
                <a:latin typeface="Times New Roman" panose="02020603050405020304" pitchFamily="18" charset="0"/>
                <a:ea typeface="Times New Roman" panose="02020603050405020304" pitchFamily="18" charset="0"/>
              </a:rPr>
              <a:t>remove_all</a:t>
            </a:r>
            <a:r>
              <a:rPr lang="en-US" sz="2000" b="1" u="sng" dirty="0">
                <a:solidFill>
                  <a:srgbClr val="005684"/>
                </a:solidFill>
                <a:latin typeface="Times New Roman" panose="02020603050405020304" pitchFamily="18" charset="0"/>
                <a:ea typeface="Times New Roman" panose="02020603050405020304" pitchFamily="18" charset="0"/>
              </a:rPr>
              <a:t>(</a:t>
            </a:r>
            <a:r>
              <a:rPr lang="en-US" sz="2000" b="1" u="sng" dirty="0" err="1">
                <a:solidFill>
                  <a:srgbClr val="005684"/>
                </a:solidFill>
                <a:latin typeface="Times New Roman" panose="02020603050405020304" pitchFamily="18" charset="0"/>
                <a:ea typeface="Times New Roman" panose="02020603050405020304" pitchFamily="18" charset="0"/>
              </a:rPr>
              <a:t>node_ref</a:t>
            </a:r>
            <a:r>
              <a:rPr lang="en-US" sz="2000" b="1" u="sng" dirty="0">
                <a:solidFill>
                  <a:srgbClr val="005684"/>
                </a:solidFill>
                <a:latin typeface="Times New Roman" panose="02020603050405020304" pitchFamily="18" charset="0"/>
                <a:ea typeface="Times New Roman" panose="02020603050405020304" pitchFamily="18" charset="0"/>
              </a:rPr>
              <a:t>) </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1188667" y="3612581"/>
            <a:ext cx="4161424" cy="707886"/>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Calls </a:t>
            </a:r>
            <a:r>
              <a:rPr lang="en-US" altLang="en-US" sz="2000" b="1" dirty="0" err="1">
                <a:solidFill>
                  <a:schemeClr val="tx1"/>
                </a:solidFill>
                <a:latin typeface="Times New Roman" panose="02020603050405020304" pitchFamily="18" charset="0"/>
                <a:cs typeface="Times New Roman" panose="02020603050405020304" pitchFamily="18" charset="0"/>
              </a:rPr>
              <a:t>remove_all</a:t>
            </a:r>
            <a:r>
              <a:rPr lang="en-US" altLang="en-US" sz="2000" b="1" dirty="0">
                <a:solidFill>
                  <a:schemeClr val="tx1"/>
                </a:solidFill>
                <a:latin typeface="Times New Roman" panose="02020603050405020304" pitchFamily="18" charset="0"/>
                <a:cs typeface="Times New Roman" panose="02020603050405020304" pitchFamily="18" charset="0"/>
              </a:rPr>
              <a:t> recursively </a:t>
            </a:r>
            <a:r>
              <a:rPr lang="en-US" altLang="en-US" sz="2000" dirty="0">
                <a:solidFill>
                  <a:schemeClr val="tx1"/>
                </a:solidFill>
                <a:latin typeface="Times New Roman" panose="02020603050405020304" pitchFamily="18" charset="0"/>
                <a:cs typeface="Times New Roman" panose="02020603050405020304" pitchFamily="18" charset="0"/>
              </a:rPr>
              <a:t>on the left child using a new list reference.</a:t>
            </a: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715001" y="3707218"/>
            <a:ext cx="678460" cy="31233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927710" y="3650681"/>
            <a:ext cx="4075623" cy="38792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7989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C32DE-21C9-45F3-8877-3111AA5F51EB}"/>
              </a:ext>
            </a:extLst>
          </p:cNvPr>
          <p:cNvSpPr/>
          <p:nvPr/>
        </p:nvSpPr>
        <p:spPr>
          <a:xfrm>
            <a:off x="6477000" y="1736344"/>
            <a:ext cx="6096000" cy="3007426"/>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is_empty</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head</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head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endParaRPr lang="en-US" sz="1600" dirty="0">
              <a:solidFill>
                <a:srgbClr val="000000"/>
              </a:solidFill>
              <a:latin typeface="Consolas" panose="020B0609020204030204" pitchFamily="49" charset="0"/>
            </a:endParaRPr>
          </a:p>
          <a:p>
            <a:pPr>
              <a:lnSpc>
                <a:spcPct val="150000"/>
              </a:lnSpc>
            </a:pPr>
            <a:br>
              <a:rPr lang="en-US" sz="1600" dirty="0">
                <a:solidFill>
                  <a:srgbClr val="000000"/>
                </a:solidFill>
                <a:latin typeface="Consolas" panose="020B0609020204030204" pitchFamily="49" charset="0"/>
              </a:rPr>
            </a:b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remove_all</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remove_all</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].left])</a:t>
            </a:r>
          </a:p>
          <a:p>
            <a:pPr>
              <a:lnSpc>
                <a:spcPct val="150000"/>
              </a:lnSpc>
            </a:pP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remove_all</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].right])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del</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4915988" cy="400110"/>
          </a:xfrm>
          <a:prstGeom prst="rect">
            <a:avLst/>
          </a:prstGeom>
        </p:spPr>
        <p:txBody>
          <a:bodyPr wrap="square">
            <a:spAutoFit/>
          </a:bodyPr>
          <a:lstStyle/>
          <a:p>
            <a:pPr marR="0" lvl="0">
              <a:spcBef>
                <a:spcPts val="0"/>
              </a:spcBef>
              <a:spcAft>
                <a:spcPts val="0"/>
              </a:spcAft>
            </a:pPr>
            <a:r>
              <a:rPr lang="en-US" sz="2000" b="1" u="sng" dirty="0" err="1">
                <a:solidFill>
                  <a:srgbClr val="005684"/>
                </a:solidFill>
                <a:latin typeface="Times New Roman" panose="02020603050405020304" pitchFamily="18" charset="0"/>
                <a:ea typeface="Times New Roman" panose="02020603050405020304" pitchFamily="18" charset="0"/>
              </a:rPr>
              <a:t>is_empty</a:t>
            </a:r>
            <a:r>
              <a:rPr lang="en-US" sz="2000" b="1" u="sng" dirty="0">
                <a:solidFill>
                  <a:srgbClr val="005684"/>
                </a:solidFill>
                <a:latin typeface="Times New Roman" panose="02020603050405020304" pitchFamily="18" charset="0"/>
                <a:ea typeface="Times New Roman" panose="02020603050405020304" pitchFamily="18" charset="0"/>
              </a:rPr>
              <a:t>(head)  and  </a:t>
            </a:r>
            <a:r>
              <a:rPr lang="en-US" sz="2000" b="1" u="sng" dirty="0" err="1">
                <a:solidFill>
                  <a:srgbClr val="005684"/>
                </a:solidFill>
                <a:latin typeface="Times New Roman" panose="02020603050405020304" pitchFamily="18" charset="0"/>
                <a:ea typeface="Times New Roman" panose="02020603050405020304" pitchFamily="18" charset="0"/>
              </a:rPr>
              <a:t>remove_all</a:t>
            </a:r>
            <a:r>
              <a:rPr lang="en-US" sz="2000" b="1" u="sng" dirty="0">
                <a:solidFill>
                  <a:srgbClr val="005684"/>
                </a:solidFill>
                <a:latin typeface="Times New Roman" panose="02020603050405020304" pitchFamily="18" charset="0"/>
                <a:ea typeface="Times New Roman" panose="02020603050405020304" pitchFamily="18" charset="0"/>
              </a:rPr>
              <a:t>(</a:t>
            </a:r>
            <a:r>
              <a:rPr lang="en-US" sz="2000" b="1" u="sng" dirty="0" err="1">
                <a:solidFill>
                  <a:srgbClr val="005684"/>
                </a:solidFill>
                <a:latin typeface="Times New Roman" panose="02020603050405020304" pitchFamily="18" charset="0"/>
                <a:ea typeface="Times New Roman" panose="02020603050405020304" pitchFamily="18" charset="0"/>
              </a:rPr>
              <a:t>node_ref</a:t>
            </a:r>
            <a:r>
              <a:rPr lang="en-US" sz="2000" b="1" u="sng" dirty="0">
                <a:solidFill>
                  <a:srgbClr val="005684"/>
                </a:solidFill>
                <a:latin typeface="Times New Roman" panose="02020603050405020304" pitchFamily="18" charset="0"/>
                <a:ea typeface="Times New Roman" panose="02020603050405020304" pitchFamily="18" charset="0"/>
              </a:rPr>
              <a:t>) </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1123475" y="3821775"/>
            <a:ext cx="4161424" cy="707886"/>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Calls </a:t>
            </a:r>
            <a:r>
              <a:rPr lang="en-US" altLang="en-US" sz="2000" b="1" dirty="0" err="1">
                <a:solidFill>
                  <a:schemeClr val="tx1"/>
                </a:solidFill>
                <a:latin typeface="Times New Roman" panose="02020603050405020304" pitchFamily="18" charset="0"/>
                <a:cs typeface="Times New Roman" panose="02020603050405020304" pitchFamily="18" charset="0"/>
              </a:rPr>
              <a:t>remove_all</a:t>
            </a:r>
            <a:r>
              <a:rPr lang="en-US" altLang="en-US" sz="2000" b="1" dirty="0">
                <a:solidFill>
                  <a:schemeClr val="tx1"/>
                </a:solidFill>
                <a:latin typeface="Times New Roman" panose="02020603050405020304" pitchFamily="18" charset="0"/>
                <a:cs typeface="Times New Roman" panose="02020603050405020304" pitchFamily="18" charset="0"/>
              </a:rPr>
              <a:t> recursively </a:t>
            </a:r>
            <a:r>
              <a:rPr lang="en-US" altLang="en-US" sz="2000" dirty="0">
                <a:solidFill>
                  <a:schemeClr val="tx1"/>
                </a:solidFill>
                <a:latin typeface="Times New Roman" panose="02020603050405020304" pitchFamily="18" charset="0"/>
                <a:cs typeface="Times New Roman" panose="02020603050405020304" pitchFamily="18" charset="0"/>
              </a:rPr>
              <a:t>on the right child.</a:t>
            </a: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756770" y="4019552"/>
            <a:ext cx="678460" cy="31233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992902" y="4019551"/>
            <a:ext cx="4075623" cy="38792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1452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C32DE-21C9-45F3-8877-3111AA5F51EB}"/>
              </a:ext>
            </a:extLst>
          </p:cNvPr>
          <p:cNvSpPr/>
          <p:nvPr/>
        </p:nvSpPr>
        <p:spPr>
          <a:xfrm>
            <a:off x="6477000" y="1736344"/>
            <a:ext cx="6096000" cy="3007426"/>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is_empty</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head</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head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endParaRPr lang="en-US" sz="1600" dirty="0">
              <a:solidFill>
                <a:srgbClr val="000000"/>
              </a:solidFill>
              <a:latin typeface="Consolas" panose="020B0609020204030204" pitchFamily="49" charset="0"/>
            </a:endParaRPr>
          </a:p>
          <a:p>
            <a:pPr>
              <a:lnSpc>
                <a:spcPct val="150000"/>
              </a:lnSpc>
            </a:pPr>
            <a:br>
              <a:rPr lang="en-US" sz="1600" dirty="0">
                <a:solidFill>
                  <a:srgbClr val="000000"/>
                </a:solidFill>
                <a:latin typeface="Consolas" panose="020B0609020204030204" pitchFamily="49" charset="0"/>
              </a:rPr>
            </a:b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remove_all</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remove_all</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].left])</a:t>
            </a:r>
          </a:p>
          <a:p>
            <a:pPr>
              <a:lnSpc>
                <a:spcPct val="150000"/>
              </a:lnSpc>
            </a:pP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remove_all</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].right])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del</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node_ref</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4915988" cy="400110"/>
          </a:xfrm>
          <a:prstGeom prst="rect">
            <a:avLst/>
          </a:prstGeom>
        </p:spPr>
        <p:txBody>
          <a:bodyPr wrap="square">
            <a:spAutoFit/>
          </a:bodyPr>
          <a:lstStyle/>
          <a:p>
            <a:pPr marR="0" lvl="0">
              <a:spcBef>
                <a:spcPts val="0"/>
              </a:spcBef>
              <a:spcAft>
                <a:spcPts val="0"/>
              </a:spcAft>
            </a:pPr>
            <a:r>
              <a:rPr lang="en-US" sz="2000" b="1" u="sng" dirty="0" err="1">
                <a:solidFill>
                  <a:srgbClr val="005684"/>
                </a:solidFill>
                <a:latin typeface="Times New Roman" panose="02020603050405020304" pitchFamily="18" charset="0"/>
                <a:ea typeface="Times New Roman" panose="02020603050405020304" pitchFamily="18" charset="0"/>
              </a:rPr>
              <a:t>is_empty</a:t>
            </a:r>
            <a:r>
              <a:rPr lang="en-US" sz="2000" b="1" u="sng" dirty="0">
                <a:solidFill>
                  <a:srgbClr val="005684"/>
                </a:solidFill>
                <a:latin typeface="Times New Roman" panose="02020603050405020304" pitchFamily="18" charset="0"/>
                <a:ea typeface="Times New Roman" panose="02020603050405020304" pitchFamily="18" charset="0"/>
              </a:rPr>
              <a:t>(head)  and  </a:t>
            </a:r>
            <a:r>
              <a:rPr lang="en-US" sz="2000" b="1" u="sng" dirty="0" err="1">
                <a:solidFill>
                  <a:srgbClr val="005684"/>
                </a:solidFill>
                <a:latin typeface="Times New Roman" panose="02020603050405020304" pitchFamily="18" charset="0"/>
                <a:ea typeface="Times New Roman" panose="02020603050405020304" pitchFamily="18" charset="0"/>
              </a:rPr>
              <a:t>remove_all</a:t>
            </a:r>
            <a:r>
              <a:rPr lang="en-US" sz="2000" b="1" u="sng" dirty="0">
                <a:solidFill>
                  <a:srgbClr val="005684"/>
                </a:solidFill>
                <a:latin typeface="Times New Roman" panose="02020603050405020304" pitchFamily="18" charset="0"/>
                <a:ea typeface="Times New Roman" panose="02020603050405020304" pitchFamily="18" charset="0"/>
              </a:rPr>
              <a:t>(</a:t>
            </a:r>
            <a:r>
              <a:rPr lang="en-US" sz="2000" b="1" u="sng" dirty="0" err="1">
                <a:solidFill>
                  <a:srgbClr val="005684"/>
                </a:solidFill>
                <a:latin typeface="Times New Roman" panose="02020603050405020304" pitchFamily="18" charset="0"/>
                <a:ea typeface="Times New Roman" panose="02020603050405020304" pitchFamily="18" charset="0"/>
              </a:rPr>
              <a:t>node_ref</a:t>
            </a:r>
            <a:r>
              <a:rPr lang="en-US" sz="2000" b="1" u="sng" dirty="0">
                <a:solidFill>
                  <a:srgbClr val="005684"/>
                </a:solidFill>
                <a:latin typeface="Times New Roman" panose="02020603050405020304" pitchFamily="18" charset="0"/>
                <a:ea typeface="Times New Roman" panose="02020603050405020304" pitchFamily="18" charset="0"/>
              </a:rPr>
              <a:t>) </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1104425" y="4215790"/>
            <a:ext cx="4161424" cy="707886"/>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Removes the reference to the current node, effectively deleting it.</a:t>
            </a:r>
            <a:endParaRPr kumimoji="0" lang="en-US" altLang="en-US" sz="200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838050" y="4375773"/>
            <a:ext cx="678460" cy="31233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7011952" y="4375773"/>
            <a:ext cx="4075623" cy="38792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60703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B4B1E-86AD-99EF-8A57-640C892AFAF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0445E62-1F51-44FB-A9B5-C0BF1672009D}"/>
              </a:ext>
            </a:extLst>
          </p:cNvPr>
          <p:cNvSpPr/>
          <p:nvPr/>
        </p:nvSpPr>
        <p:spPr>
          <a:xfrm>
            <a:off x="6214785" y="1246201"/>
            <a:ext cx="6096000" cy="5592749"/>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levelOrderIterative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root</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 = </a:t>
            </a:r>
            <a:r>
              <a:rPr lang="en-US" sz="1600" dirty="0">
                <a:solidFill>
                  <a:srgbClr val="2B91AF"/>
                </a:solidFill>
                <a:latin typeface="Consolas" panose="020B0609020204030204" pitchFamily="49" charset="0"/>
              </a:rPr>
              <a:t>Queue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a:solidFill>
                  <a:srgbClr val="808080"/>
                </a:solidFill>
                <a:latin typeface="Consolas" panose="020B0609020204030204" pitchFamily="49" charset="0"/>
              </a:rPr>
              <a:t>root</a:t>
            </a:r>
            <a:endParaRPr lang="en-US" sz="1600" dirty="0">
              <a:solidFill>
                <a:srgbClr val="000000"/>
              </a:solidFill>
              <a:latin typeface="Consolas" panose="020B0609020204030204" pitchFamily="49" charset="0"/>
            </a:endParaRPr>
          </a:p>
          <a:p>
            <a:pPr>
              <a:lnSpc>
                <a:spcPct val="150000"/>
              </a:lnSpc>
            </a:pPr>
            <a:br>
              <a:rPr lang="en-US" sz="1600" dirty="0">
                <a:solidFill>
                  <a:srgbClr val="000000"/>
                </a:solidFill>
                <a:latin typeface="Consolas" panose="020B0609020204030204" pitchFamily="49" charset="0"/>
              </a:rPr>
            </a:b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enqueue</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while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is_empty</a:t>
            </a:r>
            <a:r>
              <a:rPr lang="en-US" sz="1600" dirty="0">
                <a:solidFill>
                  <a:srgbClr val="000000"/>
                </a:solidFill>
                <a:latin typeface="Consolas" panose="020B0609020204030204" pitchFamily="49" charset="0"/>
              </a:rPr>
              <a:t>(</a:t>
            </a:r>
            <a:r>
              <a:rPr lang="en-US" sz="1600" dirty="0" err="1">
                <a:solidFill>
                  <a:srgbClr val="1F377F"/>
                </a:solidFill>
                <a:latin typeface="Consolas" panose="020B0609020204030204" pitchFamily="49" charset="0"/>
              </a:rPr>
              <a:t>q</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a:solidFill>
                  <a:srgbClr val="74531F"/>
                </a:solidFill>
                <a:latin typeface="Consolas" panose="020B0609020204030204" pitchFamily="49" charset="0"/>
              </a:rPr>
              <a:t>dequeue</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print</a:t>
            </a:r>
            <a:r>
              <a:rPr lang="en-US" sz="1600" dirty="0">
                <a:solidFill>
                  <a:srgbClr val="000000"/>
                </a:solidFill>
                <a:latin typeface="Consolas" panose="020B0609020204030204" pitchFamily="49" charset="0"/>
              </a:rPr>
              <a:t>(</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.item</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end</a:t>
            </a:r>
            <a:r>
              <a:rPr lang="en-US" sz="1600" dirty="0">
                <a:solidFill>
                  <a:srgbClr val="000000"/>
                </a:solidFill>
                <a:latin typeface="Consolas" panose="020B0609020204030204" pitchFamily="49" charset="0"/>
              </a:rPr>
              <a:t>=</a:t>
            </a:r>
            <a:r>
              <a:rPr lang="en-US" sz="1600" dirty="0">
                <a:solidFill>
                  <a:srgbClr val="E21F1F"/>
                </a:solidFill>
                <a:latin typeface="Consolas" panose="020B0609020204030204" pitchFamily="49" charset="0"/>
              </a:rPr>
              <a:t>'</a:t>
            </a:r>
            <a:r>
              <a:rPr lang="en-US" sz="1600" dirty="0">
                <a:solidFill>
                  <a:srgbClr val="A31515"/>
                </a:solidFill>
                <a:latin typeface="Consolas" panose="020B0609020204030204" pitchFamily="49" charset="0"/>
              </a:rPr>
              <a:t> </a:t>
            </a:r>
            <a:r>
              <a:rPr lang="en-US" sz="1600" dirty="0">
                <a:solidFill>
                  <a:srgbClr val="E21F1F"/>
                </a:solidFill>
                <a:latin typeface="Consolas" panose="020B0609020204030204" pitchFamily="49" charset="0"/>
              </a:rPr>
              <a:t>'</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enqueue</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enqueue</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a:t>
            </a:r>
          </a:p>
          <a:p>
            <a:pPr>
              <a:lnSpc>
                <a:spcPct val="150000"/>
              </a:lnSpc>
            </a:pPr>
            <a:br>
              <a:rPr lang="en-US" sz="1600" dirty="0">
                <a:solidFill>
                  <a:srgbClr val="000000"/>
                </a:solidFill>
                <a:latin typeface="Consolas" panose="020B0609020204030204" pitchFamily="49" charset="0"/>
              </a:rPr>
            </a:br>
            <a:endParaRPr lang="en-US" sz="1600" b="0" dirty="0">
              <a:solidFill>
                <a:srgbClr val="000000"/>
              </a:solidFill>
              <a:effectLst/>
              <a:latin typeface="Consolas" panose="020B0609020204030204" pitchFamily="49" charset="0"/>
            </a:endParaRPr>
          </a:p>
        </p:txBody>
      </p:sp>
      <p:sp>
        <p:nvSpPr>
          <p:cNvPr id="45058" name="Rectangle 2">
            <a:extLst>
              <a:ext uri="{FF2B5EF4-FFF2-40B4-BE49-F238E27FC236}">
                <a16:creationId xmlns:a16="http://schemas.microsoft.com/office/drawing/2014/main" id="{D298BACC-9D88-A51E-B292-B1576F840256}"/>
              </a:ext>
            </a:extLst>
          </p:cNvPr>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2D06EEC8-5154-9B74-D3A3-955C04992167}"/>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D81EC777-AC06-8214-66AC-9C89A50BB2E9}"/>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Answer: </a:t>
            </a:r>
            <a:r>
              <a:rPr lang="en-US" sz="2000" b="1" u="sng" dirty="0" err="1">
                <a:solidFill>
                  <a:srgbClr val="005684"/>
                </a:solidFill>
                <a:latin typeface="Times New Roman" panose="02020603050405020304" pitchFamily="18" charset="0"/>
                <a:ea typeface="Times New Roman" panose="02020603050405020304" pitchFamily="18" charset="0"/>
              </a:rPr>
              <a:t>levelOrderIterative</a:t>
            </a:r>
            <a:r>
              <a:rPr lang="en-US" sz="2000" b="1" u="sng" dirty="0">
                <a:solidFill>
                  <a:srgbClr val="005684"/>
                </a:solidFill>
                <a:latin typeface="Times New Roman" panose="02020603050405020304" pitchFamily="18" charset="0"/>
                <a:ea typeface="Times New Roman" panose="02020603050405020304" pitchFamily="18" charset="0"/>
              </a:rPr>
              <a:t>(root)</a:t>
            </a:r>
          </a:p>
        </p:txBody>
      </p:sp>
      <p:sp>
        <p:nvSpPr>
          <p:cNvPr id="10" name="Rectangle 1">
            <a:extLst>
              <a:ext uri="{FF2B5EF4-FFF2-40B4-BE49-F238E27FC236}">
                <a16:creationId xmlns:a16="http://schemas.microsoft.com/office/drawing/2014/main" id="{7D61D69E-5099-D835-7E3E-C29BF5280C7A}"/>
              </a:ext>
            </a:extLst>
          </p:cNvPr>
          <p:cNvSpPr>
            <a:spLocks noChangeArrowheads="1"/>
          </p:cNvSpPr>
          <p:nvPr/>
        </p:nvSpPr>
        <p:spPr bwMode="auto">
          <a:xfrm>
            <a:off x="1626681" y="2273472"/>
            <a:ext cx="3385711" cy="1938992"/>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q</a:t>
            </a:r>
            <a:r>
              <a:rPr lang="en-US" altLang="en-US" sz="2000" dirty="0">
                <a:solidFill>
                  <a:schemeClr val="tx1"/>
                </a:solidFill>
                <a:latin typeface="Times New Roman" panose="02020603050405020304" pitchFamily="18" charset="0"/>
                <a:cs typeface="Times New Roman" panose="02020603050405020304" pitchFamily="18" charset="0"/>
              </a:rPr>
              <a:t> is a queue object that will store nodes temporarily to process them level by level.</a:t>
            </a:r>
          </a:p>
          <a:p>
            <a:pPr lvl="0" eaLnBrk="0" fontAlgn="base" hangingPunct="0">
              <a:spcBef>
                <a:spcPct val="0"/>
              </a:spcBef>
              <a:spcAft>
                <a:spcPct val="0"/>
              </a:spcAft>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temp</a:t>
            </a:r>
            <a:r>
              <a:rPr lang="en-US" altLang="en-US" sz="2000" dirty="0">
                <a:solidFill>
                  <a:schemeClr val="tx1"/>
                </a:solidFill>
                <a:latin typeface="Times New Roman" panose="02020603050405020304" pitchFamily="18" charset="0"/>
                <a:cs typeface="Times New Roman" panose="02020603050405020304" pitchFamily="18" charset="0"/>
              </a:rPr>
              <a:t> is a temporary pointer used to track the current node.</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63873694-3EB2-E263-D9A5-4338E38B6555}"/>
              </a:ext>
            </a:extLst>
          </p:cNvPr>
          <p:cNvSpPr/>
          <p:nvPr/>
        </p:nvSpPr>
        <p:spPr>
          <a:xfrm rot="20358065">
            <a:off x="5285050" y="2106390"/>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C6F7857-061B-F4EE-5656-4C9C2A12E9A4}"/>
              </a:ext>
            </a:extLst>
          </p:cNvPr>
          <p:cNvSpPr/>
          <p:nvPr/>
        </p:nvSpPr>
        <p:spPr>
          <a:xfrm>
            <a:off x="6524070" y="1666268"/>
            <a:ext cx="2438400" cy="69301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79977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B4B1E-86AD-99EF-8A57-640C892AFAF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0445E62-1F51-44FB-A9B5-C0BF1672009D}"/>
              </a:ext>
            </a:extLst>
          </p:cNvPr>
          <p:cNvSpPr/>
          <p:nvPr/>
        </p:nvSpPr>
        <p:spPr>
          <a:xfrm>
            <a:off x="6214785" y="1246201"/>
            <a:ext cx="6096000" cy="5592749"/>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levelOrderIterative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root</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 = </a:t>
            </a:r>
            <a:r>
              <a:rPr lang="en-US" sz="1600" dirty="0">
                <a:solidFill>
                  <a:srgbClr val="2B91AF"/>
                </a:solidFill>
                <a:latin typeface="Consolas" panose="020B0609020204030204" pitchFamily="49" charset="0"/>
              </a:rPr>
              <a:t>Queue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a:solidFill>
                  <a:srgbClr val="808080"/>
                </a:solidFill>
                <a:latin typeface="Consolas" panose="020B0609020204030204" pitchFamily="49" charset="0"/>
              </a:rPr>
              <a:t>root</a:t>
            </a:r>
            <a:endParaRPr lang="en-US" sz="1600" dirty="0">
              <a:solidFill>
                <a:srgbClr val="000000"/>
              </a:solidFill>
              <a:latin typeface="Consolas" panose="020B0609020204030204" pitchFamily="49" charset="0"/>
            </a:endParaRPr>
          </a:p>
          <a:p>
            <a:pPr>
              <a:lnSpc>
                <a:spcPct val="150000"/>
              </a:lnSpc>
            </a:pPr>
            <a:br>
              <a:rPr lang="en-US" sz="1600" dirty="0">
                <a:solidFill>
                  <a:srgbClr val="000000"/>
                </a:solidFill>
                <a:latin typeface="Consolas" panose="020B0609020204030204" pitchFamily="49" charset="0"/>
              </a:rPr>
            </a:b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enqueue</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while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is_empty</a:t>
            </a:r>
            <a:r>
              <a:rPr lang="en-US" sz="1600" dirty="0">
                <a:solidFill>
                  <a:srgbClr val="000000"/>
                </a:solidFill>
                <a:latin typeface="Consolas" panose="020B0609020204030204" pitchFamily="49" charset="0"/>
              </a:rPr>
              <a:t>(</a:t>
            </a:r>
            <a:r>
              <a:rPr lang="en-US" sz="1600" dirty="0" err="1">
                <a:solidFill>
                  <a:srgbClr val="1F377F"/>
                </a:solidFill>
                <a:latin typeface="Consolas" panose="020B0609020204030204" pitchFamily="49" charset="0"/>
              </a:rPr>
              <a:t>q</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a:solidFill>
                  <a:srgbClr val="74531F"/>
                </a:solidFill>
                <a:latin typeface="Consolas" panose="020B0609020204030204" pitchFamily="49" charset="0"/>
              </a:rPr>
              <a:t>dequeue</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print</a:t>
            </a:r>
            <a:r>
              <a:rPr lang="en-US" sz="1600" dirty="0">
                <a:solidFill>
                  <a:srgbClr val="000000"/>
                </a:solidFill>
                <a:latin typeface="Consolas" panose="020B0609020204030204" pitchFamily="49" charset="0"/>
              </a:rPr>
              <a:t>(</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.item</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end</a:t>
            </a:r>
            <a:r>
              <a:rPr lang="en-US" sz="1600" dirty="0">
                <a:solidFill>
                  <a:srgbClr val="000000"/>
                </a:solidFill>
                <a:latin typeface="Consolas" panose="020B0609020204030204" pitchFamily="49" charset="0"/>
              </a:rPr>
              <a:t>=</a:t>
            </a:r>
            <a:r>
              <a:rPr lang="en-US" sz="1600" dirty="0">
                <a:solidFill>
                  <a:srgbClr val="E21F1F"/>
                </a:solidFill>
                <a:latin typeface="Consolas" panose="020B0609020204030204" pitchFamily="49" charset="0"/>
              </a:rPr>
              <a:t>'</a:t>
            </a:r>
            <a:r>
              <a:rPr lang="en-US" sz="1600" dirty="0">
                <a:solidFill>
                  <a:srgbClr val="A31515"/>
                </a:solidFill>
                <a:latin typeface="Consolas" panose="020B0609020204030204" pitchFamily="49" charset="0"/>
              </a:rPr>
              <a:t> </a:t>
            </a:r>
            <a:r>
              <a:rPr lang="en-US" sz="1600" dirty="0">
                <a:solidFill>
                  <a:srgbClr val="E21F1F"/>
                </a:solidFill>
                <a:latin typeface="Consolas" panose="020B0609020204030204" pitchFamily="49" charset="0"/>
              </a:rPr>
              <a:t>'</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enqueue</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enqueue</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a:t>
            </a:r>
          </a:p>
          <a:p>
            <a:pPr>
              <a:lnSpc>
                <a:spcPct val="150000"/>
              </a:lnSpc>
            </a:pPr>
            <a:br>
              <a:rPr lang="en-US" sz="1600" dirty="0">
                <a:solidFill>
                  <a:srgbClr val="000000"/>
                </a:solidFill>
                <a:latin typeface="Consolas" panose="020B0609020204030204" pitchFamily="49" charset="0"/>
              </a:rPr>
            </a:br>
            <a:endParaRPr lang="en-US" sz="1600" b="0" dirty="0">
              <a:solidFill>
                <a:srgbClr val="000000"/>
              </a:solidFill>
              <a:effectLst/>
              <a:latin typeface="Consolas" panose="020B0609020204030204" pitchFamily="49" charset="0"/>
            </a:endParaRPr>
          </a:p>
        </p:txBody>
      </p:sp>
      <p:sp>
        <p:nvSpPr>
          <p:cNvPr id="45058" name="Rectangle 2">
            <a:extLst>
              <a:ext uri="{FF2B5EF4-FFF2-40B4-BE49-F238E27FC236}">
                <a16:creationId xmlns:a16="http://schemas.microsoft.com/office/drawing/2014/main" id="{D298BACC-9D88-A51E-B292-B1576F840256}"/>
              </a:ext>
            </a:extLst>
          </p:cNvPr>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2D06EEC8-5154-9B74-D3A3-955C04992167}"/>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D81EC777-AC06-8214-66AC-9C89A50BB2E9}"/>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Answer: </a:t>
            </a:r>
            <a:r>
              <a:rPr lang="en-US" sz="2000" b="1" u="sng" dirty="0" err="1">
                <a:solidFill>
                  <a:srgbClr val="005684"/>
                </a:solidFill>
                <a:latin typeface="Times New Roman" panose="02020603050405020304" pitchFamily="18" charset="0"/>
                <a:ea typeface="Times New Roman" panose="02020603050405020304" pitchFamily="18" charset="0"/>
              </a:rPr>
              <a:t>levelOrderIterative</a:t>
            </a:r>
            <a:r>
              <a:rPr lang="en-US" sz="2000" b="1" u="sng" dirty="0">
                <a:solidFill>
                  <a:srgbClr val="005684"/>
                </a:solidFill>
                <a:latin typeface="Times New Roman" panose="02020603050405020304" pitchFamily="18" charset="0"/>
                <a:ea typeface="Times New Roman" panose="02020603050405020304" pitchFamily="18" charset="0"/>
              </a:rPr>
              <a:t>(root)</a:t>
            </a:r>
          </a:p>
        </p:txBody>
      </p:sp>
      <p:sp>
        <p:nvSpPr>
          <p:cNvPr id="10" name="Rectangle 1">
            <a:extLst>
              <a:ext uri="{FF2B5EF4-FFF2-40B4-BE49-F238E27FC236}">
                <a16:creationId xmlns:a16="http://schemas.microsoft.com/office/drawing/2014/main" id="{7D61D69E-5099-D835-7E3E-C29BF5280C7A}"/>
              </a:ext>
            </a:extLst>
          </p:cNvPr>
          <p:cNvSpPr>
            <a:spLocks noChangeArrowheads="1"/>
          </p:cNvSpPr>
          <p:nvPr/>
        </p:nvSpPr>
        <p:spPr bwMode="auto">
          <a:xfrm>
            <a:off x="1314450" y="1965695"/>
            <a:ext cx="3886200" cy="2554545"/>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Check if the tree is empty</a:t>
            </a:r>
          </a:p>
          <a:p>
            <a:pPr lvl="0" eaLnBrk="0" fontAlgn="base" hangingPunct="0">
              <a:spcBef>
                <a:spcPct val="0"/>
              </a:spcBef>
              <a:spcAft>
                <a:spcPct val="0"/>
              </a:spcAf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If the root is not </a:t>
            </a:r>
            <a:r>
              <a:rPr lang="en-US" altLang="en-US" sz="2000" b="1" dirty="0">
                <a:solidFill>
                  <a:schemeClr val="tx1"/>
                </a:solidFill>
                <a:latin typeface="Times New Roman" panose="02020603050405020304" pitchFamily="18" charset="0"/>
                <a:cs typeface="Times New Roman" panose="02020603050405020304" pitchFamily="18" charset="0"/>
              </a:rPr>
              <a:t>None</a:t>
            </a:r>
            <a:r>
              <a:rPr lang="en-US" altLang="en-US" sz="2000" dirty="0">
                <a:solidFill>
                  <a:schemeClr val="tx1"/>
                </a:solidFill>
                <a:latin typeface="Times New Roman" panose="02020603050405020304" pitchFamily="18" charset="0"/>
                <a:cs typeface="Times New Roman" panose="02020603050405020304" pitchFamily="18" charset="0"/>
              </a:rPr>
              <a:t> (i.e., the tree is non-empty), proceed.</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Otherwise, the function does nothing because the tree has no nodes.</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63873694-3EB2-E263-D9A5-4338E38B6555}"/>
              </a:ext>
            </a:extLst>
          </p:cNvPr>
          <p:cNvSpPr/>
          <p:nvPr/>
        </p:nvSpPr>
        <p:spPr>
          <a:xfrm>
            <a:off x="5407957" y="2729380"/>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C6F7857-061B-F4EE-5656-4C9C2A12E9A4}"/>
              </a:ext>
            </a:extLst>
          </p:cNvPr>
          <p:cNvSpPr/>
          <p:nvPr/>
        </p:nvSpPr>
        <p:spPr>
          <a:xfrm>
            <a:off x="6629400" y="2549956"/>
            <a:ext cx="2438400" cy="69301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81249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B4B1E-86AD-99EF-8A57-640C892AFAF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0445E62-1F51-44FB-A9B5-C0BF1672009D}"/>
              </a:ext>
            </a:extLst>
          </p:cNvPr>
          <p:cNvSpPr/>
          <p:nvPr/>
        </p:nvSpPr>
        <p:spPr>
          <a:xfrm>
            <a:off x="6214785" y="1246201"/>
            <a:ext cx="6096000" cy="5592749"/>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levelOrderIterative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root</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 = </a:t>
            </a:r>
            <a:r>
              <a:rPr lang="en-US" sz="1600" dirty="0">
                <a:solidFill>
                  <a:srgbClr val="2B91AF"/>
                </a:solidFill>
                <a:latin typeface="Consolas" panose="020B0609020204030204" pitchFamily="49" charset="0"/>
              </a:rPr>
              <a:t>Queue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a:solidFill>
                  <a:srgbClr val="808080"/>
                </a:solidFill>
                <a:latin typeface="Consolas" panose="020B0609020204030204" pitchFamily="49" charset="0"/>
              </a:rPr>
              <a:t>root</a:t>
            </a:r>
            <a:endParaRPr lang="en-US" sz="1600" dirty="0">
              <a:solidFill>
                <a:srgbClr val="000000"/>
              </a:solidFill>
              <a:latin typeface="Consolas" panose="020B0609020204030204" pitchFamily="49" charset="0"/>
            </a:endParaRPr>
          </a:p>
          <a:p>
            <a:pPr>
              <a:lnSpc>
                <a:spcPct val="150000"/>
              </a:lnSpc>
            </a:pPr>
            <a:br>
              <a:rPr lang="en-US" sz="1600" dirty="0">
                <a:solidFill>
                  <a:srgbClr val="000000"/>
                </a:solidFill>
                <a:latin typeface="Consolas" panose="020B0609020204030204" pitchFamily="49" charset="0"/>
              </a:rPr>
            </a:b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enqueue</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while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is_empty</a:t>
            </a:r>
            <a:r>
              <a:rPr lang="en-US" sz="1600" dirty="0">
                <a:solidFill>
                  <a:srgbClr val="000000"/>
                </a:solidFill>
                <a:latin typeface="Consolas" panose="020B0609020204030204" pitchFamily="49" charset="0"/>
              </a:rPr>
              <a:t>(</a:t>
            </a:r>
            <a:r>
              <a:rPr lang="en-US" sz="1600" dirty="0" err="1">
                <a:solidFill>
                  <a:srgbClr val="1F377F"/>
                </a:solidFill>
                <a:latin typeface="Consolas" panose="020B0609020204030204" pitchFamily="49" charset="0"/>
              </a:rPr>
              <a:t>q</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a:solidFill>
                  <a:srgbClr val="74531F"/>
                </a:solidFill>
                <a:latin typeface="Consolas" panose="020B0609020204030204" pitchFamily="49" charset="0"/>
              </a:rPr>
              <a:t>dequeue</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print</a:t>
            </a:r>
            <a:r>
              <a:rPr lang="en-US" sz="1600" dirty="0">
                <a:solidFill>
                  <a:srgbClr val="000000"/>
                </a:solidFill>
                <a:latin typeface="Consolas" panose="020B0609020204030204" pitchFamily="49" charset="0"/>
              </a:rPr>
              <a:t>(</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.item</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end</a:t>
            </a:r>
            <a:r>
              <a:rPr lang="en-US" sz="1600" dirty="0">
                <a:solidFill>
                  <a:srgbClr val="000000"/>
                </a:solidFill>
                <a:latin typeface="Consolas" panose="020B0609020204030204" pitchFamily="49" charset="0"/>
              </a:rPr>
              <a:t>=</a:t>
            </a:r>
            <a:r>
              <a:rPr lang="en-US" sz="1600" dirty="0">
                <a:solidFill>
                  <a:srgbClr val="E21F1F"/>
                </a:solidFill>
                <a:latin typeface="Consolas" panose="020B0609020204030204" pitchFamily="49" charset="0"/>
              </a:rPr>
              <a:t>'</a:t>
            </a:r>
            <a:r>
              <a:rPr lang="en-US" sz="1600" dirty="0">
                <a:solidFill>
                  <a:srgbClr val="A31515"/>
                </a:solidFill>
                <a:latin typeface="Consolas" panose="020B0609020204030204" pitchFamily="49" charset="0"/>
              </a:rPr>
              <a:t> </a:t>
            </a:r>
            <a:r>
              <a:rPr lang="en-US" sz="1600" dirty="0">
                <a:solidFill>
                  <a:srgbClr val="E21F1F"/>
                </a:solidFill>
                <a:latin typeface="Consolas" panose="020B0609020204030204" pitchFamily="49" charset="0"/>
              </a:rPr>
              <a:t>'</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enqueue</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enqueue</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a:t>
            </a:r>
          </a:p>
          <a:p>
            <a:pPr>
              <a:lnSpc>
                <a:spcPct val="150000"/>
              </a:lnSpc>
            </a:pPr>
            <a:br>
              <a:rPr lang="en-US" sz="1600" dirty="0">
                <a:solidFill>
                  <a:srgbClr val="000000"/>
                </a:solidFill>
                <a:latin typeface="Consolas" panose="020B0609020204030204" pitchFamily="49" charset="0"/>
              </a:rPr>
            </a:br>
            <a:endParaRPr lang="en-US" sz="1600" b="0" dirty="0">
              <a:solidFill>
                <a:srgbClr val="000000"/>
              </a:solidFill>
              <a:effectLst/>
              <a:latin typeface="Consolas" panose="020B0609020204030204" pitchFamily="49" charset="0"/>
            </a:endParaRPr>
          </a:p>
        </p:txBody>
      </p:sp>
      <p:sp>
        <p:nvSpPr>
          <p:cNvPr id="45058" name="Rectangle 2">
            <a:extLst>
              <a:ext uri="{FF2B5EF4-FFF2-40B4-BE49-F238E27FC236}">
                <a16:creationId xmlns:a16="http://schemas.microsoft.com/office/drawing/2014/main" id="{D298BACC-9D88-A51E-B292-B1576F840256}"/>
              </a:ext>
            </a:extLst>
          </p:cNvPr>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2D06EEC8-5154-9B74-D3A3-955C04992167}"/>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D81EC777-AC06-8214-66AC-9C89A50BB2E9}"/>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Answer: </a:t>
            </a:r>
            <a:r>
              <a:rPr lang="en-US" sz="2000" b="1" u="sng" dirty="0" err="1">
                <a:solidFill>
                  <a:srgbClr val="005684"/>
                </a:solidFill>
                <a:latin typeface="Times New Roman" panose="02020603050405020304" pitchFamily="18" charset="0"/>
                <a:ea typeface="Times New Roman" panose="02020603050405020304" pitchFamily="18" charset="0"/>
              </a:rPr>
              <a:t>levelOrderIterative</a:t>
            </a:r>
            <a:r>
              <a:rPr lang="en-US" sz="2000" b="1" u="sng" dirty="0">
                <a:solidFill>
                  <a:srgbClr val="005684"/>
                </a:solidFill>
                <a:latin typeface="Times New Roman" panose="02020603050405020304" pitchFamily="18" charset="0"/>
                <a:ea typeface="Times New Roman" panose="02020603050405020304" pitchFamily="18" charset="0"/>
              </a:rPr>
              <a:t>(root)</a:t>
            </a:r>
          </a:p>
        </p:txBody>
      </p:sp>
      <p:sp>
        <p:nvSpPr>
          <p:cNvPr id="10" name="Rectangle 1">
            <a:extLst>
              <a:ext uri="{FF2B5EF4-FFF2-40B4-BE49-F238E27FC236}">
                <a16:creationId xmlns:a16="http://schemas.microsoft.com/office/drawing/2014/main" id="{7D61D69E-5099-D835-7E3E-C29BF5280C7A}"/>
              </a:ext>
            </a:extLst>
          </p:cNvPr>
          <p:cNvSpPr>
            <a:spLocks noChangeArrowheads="1"/>
          </p:cNvSpPr>
          <p:nvPr/>
        </p:nvSpPr>
        <p:spPr bwMode="auto">
          <a:xfrm>
            <a:off x="1428868" y="2364934"/>
            <a:ext cx="3886200" cy="2246769"/>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Enqueue the root node</a:t>
            </a:r>
            <a:br>
              <a:rPr lang="en-US" altLang="en-US" sz="2000" b="1" dirty="0">
                <a:solidFill>
                  <a:schemeClr val="tx1"/>
                </a:solidFill>
                <a:latin typeface="Times New Roman" panose="02020603050405020304" pitchFamily="18" charset="0"/>
                <a:cs typeface="Times New Roman" panose="02020603050405020304" pitchFamily="18" charset="0"/>
              </a:rPr>
            </a:b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The </a:t>
            </a:r>
            <a:r>
              <a:rPr lang="en-US" altLang="en-US" sz="2000" b="1" dirty="0">
                <a:solidFill>
                  <a:schemeClr val="tx1"/>
                </a:solidFill>
                <a:latin typeface="Times New Roman" panose="02020603050405020304" pitchFamily="18" charset="0"/>
                <a:cs typeface="Times New Roman" panose="02020603050405020304" pitchFamily="18" charset="0"/>
              </a:rPr>
              <a:t>root</a:t>
            </a:r>
            <a:r>
              <a:rPr lang="en-US" altLang="en-US" sz="2000" dirty="0">
                <a:solidFill>
                  <a:schemeClr val="tx1"/>
                </a:solidFill>
                <a:latin typeface="Times New Roman" panose="02020603050405020304" pitchFamily="18" charset="0"/>
                <a:cs typeface="Times New Roman" panose="02020603050405020304" pitchFamily="18" charset="0"/>
              </a:rPr>
              <a:t> node is added to the </a:t>
            </a:r>
            <a:r>
              <a:rPr lang="en-US" altLang="en-US" sz="2000" b="1" dirty="0">
                <a:solidFill>
                  <a:schemeClr val="tx1"/>
                </a:solidFill>
                <a:latin typeface="Times New Roman" panose="02020603050405020304" pitchFamily="18" charset="0"/>
                <a:cs typeface="Times New Roman" panose="02020603050405020304" pitchFamily="18" charset="0"/>
              </a:rPr>
              <a:t>queue</a:t>
            </a:r>
            <a:r>
              <a:rPr lang="en-US" altLang="en-US" sz="2000" dirty="0">
                <a:solidFill>
                  <a:schemeClr val="tx1"/>
                </a:solidFill>
                <a:latin typeface="Times New Roman" panose="02020603050405020304" pitchFamily="18" charset="0"/>
                <a:cs typeface="Times New Roman" panose="02020603050405020304" pitchFamily="18" charset="0"/>
              </a:rPr>
              <a:t>.</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This is the starting point of the </a:t>
            </a:r>
            <a:r>
              <a:rPr lang="en-US" altLang="en-US" sz="2000" b="1" dirty="0">
                <a:solidFill>
                  <a:schemeClr val="tx1"/>
                </a:solidFill>
                <a:latin typeface="Times New Roman" panose="02020603050405020304" pitchFamily="18" charset="0"/>
                <a:cs typeface="Times New Roman" panose="02020603050405020304" pitchFamily="18" charset="0"/>
              </a:rPr>
              <a:t>level-order traversal</a:t>
            </a:r>
            <a:r>
              <a:rPr lang="en-US" altLang="en-US" sz="2000" dirty="0">
                <a:solidFill>
                  <a:schemeClr val="tx1"/>
                </a:solidFill>
                <a:latin typeface="Times New Roman" panose="02020603050405020304" pitchFamily="18" charset="0"/>
                <a:cs typeface="Times New Roman" panose="02020603050405020304" pitchFamily="18" charset="0"/>
              </a:rPr>
              <a:t>.</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63873694-3EB2-E263-D9A5-4338E38B6555}"/>
              </a:ext>
            </a:extLst>
          </p:cNvPr>
          <p:cNvSpPr/>
          <p:nvPr/>
        </p:nvSpPr>
        <p:spPr>
          <a:xfrm>
            <a:off x="5629393" y="3155390"/>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C6F7857-061B-F4EE-5656-4C9C2A12E9A4}"/>
              </a:ext>
            </a:extLst>
          </p:cNvPr>
          <p:cNvSpPr/>
          <p:nvPr/>
        </p:nvSpPr>
        <p:spPr>
          <a:xfrm>
            <a:off x="6843435" y="3063544"/>
            <a:ext cx="2438400" cy="51785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72639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B4B1E-86AD-99EF-8A57-640C892AFAF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0445E62-1F51-44FB-A9B5-C0BF1672009D}"/>
              </a:ext>
            </a:extLst>
          </p:cNvPr>
          <p:cNvSpPr/>
          <p:nvPr/>
        </p:nvSpPr>
        <p:spPr>
          <a:xfrm>
            <a:off x="6214785" y="1246201"/>
            <a:ext cx="6096000" cy="5592749"/>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levelOrderIterative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root</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 = </a:t>
            </a:r>
            <a:r>
              <a:rPr lang="en-US" sz="1600" dirty="0">
                <a:solidFill>
                  <a:srgbClr val="2B91AF"/>
                </a:solidFill>
                <a:latin typeface="Consolas" panose="020B0609020204030204" pitchFamily="49" charset="0"/>
              </a:rPr>
              <a:t>Queue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a:solidFill>
                  <a:srgbClr val="808080"/>
                </a:solidFill>
                <a:latin typeface="Consolas" panose="020B0609020204030204" pitchFamily="49" charset="0"/>
              </a:rPr>
              <a:t>root</a:t>
            </a:r>
            <a:endParaRPr lang="en-US" sz="1600" dirty="0">
              <a:solidFill>
                <a:srgbClr val="000000"/>
              </a:solidFill>
              <a:latin typeface="Consolas" panose="020B0609020204030204" pitchFamily="49" charset="0"/>
            </a:endParaRPr>
          </a:p>
          <a:p>
            <a:pPr>
              <a:lnSpc>
                <a:spcPct val="150000"/>
              </a:lnSpc>
            </a:pPr>
            <a:br>
              <a:rPr lang="en-US" sz="1600" dirty="0">
                <a:solidFill>
                  <a:srgbClr val="000000"/>
                </a:solidFill>
                <a:latin typeface="Consolas" panose="020B0609020204030204" pitchFamily="49" charset="0"/>
              </a:rPr>
            </a:b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enqueue</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while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is_empty</a:t>
            </a:r>
            <a:r>
              <a:rPr lang="en-US" sz="1600" dirty="0">
                <a:solidFill>
                  <a:srgbClr val="000000"/>
                </a:solidFill>
                <a:latin typeface="Consolas" panose="020B0609020204030204" pitchFamily="49" charset="0"/>
              </a:rPr>
              <a:t>(</a:t>
            </a:r>
            <a:r>
              <a:rPr lang="en-US" sz="1600" dirty="0" err="1">
                <a:solidFill>
                  <a:srgbClr val="1F377F"/>
                </a:solidFill>
                <a:latin typeface="Consolas" panose="020B0609020204030204" pitchFamily="49" charset="0"/>
              </a:rPr>
              <a:t>q</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a:solidFill>
                  <a:srgbClr val="74531F"/>
                </a:solidFill>
                <a:latin typeface="Consolas" panose="020B0609020204030204" pitchFamily="49" charset="0"/>
              </a:rPr>
              <a:t>dequeue</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print</a:t>
            </a:r>
            <a:r>
              <a:rPr lang="en-US" sz="1600" dirty="0">
                <a:solidFill>
                  <a:srgbClr val="000000"/>
                </a:solidFill>
                <a:latin typeface="Consolas" panose="020B0609020204030204" pitchFamily="49" charset="0"/>
              </a:rPr>
              <a:t>(</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.item</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end</a:t>
            </a:r>
            <a:r>
              <a:rPr lang="en-US" sz="1600" dirty="0">
                <a:solidFill>
                  <a:srgbClr val="000000"/>
                </a:solidFill>
                <a:latin typeface="Consolas" panose="020B0609020204030204" pitchFamily="49" charset="0"/>
              </a:rPr>
              <a:t>=</a:t>
            </a:r>
            <a:r>
              <a:rPr lang="en-US" sz="1600" dirty="0">
                <a:solidFill>
                  <a:srgbClr val="E21F1F"/>
                </a:solidFill>
                <a:latin typeface="Consolas" panose="020B0609020204030204" pitchFamily="49" charset="0"/>
              </a:rPr>
              <a:t>'</a:t>
            </a:r>
            <a:r>
              <a:rPr lang="en-US" sz="1600" dirty="0">
                <a:solidFill>
                  <a:srgbClr val="A31515"/>
                </a:solidFill>
                <a:latin typeface="Consolas" panose="020B0609020204030204" pitchFamily="49" charset="0"/>
              </a:rPr>
              <a:t> </a:t>
            </a:r>
            <a:r>
              <a:rPr lang="en-US" sz="1600" dirty="0">
                <a:solidFill>
                  <a:srgbClr val="E21F1F"/>
                </a:solidFill>
                <a:latin typeface="Consolas" panose="020B0609020204030204" pitchFamily="49" charset="0"/>
              </a:rPr>
              <a:t>'</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enqueue</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enqueue</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a:t>
            </a:r>
          </a:p>
          <a:p>
            <a:pPr>
              <a:lnSpc>
                <a:spcPct val="150000"/>
              </a:lnSpc>
            </a:pPr>
            <a:br>
              <a:rPr lang="en-US" sz="1600" dirty="0">
                <a:solidFill>
                  <a:srgbClr val="000000"/>
                </a:solidFill>
                <a:latin typeface="Consolas" panose="020B0609020204030204" pitchFamily="49" charset="0"/>
              </a:rPr>
            </a:br>
            <a:endParaRPr lang="en-US" sz="1600" b="0" dirty="0">
              <a:solidFill>
                <a:srgbClr val="000000"/>
              </a:solidFill>
              <a:effectLst/>
              <a:latin typeface="Consolas" panose="020B0609020204030204" pitchFamily="49" charset="0"/>
            </a:endParaRPr>
          </a:p>
        </p:txBody>
      </p:sp>
      <p:sp>
        <p:nvSpPr>
          <p:cNvPr id="45058" name="Rectangle 2">
            <a:extLst>
              <a:ext uri="{FF2B5EF4-FFF2-40B4-BE49-F238E27FC236}">
                <a16:creationId xmlns:a16="http://schemas.microsoft.com/office/drawing/2014/main" id="{D298BACC-9D88-A51E-B292-B1576F840256}"/>
              </a:ext>
            </a:extLst>
          </p:cNvPr>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2D06EEC8-5154-9B74-D3A3-955C04992167}"/>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D81EC777-AC06-8214-66AC-9C89A50BB2E9}"/>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Answer: </a:t>
            </a:r>
            <a:r>
              <a:rPr lang="en-US" sz="2000" b="1" u="sng" dirty="0" err="1">
                <a:solidFill>
                  <a:srgbClr val="005684"/>
                </a:solidFill>
                <a:latin typeface="Times New Roman" panose="02020603050405020304" pitchFamily="18" charset="0"/>
                <a:ea typeface="Times New Roman" panose="02020603050405020304" pitchFamily="18" charset="0"/>
              </a:rPr>
              <a:t>levelOrderIterative</a:t>
            </a:r>
            <a:r>
              <a:rPr lang="en-US" sz="2000" b="1" u="sng" dirty="0">
                <a:solidFill>
                  <a:srgbClr val="005684"/>
                </a:solidFill>
                <a:latin typeface="Times New Roman" panose="02020603050405020304" pitchFamily="18" charset="0"/>
                <a:ea typeface="Times New Roman" panose="02020603050405020304" pitchFamily="18" charset="0"/>
              </a:rPr>
              <a:t>(root)</a:t>
            </a:r>
          </a:p>
        </p:txBody>
      </p:sp>
      <p:sp>
        <p:nvSpPr>
          <p:cNvPr id="10" name="Rectangle 1">
            <a:extLst>
              <a:ext uri="{FF2B5EF4-FFF2-40B4-BE49-F238E27FC236}">
                <a16:creationId xmlns:a16="http://schemas.microsoft.com/office/drawing/2014/main" id="{7D61D69E-5099-D835-7E3E-C29BF5280C7A}"/>
              </a:ext>
            </a:extLst>
          </p:cNvPr>
          <p:cNvSpPr>
            <a:spLocks noChangeArrowheads="1"/>
          </p:cNvSpPr>
          <p:nvPr/>
        </p:nvSpPr>
        <p:spPr bwMode="auto">
          <a:xfrm>
            <a:off x="1428866" y="2773805"/>
            <a:ext cx="3886200" cy="3170099"/>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Dequeue the next node</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Remove the front node from the queue.</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Print its value.</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This ensures we process nodes in the order they were added, i.e., level by level.</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63873694-3EB2-E263-D9A5-4338E38B6555}"/>
              </a:ext>
            </a:extLst>
          </p:cNvPr>
          <p:cNvSpPr/>
          <p:nvPr/>
        </p:nvSpPr>
        <p:spPr>
          <a:xfrm>
            <a:off x="5793559" y="3958894"/>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C6F7857-061B-F4EE-5656-4C9C2A12E9A4}"/>
              </a:ext>
            </a:extLst>
          </p:cNvPr>
          <p:cNvSpPr/>
          <p:nvPr/>
        </p:nvSpPr>
        <p:spPr>
          <a:xfrm>
            <a:off x="7171769" y="3855872"/>
            <a:ext cx="3420031" cy="81560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5074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B4B1E-86AD-99EF-8A57-640C892AFAF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0445E62-1F51-44FB-A9B5-C0BF1672009D}"/>
              </a:ext>
            </a:extLst>
          </p:cNvPr>
          <p:cNvSpPr/>
          <p:nvPr/>
        </p:nvSpPr>
        <p:spPr>
          <a:xfrm>
            <a:off x="6214785" y="1246201"/>
            <a:ext cx="6096000" cy="5592749"/>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levelOrderIterative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root</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 = </a:t>
            </a:r>
            <a:r>
              <a:rPr lang="en-US" sz="1600" dirty="0">
                <a:solidFill>
                  <a:srgbClr val="2B91AF"/>
                </a:solidFill>
                <a:latin typeface="Consolas" panose="020B0609020204030204" pitchFamily="49" charset="0"/>
              </a:rPr>
              <a:t>Queue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a:solidFill>
                  <a:srgbClr val="808080"/>
                </a:solidFill>
                <a:latin typeface="Consolas" panose="020B0609020204030204" pitchFamily="49" charset="0"/>
              </a:rPr>
              <a:t>root</a:t>
            </a:r>
            <a:endParaRPr lang="en-US" sz="1600" dirty="0">
              <a:solidFill>
                <a:srgbClr val="000000"/>
              </a:solidFill>
              <a:latin typeface="Consolas" panose="020B0609020204030204" pitchFamily="49" charset="0"/>
            </a:endParaRPr>
          </a:p>
          <a:p>
            <a:pPr>
              <a:lnSpc>
                <a:spcPct val="150000"/>
              </a:lnSpc>
            </a:pPr>
            <a:br>
              <a:rPr lang="en-US" sz="1600" dirty="0">
                <a:solidFill>
                  <a:srgbClr val="000000"/>
                </a:solidFill>
                <a:latin typeface="Consolas" panose="020B0609020204030204" pitchFamily="49" charset="0"/>
              </a:rPr>
            </a:b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enqueue</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while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is_empty</a:t>
            </a:r>
            <a:r>
              <a:rPr lang="en-US" sz="1600" dirty="0">
                <a:solidFill>
                  <a:srgbClr val="000000"/>
                </a:solidFill>
                <a:latin typeface="Consolas" panose="020B0609020204030204" pitchFamily="49" charset="0"/>
              </a:rPr>
              <a:t>(</a:t>
            </a:r>
            <a:r>
              <a:rPr lang="en-US" sz="1600" dirty="0" err="1">
                <a:solidFill>
                  <a:srgbClr val="1F377F"/>
                </a:solidFill>
                <a:latin typeface="Consolas" panose="020B0609020204030204" pitchFamily="49" charset="0"/>
              </a:rPr>
              <a:t>q</a:t>
            </a:r>
            <a:r>
              <a:rPr lang="en-US" sz="1600" dirty="0" err="1">
                <a:solidFill>
                  <a:srgbClr val="000000"/>
                </a:solidFill>
                <a:latin typeface="Consolas" panose="020B0609020204030204" pitchFamily="49" charset="0"/>
              </a:rPr>
              <a:t>.head</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a:solidFill>
                  <a:srgbClr val="74531F"/>
                </a:solidFill>
                <a:latin typeface="Consolas" panose="020B0609020204030204" pitchFamily="49" charset="0"/>
              </a:rPr>
              <a:t>dequeue</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print</a:t>
            </a:r>
            <a:r>
              <a:rPr lang="en-US" sz="1600" dirty="0">
                <a:solidFill>
                  <a:srgbClr val="000000"/>
                </a:solidFill>
                <a:latin typeface="Consolas" panose="020B0609020204030204" pitchFamily="49" charset="0"/>
              </a:rPr>
              <a:t>(</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.item</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end</a:t>
            </a:r>
            <a:r>
              <a:rPr lang="en-US" sz="1600" dirty="0">
                <a:solidFill>
                  <a:srgbClr val="000000"/>
                </a:solidFill>
                <a:latin typeface="Consolas" panose="020B0609020204030204" pitchFamily="49" charset="0"/>
              </a:rPr>
              <a:t>=</a:t>
            </a:r>
            <a:r>
              <a:rPr lang="en-US" sz="1600" dirty="0">
                <a:solidFill>
                  <a:srgbClr val="E21F1F"/>
                </a:solidFill>
                <a:latin typeface="Consolas" panose="020B0609020204030204" pitchFamily="49" charset="0"/>
              </a:rPr>
              <a:t>'</a:t>
            </a:r>
            <a:r>
              <a:rPr lang="en-US" sz="1600" dirty="0">
                <a:solidFill>
                  <a:srgbClr val="A31515"/>
                </a:solidFill>
                <a:latin typeface="Consolas" panose="020B0609020204030204" pitchFamily="49" charset="0"/>
              </a:rPr>
              <a:t> </a:t>
            </a:r>
            <a:r>
              <a:rPr lang="en-US" sz="1600" dirty="0">
                <a:solidFill>
                  <a:srgbClr val="E21F1F"/>
                </a:solidFill>
                <a:latin typeface="Consolas" panose="020B0609020204030204" pitchFamily="49" charset="0"/>
              </a:rPr>
              <a:t>'</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enqueue</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enqueue</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q</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a:t>
            </a:r>
          </a:p>
          <a:p>
            <a:pPr>
              <a:lnSpc>
                <a:spcPct val="150000"/>
              </a:lnSpc>
            </a:pPr>
            <a:br>
              <a:rPr lang="en-US" sz="1600" dirty="0">
                <a:solidFill>
                  <a:srgbClr val="000000"/>
                </a:solidFill>
                <a:latin typeface="Consolas" panose="020B0609020204030204" pitchFamily="49" charset="0"/>
              </a:rPr>
            </a:br>
            <a:endParaRPr lang="en-US" sz="1600" b="0" dirty="0">
              <a:solidFill>
                <a:srgbClr val="000000"/>
              </a:solidFill>
              <a:effectLst/>
              <a:latin typeface="Consolas" panose="020B0609020204030204" pitchFamily="49" charset="0"/>
            </a:endParaRPr>
          </a:p>
        </p:txBody>
      </p:sp>
      <p:sp>
        <p:nvSpPr>
          <p:cNvPr id="45058" name="Rectangle 2">
            <a:extLst>
              <a:ext uri="{FF2B5EF4-FFF2-40B4-BE49-F238E27FC236}">
                <a16:creationId xmlns:a16="http://schemas.microsoft.com/office/drawing/2014/main" id="{D298BACC-9D88-A51E-B292-B1576F840256}"/>
              </a:ext>
            </a:extLst>
          </p:cNvPr>
          <p:cNvSpPr>
            <a:spLocks noGrp="1" noChangeArrowheads="1"/>
          </p:cNvSpPr>
          <p:nvPr>
            <p:ph type="title"/>
          </p:nvPr>
        </p:nvSpPr>
        <p:spPr/>
        <p:txBody>
          <a:bodyPr/>
          <a:lstStyle/>
          <a:p>
            <a:r>
              <a:rPr lang="en-US" dirty="0"/>
              <a:t>Q02 - Answer</a:t>
            </a:r>
          </a:p>
        </p:txBody>
      </p:sp>
      <p:sp>
        <p:nvSpPr>
          <p:cNvPr id="8" name="Rectangle 7">
            <a:extLst>
              <a:ext uri="{FF2B5EF4-FFF2-40B4-BE49-F238E27FC236}">
                <a16:creationId xmlns:a16="http://schemas.microsoft.com/office/drawing/2014/main" id="{2D06EEC8-5154-9B74-D3A3-955C04992167}"/>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D81EC777-AC06-8214-66AC-9C89A50BB2E9}"/>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Answer: </a:t>
            </a:r>
            <a:r>
              <a:rPr lang="en-US" sz="2000" b="1" u="sng" dirty="0" err="1">
                <a:solidFill>
                  <a:srgbClr val="005684"/>
                </a:solidFill>
                <a:latin typeface="Times New Roman" panose="02020603050405020304" pitchFamily="18" charset="0"/>
                <a:ea typeface="Times New Roman" panose="02020603050405020304" pitchFamily="18" charset="0"/>
              </a:rPr>
              <a:t>levelOrderIterative</a:t>
            </a:r>
            <a:r>
              <a:rPr lang="en-US" sz="2000" b="1" u="sng" dirty="0">
                <a:solidFill>
                  <a:srgbClr val="005684"/>
                </a:solidFill>
                <a:latin typeface="Times New Roman" panose="02020603050405020304" pitchFamily="18" charset="0"/>
                <a:ea typeface="Times New Roman" panose="02020603050405020304" pitchFamily="18" charset="0"/>
              </a:rPr>
              <a:t>(root)</a:t>
            </a:r>
          </a:p>
        </p:txBody>
      </p:sp>
      <p:sp>
        <p:nvSpPr>
          <p:cNvPr id="10" name="Rectangle 1">
            <a:extLst>
              <a:ext uri="{FF2B5EF4-FFF2-40B4-BE49-F238E27FC236}">
                <a16:creationId xmlns:a16="http://schemas.microsoft.com/office/drawing/2014/main" id="{7D61D69E-5099-D835-7E3E-C29BF5280C7A}"/>
              </a:ext>
            </a:extLst>
          </p:cNvPr>
          <p:cNvSpPr>
            <a:spLocks noChangeArrowheads="1"/>
          </p:cNvSpPr>
          <p:nvPr/>
        </p:nvSpPr>
        <p:spPr bwMode="auto">
          <a:xfrm>
            <a:off x="1428866" y="3541455"/>
            <a:ext cx="3886200" cy="2554545"/>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Enqueue the children</a:t>
            </a:r>
          </a:p>
          <a:p>
            <a:pPr lvl="0" eaLnBrk="0" fontAlgn="base" hangingPunct="0">
              <a:spcBef>
                <a:spcPct val="0"/>
              </a:spcBef>
              <a:spcAft>
                <a:spcPct val="0"/>
              </a:spcAft>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Add the </a:t>
            </a:r>
            <a:r>
              <a:rPr lang="en-US" altLang="en-US" sz="2000" b="1" dirty="0">
                <a:solidFill>
                  <a:schemeClr val="tx1"/>
                </a:solidFill>
                <a:latin typeface="Times New Roman" panose="02020603050405020304" pitchFamily="18" charset="0"/>
                <a:cs typeface="Times New Roman" panose="02020603050405020304" pitchFamily="18" charset="0"/>
              </a:rPr>
              <a:t>left child first</a:t>
            </a:r>
            <a:r>
              <a:rPr lang="en-US" altLang="en-US" sz="2000" dirty="0">
                <a:solidFill>
                  <a:schemeClr val="tx1"/>
                </a:solidFill>
                <a:latin typeface="Times New Roman" panose="02020603050405020304" pitchFamily="18" charset="0"/>
                <a:cs typeface="Times New Roman" panose="02020603050405020304" pitchFamily="18" charset="0"/>
              </a:rPr>
              <a:t>, then </a:t>
            </a:r>
            <a:r>
              <a:rPr lang="en-US" altLang="en-US" sz="2000" b="1" dirty="0">
                <a:solidFill>
                  <a:schemeClr val="tx1"/>
                </a:solidFill>
                <a:latin typeface="Times New Roman" panose="02020603050405020304" pitchFamily="18" charset="0"/>
                <a:cs typeface="Times New Roman" panose="02020603050405020304" pitchFamily="18" charset="0"/>
              </a:rPr>
              <a:t>the right child</a:t>
            </a:r>
            <a:r>
              <a:rPr lang="en-US" altLang="en-US" sz="2000" dirty="0">
                <a:solidFill>
                  <a:schemeClr val="tx1"/>
                </a:solidFill>
                <a:latin typeface="Times New Roman" panose="02020603050405020304" pitchFamily="18" charset="0"/>
                <a:cs typeface="Times New Roman" panose="02020603050405020304" pitchFamily="18" charset="0"/>
              </a:rPr>
              <a:t>, to the queue.</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This ensures the next level is visited in the correct left-to-right order.</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63873694-3EB2-E263-D9A5-4338E38B6555}"/>
              </a:ext>
            </a:extLst>
          </p:cNvPr>
          <p:cNvSpPr/>
          <p:nvPr/>
        </p:nvSpPr>
        <p:spPr>
          <a:xfrm>
            <a:off x="5879227" y="5037936"/>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C6F7857-061B-F4EE-5656-4C9C2A12E9A4}"/>
              </a:ext>
            </a:extLst>
          </p:cNvPr>
          <p:cNvSpPr/>
          <p:nvPr/>
        </p:nvSpPr>
        <p:spPr>
          <a:xfrm>
            <a:off x="7343103" y="4648200"/>
            <a:ext cx="3420031" cy="1447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31240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9F3C17F-24B1-4327-9512-D4B7DEBE540B}"/>
              </a:ext>
            </a:extLst>
          </p:cNvPr>
          <p:cNvSpPr/>
          <p:nvPr/>
        </p:nvSpPr>
        <p:spPr>
          <a:xfrm>
            <a:off x="5148723" y="1152258"/>
            <a:ext cx="6629400" cy="5447645"/>
          </a:xfrm>
          <a:prstGeom prst="rect">
            <a:avLst/>
          </a:prstGeom>
        </p:spPr>
        <p:txBody>
          <a:bodyPr wrap="square">
            <a:spAutoFit/>
          </a:bodyPr>
          <a:lstStyle/>
          <a:p>
            <a:r>
              <a:rPr lang="en-US" sz="1200" dirty="0">
                <a:solidFill>
                  <a:srgbClr val="8F08C4"/>
                </a:solidFill>
                <a:latin typeface="Consolas" panose="020B0609020204030204" pitchFamily="49" charset="0"/>
              </a:rPr>
              <a:t>if</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__name__</a:t>
            </a:r>
            <a:r>
              <a:rPr lang="en-US" sz="1200" dirty="0">
                <a:solidFill>
                  <a:srgbClr val="000000"/>
                </a:solidFill>
                <a:latin typeface="Consolas" panose="020B0609020204030204" pitchFamily="49" charset="0"/>
              </a:rPr>
              <a:t> == </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__main__</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1</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root</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None</a:t>
            </a:r>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 Use a list to allow modification of the root reference</a:t>
            </a:r>
            <a:endParaRPr lang="en-US" sz="1200" dirty="0">
              <a:solidFill>
                <a:srgbClr val="000000"/>
              </a:solidFill>
              <a:latin typeface="Consolas" panose="020B0609020204030204" pitchFamily="49" charset="0"/>
            </a:endParaRP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1: Insert an integer into the binary search tree;</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2: Print the level-order traversal of the binary search tree;</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0: Quit;</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8F08C4"/>
                </a:solidFill>
                <a:latin typeface="Consolas" panose="020B0609020204030204" pitchFamily="49" charset="0"/>
              </a:rPr>
              <a:t>while</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2B91AF"/>
                </a:solidFill>
                <a:latin typeface="Consolas" panose="020B0609020204030204" pitchFamily="49" charset="0"/>
              </a:rPr>
              <a:t>int</a:t>
            </a:r>
            <a:r>
              <a:rPr lang="en-US" sz="1200" dirty="0">
                <a:solidFill>
                  <a:srgbClr val="000000"/>
                </a:solidFill>
                <a:latin typeface="Consolas" panose="020B0609020204030204" pitchFamily="49" charset="0"/>
              </a:rPr>
              <a:t>(</a:t>
            </a:r>
            <a:r>
              <a:rPr lang="en-US" sz="1200" dirty="0">
                <a:solidFill>
                  <a:srgbClr val="74531F"/>
                </a:solidFill>
                <a:latin typeface="Consolas" panose="020B0609020204030204" pitchFamily="49" charset="0"/>
              </a:rPr>
              <a:t>input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Please input your choice(1/2/0): </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8F08C4"/>
                </a:solidFill>
                <a:latin typeface="Consolas" panose="020B0609020204030204" pitchFamily="49" charset="0"/>
              </a:rPr>
              <a:t>if</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1</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i</a:t>
            </a:r>
            <a:r>
              <a:rPr lang="en-US" sz="1200" dirty="0">
                <a:solidFill>
                  <a:srgbClr val="000000"/>
                </a:solidFill>
                <a:latin typeface="Consolas" panose="020B0609020204030204" pitchFamily="49" charset="0"/>
              </a:rPr>
              <a:t> = </a:t>
            </a:r>
            <a:r>
              <a:rPr lang="en-US" sz="1200" dirty="0">
                <a:solidFill>
                  <a:srgbClr val="2B91AF"/>
                </a:solidFill>
                <a:latin typeface="Consolas" panose="020B0609020204030204" pitchFamily="49" charset="0"/>
              </a:rPr>
              <a:t>int</a:t>
            </a:r>
            <a:r>
              <a:rPr lang="en-US" sz="1200" dirty="0">
                <a:solidFill>
                  <a:srgbClr val="000000"/>
                </a:solidFill>
                <a:latin typeface="Consolas" panose="020B0609020204030204" pitchFamily="49" charset="0"/>
              </a:rPr>
              <a:t>(</a:t>
            </a:r>
            <a:r>
              <a:rPr lang="en-US" sz="1200" dirty="0">
                <a:solidFill>
                  <a:srgbClr val="74531F"/>
                </a:solidFill>
                <a:latin typeface="Consolas" panose="020B0609020204030204" pitchFamily="49" charset="0"/>
              </a:rPr>
              <a:t>input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Input an integer that you want to insert into the Binary Search Tree: </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insert_bst_node</a:t>
            </a:r>
            <a:r>
              <a:rPr lang="en-US" sz="1200" dirty="0">
                <a:solidFill>
                  <a:srgbClr val="000000"/>
                </a:solidFill>
                <a:latin typeface="Consolas" panose="020B0609020204030204" pitchFamily="49" charset="0"/>
              </a:rPr>
              <a:t>(</a:t>
            </a:r>
            <a:r>
              <a:rPr lang="en-US" sz="1200" dirty="0">
                <a:solidFill>
                  <a:srgbClr val="1F377F"/>
                </a:solidFill>
                <a:latin typeface="Consolas" panose="020B0609020204030204" pitchFamily="49" charset="0"/>
              </a:rPr>
              <a:t>root</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i</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err="1">
                <a:solidFill>
                  <a:srgbClr val="8F08C4"/>
                </a:solidFill>
                <a:latin typeface="Consolas" panose="020B0609020204030204" pitchFamily="49" charset="0"/>
              </a:rPr>
              <a:t>elif</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2</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The resulting level-order traversal of the binary search tree is: </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end</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err="1">
                <a:solidFill>
                  <a:srgbClr val="74531F"/>
                </a:solidFill>
                <a:latin typeface="Consolas" panose="020B0609020204030204" pitchFamily="49" charset="0"/>
              </a:rPr>
              <a:t>levelOrderIterative</a:t>
            </a:r>
            <a:r>
              <a:rPr lang="en-US" sz="1200" dirty="0">
                <a:solidFill>
                  <a:srgbClr val="000000"/>
                </a:solidFill>
                <a:latin typeface="Consolas" panose="020B0609020204030204" pitchFamily="49" charset="0"/>
              </a:rPr>
              <a:t>(</a:t>
            </a:r>
            <a:r>
              <a:rPr lang="en-US" sz="1200" dirty="0">
                <a:solidFill>
                  <a:srgbClr val="1F377F"/>
                </a:solidFill>
                <a:latin typeface="Consolas" panose="020B0609020204030204" pitchFamily="49" charset="0"/>
              </a:rPr>
              <a:t>root</a:t>
            </a:r>
            <a:r>
              <a:rPr lang="en-US" sz="1200" dirty="0">
                <a:solidFill>
                  <a:srgbClr val="000000"/>
                </a:solidFill>
                <a:latin typeface="Consolas" panose="020B0609020204030204" pitchFamily="49" charset="0"/>
              </a:rPr>
              <a:t>[</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 Pass the actual root node</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err="1">
                <a:solidFill>
                  <a:srgbClr val="8F08C4"/>
                </a:solidFill>
                <a:latin typeface="Consolas" panose="020B0609020204030204" pitchFamily="49" charset="0"/>
              </a:rPr>
              <a:t>elif</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err="1">
                <a:solidFill>
                  <a:srgbClr val="74531F"/>
                </a:solidFill>
                <a:latin typeface="Consolas" panose="020B0609020204030204" pitchFamily="49" charset="0"/>
              </a:rPr>
              <a:t>remove_all</a:t>
            </a:r>
            <a:r>
              <a:rPr lang="en-US" sz="1200" dirty="0">
                <a:solidFill>
                  <a:srgbClr val="000000"/>
                </a:solidFill>
                <a:latin typeface="Consolas" panose="020B0609020204030204" pitchFamily="49" charset="0"/>
              </a:rPr>
              <a:t>(</a:t>
            </a:r>
            <a:r>
              <a:rPr lang="en-US" sz="1200" dirty="0">
                <a:solidFill>
                  <a:srgbClr val="1F377F"/>
                </a:solidFill>
                <a:latin typeface="Consolas" panose="020B0609020204030204" pitchFamily="49" charset="0"/>
              </a:rPr>
              <a:t>root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8F08C4"/>
                </a:solidFill>
                <a:latin typeface="Consolas" panose="020B0609020204030204" pitchFamily="49" charset="0"/>
              </a:rPr>
              <a:t>else</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Choice unknown;</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br>
              <a:rPr lang="en-US" sz="1200" dirty="0">
                <a:solidFill>
                  <a:srgbClr val="000000"/>
                </a:solidFill>
                <a:latin typeface="Consolas" panose="020B0609020204030204" pitchFamily="49" charset="0"/>
              </a:rPr>
            </a:br>
            <a:endParaRPr lang="en-US" sz="12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11" name="Rectangle 10">
            <a:extLst>
              <a:ext uri="{FF2B5EF4-FFF2-40B4-BE49-F238E27FC236}">
                <a16:creationId xmlns:a16="http://schemas.microsoft.com/office/drawing/2014/main" id="{9A160827-942E-482E-8B34-E253BF44CE36}"/>
              </a:ext>
            </a:extLst>
          </p:cNvPr>
          <p:cNvSpPr/>
          <p:nvPr/>
        </p:nvSpPr>
        <p:spPr>
          <a:xfrm>
            <a:off x="1066800" y="1133208"/>
            <a:ext cx="3390002" cy="461665"/>
          </a:xfrm>
          <a:prstGeom prst="rect">
            <a:avLst/>
          </a:prstGeom>
        </p:spPr>
        <p:txBody>
          <a:bodyPr wrap="square">
            <a:spAutoFit/>
          </a:bodyPr>
          <a:lstStyle/>
          <a:p>
            <a:pPr marR="0" lvl="0">
              <a:spcBef>
                <a:spcPts val="0"/>
              </a:spcBef>
              <a:spcAft>
                <a:spcPts val="0"/>
              </a:spcAft>
            </a:pPr>
            <a:r>
              <a:rPr lang="en-US" sz="2400" b="1" dirty="0">
                <a:latin typeface="Times New Roman" panose="02020603050405020304" pitchFamily="18" charset="0"/>
                <a:ea typeface="Times New Roman" panose="02020603050405020304" pitchFamily="18" charset="0"/>
              </a:rPr>
              <a:t>Testing our functions</a:t>
            </a:r>
          </a:p>
        </p:txBody>
      </p:sp>
      <p:sp>
        <p:nvSpPr>
          <p:cNvPr id="4" name="Rectangle 1">
            <a:extLst>
              <a:ext uri="{FF2B5EF4-FFF2-40B4-BE49-F238E27FC236}">
                <a16:creationId xmlns:a16="http://schemas.microsoft.com/office/drawing/2014/main" id="{CA83EC4B-4B3E-4818-A292-574F55D8EA61}"/>
              </a:ext>
            </a:extLst>
          </p:cNvPr>
          <p:cNvSpPr>
            <a:spLocks noChangeArrowheads="1"/>
          </p:cNvSpPr>
          <p:nvPr/>
        </p:nvSpPr>
        <p:spPr bwMode="auto">
          <a:xfrm>
            <a:off x="1066800" y="2388547"/>
            <a:ext cx="3390002" cy="1477328"/>
          </a:xfrm>
          <a:prstGeom prst="rect">
            <a:avLst/>
          </a:prstGeom>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dirty="0">
                <a:solidFill>
                  <a:schemeClr val="tx1"/>
                </a:solidFill>
                <a:latin typeface="Times New Roman" panose="02020603050405020304" pitchFamily="18" charset="0"/>
                <a:cs typeface="Times New Roman" panose="02020603050405020304" pitchFamily="18" charset="0"/>
              </a:rPr>
              <a:t>c is a variable used to store the user’s menu choice.</a:t>
            </a:r>
          </a:p>
          <a:p>
            <a:pPr eaLnBrk="0" fontAlgn="base" hangingPunct="0">
              <a:spcBef>
                <a:spcPct val="0"/>
              </a:spcBef>
              <a:spcAft>
                <a:spcPct val="0"/>
              </a:spcAft>
            </a:pPr>
            <a:endParaRPr lang="en-US" altLang="en-US" dirty="0">
              <a:solidFill>
                <a:schemeClr val="tx1"/>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altLang="en-US" dirty="0">
                <a:solidFill>
                  <a:schemeClr val="tx1"/>
                </a:solidFill>
                <a:latin typeface="Times New Roman" panose="02020603050405020304" pitchFamily="18" charset="0"/>
                <a:cs typeface="Times New Roman" panose="02020603050405020304" pitchFamily="18" charset="0"/>
              </a:rPr>
              <a:t>root is a list containing one element (None initially).</a:t>
            </a:r>
          </a:p>
        </p:txBody>
      </p:sp>
      <p:sp>
        <p:nvSpPr>
          <p:cNvPr id="5" name="Arrow: Right 4">
            <a:extLst>
              <a:ext uri="{FF2B5EF4-FFF2-40B4-BE49-F238E27FC236}">
                <a16:creationId xmlns:a16="http://schemas.microsoft.com/office/drawing/2014/main" id="{762AF53F-9F1E-44CA-A745-782F1E8614AE}"/>
              </a:ext>
            </a:extLst>
          </p:cNvPr>
          <p:cNvSpPr/>
          <p:nvPr/>
        </p:nvSpPr>
        <p:spPr>
          <a:xfrm rot="20321743">
            <a:off x="3954259" y="1866595"/>
            <a:ext cx="1005087" cy="35137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12FCFB1-AC94-4773-AF21-4F3F7A12414A}"/>
              </a:ext>
            </a:extLst>
          </p:cNvPr>
          <p:cNvSpPr/>
          <p:nvPr/>
        </p:nvSpPr>
        <p:spPr>
          <a:xfrm>
            <a:off x="5116907" y="1371600"/>
            <a:ext cx="1664893" cy="46166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Tree>
    <p:extLst>
      <p:ext uri="{BB962C8B-B14F-4D97-AF65-F5344CB8AC3E}">
        <p14:creationId xmlns:p14="http://schemas.microsoft.com/office/powerpoint/2010/main" val="31409408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9F3C17F-24B1-4327-9512-D4B7DEBE540B}"/>
              </a:ext>
            </a:extLst>
          </p:cNvPr>
          <p:cNvSpPr/>
          <p:nvPr/>
        </p:nvSpPr>
        <p:spPr>
          <a:xfrm>
            <a:off x="5148723" y="1152258"/>
            <a:ext cx="6629400" cy="5447645"/>
          </a:xfrm>
          <a:prstGeom prst="rect">
            <a:avLst/>
          </a:prstGeom>
        </p:spPr>
        <p:txBody>
          <a:bodyPr wrap="square">
            <a:spAutoFit/>
          </a:bodyPr>
          <a:lstStyle/>
          <a:p>
            <a:r>
              <a:rPr lang="en-US" sz="1200" dirty="0">
                <a:solidFill>
                  <a:srgbClr val="8F08C4"/>
                </a:solidFill>
                <a:latin typeface="Consolas" panose="020B0609020204030204" pitchFamily="49" charset="0"/>
              </a:rPr>
              <a:t>if</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__name__</a:t>
            </a:r>
            <a:r>
              <a:rPr lang="en-US" sz="1200" dirty="0">
                <a:solidFill>
                  <a:srgbClr val="000000"/>
                </a:solidFill>
                <a:latin typeface="Consolas" panose="020B0609020204030204" pitchFamily="49" charset="0"/>
              </a:rPr>
              <a:t> == </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__main__</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1</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root</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None</a:t>
            </a:r>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 Use a list to allow modification of the root reference</a:t>
            </a:r>
            <a:endParaRPr lang="en-US" sz="1200" dirty="0">
              <a:solidFill>
                <a:srgbClr val="000000"/>
              </a:solidFill>
              <a:latin typeface="Consolas" panose="020B0609020204030204" pitchFamily="49" charset="0"/>
            </a:endParaRP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1: Insert an integer into the binary search tree;</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2: Print the level-order traversal of the binary search tree;</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0: Quit;</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8F08C4"/>
                </a:solidFill>
                <a:latin typeface="Consolas" panose="020B0609020204030204" pitchFamily="49" charset="0"/>
              </a:rPr>
              <a:t>while</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2B91AF"/>
                </a:solidFill>
                <a:latin typeface="Consolas" panose="020B0609020204030204" pitchFamily="49" charset="0"/>
              </a:rPr>
              <a:t>int</a:t>
            </a:r>
            <a:r>
              <a:rPr lang="en-US" sz="1200" dirty="0">
                <a:solidFill>
                  <a:srgbClr val="000000"/>
                </a:solidFill>
                <a:latin typeface="Consolas" panose="020B0609020204030204" pitchFamily="49" charset="0"/>
              </a:rPr>
              <a:t>(</a:t>
            </a:r>
            <a:r>
              <a:rPr lang="en-US" sz="1200" dirty="0">
                <a:solidFill>
                  <a:srgbClr val="74531F"/>
                </a:solidFill>
                <a:latin typeface="Consolas" panose="020B0609020204030204" pitchFamily="49" charset="0"/>
              </a:rPr>
              <a:t>input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Please input your choice(1/2/0): </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8F08C4"/>
                </a:solidFill>
                <a:latin typeface="Consolas" panose="020B0609020204030204" pitchFamily="49" charset="0"/>
              </a:rPr>
              <a:t>if</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1</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i</a:t>
            </a:r>
            <a:r>
              <a:rPr lang="en-US" sz="1200" dirty="0">
                <a:solidFill>
                  <a:srgbClr val="000000"/>
                </a:solidFill>
                <a:latin typeface="Consolas" panose="020B0609020204030204" pitchFamily="49" charset="0"/>
              </a:rPr>
              <a:t> = </a:t>
            </a:r>
            <a:r>
              <a:rPr lang="en-US" sz="1200" dirty="0">
                <a:solidFill>
                  <a:srgbClr val="2B91AF"/>
                </a:solidFill>
                <a:latin typeface="Consolas" panose="020B0609020204030204" pitchFamily="49" charset="0"/>
              </a:rPr>
              <a:t>int</a:t>
            </a:r>
            <a:r>
              <a:rPr lang="en-US" sz="1200" dirty="0">
                <a:solidFill>
                  <a:srgbClr val="000000"/>
                </a:solidFill>
                <a:latin typeface="Consolas" panose="020B0609020204030204" pitchFamily="49" charset="0"/>
              </a:rPr>
              <a:t>(</a:t>
            </a:r>
            <a:r>
              <a:rPr lang="en-US" sz="1200" dirty="0">
                <a:solidFill>
                  <a:srgbClr val="74531F"/>
                </a:solidFill>
                <a:latin typeface="Consolas" panose="020B0609020204030204" pitchFamily="49" charset="0"/>
              </a:rPr>
              <a:t>input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Input an integer that you want to insert into the Binary Search Tree: </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insert_bst_node</a:t>
            </a:r>
            <a:r>
              <a:rPr lang="en-US" sz="1200" dirty="0">
                <a:solidFill>
                  <a:srgbClr val="000000"/>
                </a:solidFill>
                <a:latin typeface="Consolas" panose="020B0609020204030204" pitchFamily="49" charset="0"/>
              </a:rPr>
              <a:t>(</a:t>
            </a:r>
            <a:r>
              <a:rPr lang="en-US" sz="1200" dirty="0">
                <a:solidFill>
                  <a:srgbClr val="1F377F"/>
                </a:solidFill>
                <a:latin typeface="Consolas" panose="020B0609020204030204" pitchFamily="49" charset="0"/>
              </a:rPr>
              <a:t>root</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i</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err="1">
                <a:solidFill>
                  <a:srgbClr val="8F08C4"/>
                </a:solidFill>
                <a:latin typeface="Consolas" panose="020B0609020204030204" pitchFamily="49" charset="0"/>
              </a:rPr>
              <a:t>elif</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2</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The resulting level-order traversal of the binary search tree is: </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end</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err="1">
                <a:solidFill>
                  <a:srgbClr val="74531F"/>
                </a:solidFill>
                <a:latin typeface="Consolas" panose="020B0609020204030204" pitchFamily="49" charset="0"/>
              </a:rPr>
              <a:t>levelOrderIterative</a:t>
            </a:r>
            <a:r>
              <a:rPr lang="en-US" sz="1200" dirty="0">
                <a:solidFill>
                  <a:srgbClr val="000000"/>
                </a:solidFill>
                <a:latin typeface="Consolas" panose="020B0609020204030204" pitchFamily="49" charset="0"/>
              </a:rPr>
              <a:t>(</a:t>
            </a:r>
            <a:r>
              <a:rPr lang="en-US" sz="1200" dirty="0">
                <a:solidFill>
                  <a:srgbClr val="1F377F"/>
                </a:solidFill>
                <a:latin typeface="Consolas" panose="020B0609020204030204" pitchFamily="49" charset="0"/>
              </a:rPr>
              <a:t>root</a:t>
            </a:r>
            <a:r>
              <a:rPr lang="en-US" sz="1200" dirty="0">
                <a:solidFill>
                  <a:srgbClr val="000000"/>
                </a:solidFill>
                <a:latin typeface="Consolas" panose="020B0609020204030204" pitchFamily="49" charset="0"/>
              </a:rPr>
              <a:t>[</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 Pass the actual root node</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err="1">
                <a:solidFill>
                  <a:srgbClr val="8F08C4"/>
                </a:solidFill>
                <a:latin typeface="Consolas" panose="020B0609020204030204" pitchFamily="49" charset="0"/>
              </a:rPr>
              <a:t>elif</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err="1">
                <a:solidFill>
                  <a:srgbClr val="74531F"/>
                </a:solidFill>
                <a:latin typeface="Consolas" panose="020B0609020204030204" pitchFamily="49" charset="0"/>
              </a:rPr>
              <a:t>remove_all</a:t>
            </a:r>
            <a:r>
              <a:rPr lang="en-US" sz="1200" dirty="0">
                <a:solidFill>
                  <a:srgbClr val="000000"/>
                </a:solidFill>
                <a:latin typeface="Consolas" panose="020B0609020204030204" pitchFamily="49" charset="0"/>
              </a:rPr>
              <a:t>(</a:t>
            </a:r>
            <a:r>
              <a:rPr lang="en-US" sz="1200" dirty="0">
                <a:solidFill>
                  <a:srgbClr val="1F377F"/>
                </a:solidFill>
                <a:latin typeface="Consolas" panose="020B0609020204030204" pitchFamily="49" charset="0"/>
              </a:rPr>
              <a:t>root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8F08C4"/>
                </a:solidFill>
                <a:latin typeface="Consolas" panose="020B0609020204030204" pitchFamily="49" charset="0"/>
              </a:rPr>
              <a:t>else</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Choice unknown;</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br>
              <a:rPr lang="en-US" sz="1200" dirty="0">
                <a:solidFill>
                  <a:srgbClr val="000000"/>
                </a:solidFill>
                <a:latin typeface="Consolas" panose="020B0609020204030204" pitchFamily="49" charset="0"/>
              </a:rPr>
            </a:br>
            <a:endParaRPr lang="en-US" sz="12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11" name="Rectangle 10">
            <a:extLst>
              <a:ext uri="{FF2B5EF4-FFF2-40B4-BE49-F238E27FC236}">
                <a16:creationId xmlns:a16="http://schemas.microsoft.com/office/drawing/2014/main" id="{9A160827-942E-482E-8B34-E253BF44CE36}"/>
              </a:ext>
            </a:extLst>
          </p:cNvPr>
          <p:cNvSpPr/>
          <p:nvPr/>
        </p:nvSpPr>
        <p:spPr>
          <a:xfrm>
            <a:off x="1066800" y="1133208"/>
            <a:ext cx="3390002" cy="461665"/>
          </a:xfrm>
          <a:prstGeom prst="rect">
            <a:avLst/>
          </a:prstGeom>
        </p:spPr>
        <p:txBody>
          <a:bodyPr wrap="square">
            <a:spAutoFit/>
          </a:bodyPr>
          <a:lstStyle/>
          <a:p>
            <a:pPr marR="0" lvl="0">
              <a:spcBef>
                <a:spcPts val="0"/>
              </a:spcBef>
              <a:spcAft>
                <a:spcPts val="0"/>
              </a:spcAft>
            </a:pPr>
            <a:r>
              <a:rPr lang="en-US" sz="2400" b="1" dirty="0">
                <a:latin typeface="Times New Roman" panose="02020603050405020304" pitchFamily="18" charset="0"/>
                <a:ea typeface="Times New Roman" panose="02020603050405020304" pitchFamily="18" charset="0"/>
              </a:rPr>
              <a:t>Testing our functions</a:t>
            </a:r>
          </a:p>
        </p:txBody>
      </p:sp>
      <p:sp>
        <p:nvSpPr>
          <p:cNvPr id="4" name="Rectangle 1">
            <a:extLst>
              <a:ext uri="{FF2B5EF4-FFF2-40B4-BE49-F238E27FC236}">
                <a16:creationId xmlns:a16="http://schemas.microsoft.com/office/drawing/2014/main" id="{CA83EC4B-4B3E-4818-A292-574F55D8EA61}"/>
              </a:ext>
            </a:extLst>
          </p:cNvPr>
          <p:cNvSpPr>
            <a:spLocks noChangeArrowheads="1"/>
          </p:cNvSpPr>
          <p:nvPr/>
        </p:nvSpPr>
        <p:spPr bwMode="auto">
          <a:xfrm>
            <a:off x="1469013" y="2074175"/>
            <a:ext cx="2209800" cy="369332"/>
          </a:xfrm>
          <a:prstGeom prst="rect">
            <a:avLst/>
          </a:prstGeom>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b="1" dirty="0">
                <a:solidFill>
                  <a:schemeClr val="tx1"/>
                </a:solidFill>
                <a:latin typeface="Times New Roman" panose="02020603050405020304" pitchFamily="18" charset="0"/>
                <a:cs typeface="Times New Roman" panose="02020603050405020304" pitchFamily="18" charset="0"/>
              </a:rPr>
              <a:t>Printing the menu</a:t>
            </a:r>
          </a:p>
        </p:txBody>
      </p:sp>
      <p:sp>
        <p:nvSpPr>
          <p:cNvPr id="5" name="Arrow: Right 4">
            <a:extLst>
              <a:ext uri="{FF2B5EF4-FFF2-40B4-BE49-F238E27FC236}">
                <a16:creationId xmlns:a16="http://schemas.microsoft.com/office/drawing/2014/main" id="{762AF53F-9F1E-44CA-A745-782F1E8614AE}"/>
              </a:ext>
            </a:extLst>
          </p:cNvPr>
          <p:cNvSpPr/>
          <p:nvPr/>
        </p:nvSpPr>
        <p:spPr>
          <a:xfrm>
            <a:off x="4051447" y="2046212"/>
            <a:ext cx="1005087" cy="35137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12FCFB1-AC94-4773-AF21-4F3F7A12414A}"/>
              </a:ext>
            </a:extLst>
          </p:cNvPr>
          <p:cNvSpPr/>
          <p:nvPr/>
        </p:nvSpPr>
        <p:spPr>
          <a:xfrm>
            <a:off x="5410200" y="1926882"/>
            <a:ext cx="6248400" cy="66391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Tree>
    <p:extLst>
      <p:ext uri="{BB962C8B-B14F-4D97-AF65-F5344CB8AC3E}">
        <p14:creationId xmlns:p14="http://schemas.microsoft.com/office/powerpoint/2010/main" val="39202365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9F3C17F-24B1-4327-9512-D4B7DEBE540B}"/>
              </a:ext>
            </a:extLst>
          </p:cNvPr>
          <p:cNvSpPr/>
          <p:nvPr/>
        </p:nvSpPr>
        <p:spPr>
          <a:xfrm>
            <a:off x="5148723" y="1152258"/>
            <a:ext cx="6629400" cy="5447645"/>
          </a:xfrm>
          <a:prstGeom prst="rect">
            <a:avLst/>
          </a:prstGeom>
        </p:spPr>
        <p:txBody>
          <a:bodyPr wrap="square">
            <a:spAutoFit/>
          </a:bodyPr>
          <a:lstStyle/>
          <a:p>
            <a:r>
              <a:rPr lang="en-US" sz="1200" dirty="0">
                <a:solidFill>
                  <a:srgbClr val="8F08C4"/>
                </a:solidFill>
                <a:latin typeface="Consolas" panose="020B0609020204030204" pitchFamily="49" charset="0"/>
              </a:rPr>
              <a:t>if</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__name__</a:t>
            </a:r>
            <a:r>
              <a:rPr lang="en-US" sz="1200" dirty="0">
                <a:solidFill>
                  <a:srgbClr val="000000"/>
                </a:solidFill>
                <a:latin typeface="Consolas" panose="020B0609020204030204" pitchFamily="49" charset="0"/>
              </a:rPr>
              <a:t> == </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__main__</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1</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root</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None</a:t>
            </a:r>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 Use a list to allow modification of the root reference</a:t>
            </a:r>
            <a:endParaRPr lang="en-US" sz="1200" dirty="0">
              <a:solidFill>
                <a:srgbClr val="000000"/>
              </a:solidFill>
              <a:latin typeface="Consolas" panose="020B0609020204030204" pitchFamily="49" charset="0"/>
            </a:endParaRP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1: Insert an integer into the binary search tree;</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2: Print the level-order traversal of the binary search tree;</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0: Quit;</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8F08C4"/>
                </a:solidFill>
                <a:latin typeface="Consolas" panose="020B0609020204030204" pitchFamily="49" charset="0"/>
              </a:rPr>
              <a:t>while</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2B91AF"/>
                </a:solidFill>
                <a:latin typeface="Consolas" panose="020B0609020204030204" pitchFamily="49" charset="0"/>
              </a:rPr>
              <a:t>int</a:t>
            </a:r>
            <a:r>
              <a:rPr lang="en-US" sz="1200" dirty="0">
                <a:solidFill>
                  <a:srgbClr val="000000"/>
                </a:solidFill>
                <a:latin typeface="Consolas" panose="020B0609020204030204" pitchFamily="49" charset="0"/>
              </a:rPr>
              <a:t>(</a:t>
            </a:r>
            <a:r>
              <a:rPr lang="en-US" sz="1200" dirty="0">
                <a:solidFill>
                  <a:srgbClr val="74531F"/>
                </a:solidFill>
                <a:latin typeface="Consolas" panose="020B0609020204030204" pitchFamily="49" charset="0"/>
              </a:rPr>
              <a:t>input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Please input your choice(1/2/0): </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8F08C4"/>
                </a:solidFill>
                <a:latin typeface="Consolas" panose="020B0609020204030204" pitchFamily="49" charset="0"/>
              </a:rPr>
              <a:t>if</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1</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i</a:t>
            </a:r>
            <a:r>
              <a:rPr lang="en-US" sz="1200" dirty="0">
                <a:solidFill>
                  <a:srgbClr val="000000"/>
                </a:solidFill>
                <a:latin typeface="Consolas" panose="020B0609020204030204" pitchFamily="49" charset="0"/>
              </a:rPr>
              <a:t> = </a:t>
            </a:r>
            <a:r>
              <a:rPr lang="en-US" sz="1200" dirty="0">
                <a:solidFill>
                  <a:srgbClr val="2B91AF"/>
                </a:solidFill>
                <a:latin typeface="Consolas" panose="020B0609020204030204" pitchFamily="49" charset="0"/>
              </a:rPr>
              <a:t>int</a:t>
            </a:r>
            <a:r>
              <a:rPr lang="en-US" sz="1200" dirty="0">
                <a:solidFill>
                  <a:srgbClr val="000000"/>
                </a:solidFill>
                <a:latin typeface="Consolas" panose="020B0609020204030204" pitchFamily="49" charset="0"/>
              </a:rPr>
              <a:t>(</a:t>
            </a:r>
            <a:r>
              <a:rPr lang="en-US" sz="1200" dirty="0">
                <a:solidFill>
                  <a:srgbClr val="74531F"/>
                </a:solidFill>
                <a:latin typeface="Consolas" panose="020B0609020204030204" pitchFamily="49" charset="0"/>
              </a:rPr>
              <a:t>input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Input an integer that you want to insert into the Binary Search Tree: </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insert_bst_node</a:t>
            </a:r>
            <a:r>
              <a:rPr lang="en-US" sz="1200" dirty="0">
                <a:solidFill>
                  <a:srgbClr val="000000"/>
                </a:solidFill>
                <a:latin typeface="Consolas" panose="020B0609020204030204" pitchFamily="49" charset="0"/>
              </a:rPr>
              <a:t>(</a:t>
            </a:r>
            <a:r>
              <a:rPr lang="en-US" sz="1200" dirty="0">
                <a:solidFill>
                  <a:srgbClr val="1F377F"/>
                </a:solidFill>
                <a:latin typeface="Consolas" panose="020B0609020204030204" pitchFamily="49" charset="0"/>
              </a:rPr>
              <a:t>root</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i</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err="1">
                <a:solidFill>
                  <a:srgbClr val="8F08C4"/>
                </a:solidFill>
                <a:latin typeface="Consolas" panose="020B0609020204030204" pitchFamily="49" charset="0"/>
              </a:rPr>
              <a:t>elif</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2</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The resulting level-order traversal of the binary search tree is: </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end</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err="1">
                <a:solidFill>
                  <a:srgbClr val="74531F"/>
                </a:solidFill>
                <a:latin typeface="Consolas" panose="020B0609020204030204" pitchFamily="49" charset="0"/>
              </a:rPr>
              <a:t>levelOrderIterative</a:t>
            </a:r>
            <a:r>
              <a:rPr lang="en-US" sz="1200" dirty="0">
                <a:solidFill>
                  <a:srgbClr val="000000"/>
                </a:solidFill>
                <a:latin typeface="Consolas" panose="020B0609020204030204" pitchFamily="49" charset="0"/>
              </a:rPr>
              <a:t>(</a:t>
            </a:r>
            <a:r>
              <a:rPr lang="en-US" sz="1200" dirty="0">
                <a:solidFill>
                  <a:srgbClr val="1F377F"/>
                </a:solidFill>
                <a:latin typeface="Consolas" panose="020B0609020204030204" pitchFamily="49" charset="0"/>
              </a:rPr>
              <a:t>root</a:t>
            </a:r>
            <a:r>
              <a:rPr lang="en-US" sz="1200" dirty="0">
                <a:solidFill>
                  <a:srgbClr val="000000"/>
                </a:solidFill>
                <a:latin typeface="Consolas" panose="020B0609020204030204" pitchFamily="49" charset="0"/>
              </a:rPr>
              <a:t>[</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 Pass the actual root node</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err="1">
                <a:solidFill>
                  <a:srgbClr val="8F08C4"/>
                </a:solidFill>
                <a:latin typeface="Consolas" panose="020B0609020204030204" pitchFamily="49" charset="0"/>
              </a:rPr>
              <a:t>elif</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err="1">
                <a:solidFill>
                  <a:srgbClr val="74531F"/>
                </a:solidFill>
                <a:latin typeface="Consolas" panose="020B0609020204030204" pitchFamily="49" charset="0"/>
              </a:rPr>
              <a:t>remove_all</a:t>
            </a:r>
            <a:r>
              <a:rPr lang="en-US" sz="1200" dirty="0">
                <a:solidFill>
                  <a:srgbClr val="000000"/>
                </a:solidFill>
                <a:latin typeface="Consolas" panose="020B0609020204030204" pitchFamily="49" charset="0"/>
              </a:rPr>
              <a:t>(</a:t>
            </a:r>
            <a:r>
              <a:rPr lang="en-US" sz="1200" dirty="0">
                <a:solidFill>
                  <a:srgbClr val="1F377F"/>
                </a:solidFill>
                <a:latin typeface="Consolas" panose="020B0609020204030204" pitchFamily="49" charset="0"/>
              </a:rPr>
              <a:t>root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8F08C4"/>
                </a:solidFill>
                <a:latin typeface="Consolas" panose="020B0609020204030204" pitchFamily="49" charset="0"/>
              </a:rPr>
              <a:t>else</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Choice unknown;</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br>
              <a:rPr lang="en-US" sz="1200" dirty="0">
                <a:solidFill>
                  <a:srgbClr val="000000"/>
                </a:solidFill>
                <a:latin typeface="Consolas" panose="020B0609020204030204" pitchFamily="49" charset="0"/>
              </a:rPr>
            </a:br>
            <a:endParaRPr lang="en-US" sz="12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11" name="Rectangle 10">
            <a:extLst>
              <a:ext uri="{FF2B5EF4-FFF2-40B4-BE49-F238E27FC236}">
                <a16:creationId xmlns:a16="http://schemas.microsoft.com/office/drawing/2014/main" id="{9A160827-942E-482E-8B34-E253BF44CE36}"/>
              </a:ext>
            </a:extLst>
          </p:cNvPr>
          <p:cNvSpPr/>
          <p:nvPr/>
        </p:nvSpPr>
        <p:spPr>
          <a:xfrm>
            <a:off x="1066800" y="1133208"/>
            <a:ext cx="3390002" cy="461665"/>
          </a:xfrm>
          <a:prstGeom prst="rect">
            <a:avLst/>
          </a:prstGeom>
        </p:spPr>
        <p:txBody>
          <a:bodyPr wrap="square">
            <a:spAutoFit/>
          </a:bodyPr>
          <a:lstStyle/>
          <a:p>
            <a:pPr marR="0" lvl="0">
              <a:spcBef>
                <a:spcPts val="0"/>
              </a:spcBef>
              <a:spcAft>
                <a:spcPts val="0"/>
              </a:spcAft>
            </a:pPr>
            <a:r>
              <a:rPr lang="en-US" sz="2400" b="1" dirty="0">
                <a:latin typeface="Times New Roman" panose="02020603050405020304" pitchFamily="18" charset="0"/>
                <a:ea typeface="Times New Roman" panose="02020603050405020304" pitchFamily="18" charset="0"/>
              </a:rPr>
              <a:t>Testing our functions</a:t>
            </a:r>
          </a:p>
        </p:txBody>
      </p:sp>
      <p:sp>
        <p:nvSpPr>
          <p:cNvPr id="4" name="Rectangle 1">
            <a:extLst>
              <a:ext uri="{FF2B5EF4-FFF2-40B4-BE49-F238E27FC236}">
                <a16:creationId xmlns:a16="http://schemas.microsoft.com/office/drawing/2014/main" id="{CA83EC4B-4B3E-4818-A292-574F55D8EA61}"/>
              </a:ext>
            </a:extLst>
          </p:cNvPr>
          <p:cNvSpPr>
            <a:spLocks noChangeArrowheads="1"/>
          </p:cNvSpPr>
          <p:nvPr/>
        </p:nvSpPr>
        <p:spPr bwMode="auto">
          <a:xfrm>
            <a:off x="857886" y="2514600"/>
            <a:ext cx="2985134" cy="3416320"/>
          </a:xfrm>
          <a:prstGeom prst="rect">
            <a:avLst/>
          </a:prstGeom>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b="1" dirty="0">
                <a:solidFill>
                  <a:schemeClr val="tx1"/>
                </a:solidFill>
                <a:latin typeface="Times New Roman" panose="02020603050405020304" pitchFamily="18" charset="0"/>
                <a:cs typeface="Times New Roman" panose="02020603050405020304" pitchFamily="18" charset="0"/>
              </a:rPr>
              <a:t>Insert a node (user choice = 1)</a:t>
            </a:r>
          </a:p>
          <a:p>
            <a:pPr eaLnBrk="0" fontAlgn="base" hangingPunct="0">
              <a:spcBef>
                <a:spcPct val="0"/>
              </a:spcBef>
              <a:spcAft>
                <a:spcPct val="0"/>
              </a:spcAft>
            </a:pPr>
            <a:endParaRPr lang="en-US" altLang="en-US" b="1" dirty="0">
              <a:solidFill>
                <a:schemeClr val="tx1"/>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altLang="en-US" dirty="0">
                <a:solidFill>
                  <a:schemeClr val="tx1"/>
                </a:solidFill>
                <a:latin typeface="Times New Roman" panose="02020603050405020304" pitchFamily="18" charset="0"/>
                <a:cs typeface="Times New Roman" panose="02020603050405020304" pitchFamily="18" charset="0"/>
              </a:rPr>
              <a:t>Prompts the user to enter an integer.</a:t>
            </a:r>
          </a:p>
          <a:p>
            <a:pPr eaLnBrk="0" fontAlgn="base" hangingPunct="0">
              <a:spcBef>
                <a:spcPct val="0"/>
              </a:spcBef>
              <a:spcAft>
                <a:spcPct val="0"/>
              </a:spcAft>
            </a:pPr>
            <a:endParaRPr lang="en-US" altLang="en-US" dirty="0">
              <a:solidFill>
                <a:schemeClr val="tx1"/>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altLang="en-US" dirty="0">
                <a:solidFill>
                  <a:schemeClr val="tx1"/>
                </a:solidFill>
                <a:latin typeface="Times New Roman" panose="02020603050405020304" pitchFamily="18" charset="0"/>
                <a:cs typeface="Times New Roman" panose="02020603050405020304" pitchFamily="18" charset="0"/>
              </a:rPr>
              <a:t>Calls insert_bst_node with root (the list) and the value.</a:t>
            </a:r>
          </a:p>
          <a:p>
            <a:pPr eaLnBrk="0" fontAlgn="base" hangingPunct="0">
              <a:spcBef>
                <a:spcPct val="0"/>
              </a:spcBef>
              <a:spcAft>
                <a:spcPct val="0"/>
              </a:spcAft>
            </a:pPr>
            <a:endParaRPr lang="en-US" altLang="en-US" dirty="0">
              <a:solidFill>
                <a:schemeClr val="tx1"/>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altLang="en-US" dirty="0">
                <a:solidFill>
                  <a:schemeClr val="tx1"/>
                </a:solidFill>
                <a:latin typeface="Times New Roman" panose="02020603050405020304" pitchFamily="18" charset="0"/>
                <a:cs typeface="Times New Roman" panose="02020603050405020304" pitchFamily="18" charset="0"/>
              </a:rPr>
              <a:t>insert_bst_node will modify the tree in-place, updating root[0] if needed.</a:t>
            </a:r>
          </a:p>
        </p:txBody>
      </p:sp>
      <p:sp>
        <p:nvSpPr>
          <p:cNvPr id="5" name="Arrow: Right 4">
            <a:extLst>
              <a:ext uri="{FF2B5EF4-FFF2-40B4-BE49-F238E27FC236}">
                <a16:creationId xmlns:a16="http://schemas.microsoft.com/office/drawing/2014/main" id="{762AF53F-9F1E-44CA-A745-782F1E8614AE}"/>
              </a:ext>
            </a:extLst>
          </p:cNvPr>
          <p:cNvSpPr/>
          <p:nvPr/>
        </p:nvSpPr>
        <p:spPr>
          <a:xfrm>
            <a:off x="3965215" y="3429000"/>
            <a:ext cx="1005087" cy="35137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12FCFB1-AC94-4773-AF21-4F3F7A12414A}"/>
              </a:ext>
            </a:extLst>
          </p:cNvPr>
          <p:cNvSpPr/>
          <p:nvPr/>
        </p:nvSpPr>
        <p:spPr>
          <a:xfrm>
            <a:off x="5148722" y="3124200"/>
            <a:ext cx="6721589" cy="96871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Tree>
    <p:extLst>
      <p:ext uri="{BB962C8B-B14F-4D97-AF65-F5344CB8AC3E}">
        <p14:creationId xmlns:p14="http://schemas.microsoft.com/office/powerpoint/2010/main" val="34657464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9F3C17F-24B1-4327-9512-D4B7DEBE540B}"/>
              </a:ext>
            </a:extLst>
          </p:cNvPr>
          <p:cNvSpPr/>
          <p:nvPr/>
        </p:nvSpPr>
        <p:spPr>
          <a:xfrm>
            <a:off x="5148723" y="1152258"/>
            <a:ext cx="6629400" cy="5447645"/>
          </a:xfrm>
          <a:prstGeom prst="rect">
            <a:avLst/>
          </a:prstGeom>
        </p:spPr>
        <p:txBody>
          <a:bodyPr wrap="square">
            <a:spAutoFit/>
          </a:bodyPr>
          <a:lstStyle/>
          <a:p>
            <a:r>
              <a:rPr lang="en-US" sz="1200" dirty="0">
                <a:solidFill>
                  <a:srgbClr val="8F08C4"/>
                </a:solidFill>
                <a:latin typeface="Consolas" panose="020B0609020204030204" pitchFamily="49" charset="0"/>
              </a:rPr>
              <a:t>if</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__name__</a:t>
            </a:r>
            <a:r>
              <a:rPr lang="en-US" sz="1200" dirty="0">
                <a:solidFill>
                  <a:srgbClr val="000000"/>
                </a:solidFill>
                <a:latin typeface="Consolas" panose="020B0609020204030204" pitchFamily="49" charset="0"/>
              </a:rPr>
              <a:t> == </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__main__</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1</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root</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None</a:t>
            </a:r>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 Use a list to allow modification of the root reference</a:t>
            </a:r>
            <a:endParaRPr lang="en-US" sz="1200" dirty="0">
              <a:solidFill>
                <a:srgbClr val="000000"/>
              </a:solidFill>
              <a:latin typeface="Consolas" panose="020B0609020204030204" pitchFamily="49" charset="0"/>
            </a:endParaRP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1: Insert an integer into the binary search tree;</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2: Print the level-order traversal of the binary search tree;</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0: Quit;</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8F08C4"/>
                </a:solidFill>
                <a:latin typeface="Consolas" panose="020B0609020204030204" pitchFamily="49" charset="0"/>
              </a:rPr>
              <a:t>while</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2B91AF"/>
                </a:solidFill>
                <a:latin typeface="Consolas" panose="020B0609020204030204" pitchFamily="49" charset="0"/>
              </a:rPr>
              <a:t>int</a:t>
            </a:r>
            <a:r>
              <a:rPr lang="en-US" sz="1200" dirty="0">
                <a:solidFill>
                  <a:srgbClr val="000000"/>
                </a:solidFill>
                <a:latin typeface="Consolas" panose="020B0609020204030204" pitchFamily="49" charset="0"/>
              </a:rPr>
              <a:t>(</a:t>
            </a:r>
            <a:r>
              <a:rPr lang="en-US" sz="1200" dirty="0">
                <a:solidFill>
                  <a:srgbClr val="74531F"/>
                </a:solidFill>
                <a:latin typeface="Consolas" panose="020B0609020204030204" pitchFamily="49" charset="0"/>
              </a:rPr>
              <a:t>input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Please input your choice(1/2/0): </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8F08C4"/>
                </a:solidFill>
                <a:latin typeface="Consolas" panose="020B0609020204030204" pitchFamily="49" charset="0"/>
              </a:rPr>
              <a:t>if</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1</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i</a:t>
            </a:r>
            <a:r>
              <a:rPr lang="en-US" sz="1200" dirty="0">
                <a:solidFill>
                  <a:srgbClr val="000000"/>
                </a:solidFill>
                <a:latin typeface="Consolas" panose="020B0609020204030204" pitchFamily="49" charset="0"/>
              </a:rPr>
              <a:t> = </a:t>
            </a:r>
            <a:r>
              <a:rPr lang="en-US" sz="1200" dirty="0">
                <a:solidFill>
                  <a:srgbClr val="2B91AF"/>
                </a:solidFill>
                <a:latin typeface="Consolas" panose="020B0609020204030204" pitchFamily="49" charset="0"/>
              </a:rPr>
              <a:t>int</a:t>
            </a:r>
            <a:r>
              <a:rPr lang="en-US" sz="1200" dirty="0">
                <a:solidFill>
                  <a:srgbClr val="000000"/>
                </a:solidFill>
                <a:latin typeface="Consolas" panose="020B0609020204030204" pitchFamily="49" charset="0"/>
              </a:rPr>
              <a:t>(</a:t>
            </a:r>
            <a:r>
              <a:rPr lang="en-US" sz="1200" dirty="0">
                <a:solidFill>
                  <a:srgbClr val="74531F"/>
                </a:solidFill>
                <a:latin typeface="Consolas" panose="020B0609020204030204" pitchFamily="49" charset="0"/>
              </a:rPr>
              <a:t>input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Input an integer that you want to insert into the Binary Search Tree: </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insert_bst_node</a:t>
            </a:r>
            <a:r>
              <a:rPr lang="en-US" sz="1200" dirty="0">
                <a:solidFill>
                  <a:srgbClr val="000000"/>
                </a:solidFill>
                <a:latin typeface="Consolas" panose="020B0609020204030204" pitchFamily="49" charset="0"/>
              </a:rPr>
              <a:t>(</a:t>
            </a:r>
            <a:r>
              <a:rPr lang="en-US" sz="1200" dirty="0">
                <a:solidFill>
                  <a:srgbClr val="1F377F"/>
                </a:solidFill>
                <a:latin typeface="Consolas" panose="020B0609020204030204" pitchFamily="49" charset="0"/>
              </a:rPr>
              <a:t>root</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i</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err="1">
                <a:solidFill>
                  <a:srgbClr val="8F08C4"/>
                </a:solidFill>
                <a:latin typeface="Consolas" panose="020B0609020204030204" pitchFamily="49" charset="0"/>
              </a:rPr>
              <a:t>elif</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2</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The resulting level-order traversal of the binary search tree is: </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end</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err="1">
                <a:solidFill>
                  <a:srgbClr val="74531F"/>
                </a:solidFill>
                <a:latin typeface="Consolas" panose="020B0609020204030204" pitchFamily="49" charset="0"/>
              </a:rPr>
              <a:t>levelOrderIterative</a:t>
            </a:r>
            <a:r>
              <a:rPr lang="en-US" sz="1200" dirty="0">
                <a:solidFill>
                  <a:srgbClr val="000000"/>
                </a:solidFill>
                <a:latin typeface="Consolas" panose="020B0609020204030204" pitchFamily="49" charset="0"/>
              </a:rPr>
              <a:t>(</a:t>
            </a:r>
            <a:r>
              <a:rPr lang="en-US" sz="1200" dirty="0">
                <a:solidFill>
                  <a:srgbClr val="1F377F"/>
                </a:solidFill>
                <a:latin typeface="Consolas" panose="020B0609020204030204" pitchFamily="49" charset="0"/>
              </a:rPr>
              <a:t>root</a:t>
            </a:r>
            <a:r>
              <a:rPr lang="en-US" sz="1200" dirty="0">
                <a:solidFill>
                  <a:srgbClr val="000000"/>
                </a:solidFill>
                <a:latin typeface="Consolas" panose="020B0609020204030204" pitchFamily="49" charset="0"/>
              </a:rPr>
              <a:t>[</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 Pass the actual root node</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err="1">
                <a:solidFill>
                  <a:srgbClr val="8F08C4"/>
                </a:solidFill>
                <a:latin typeface="Consolas" panose="020B0609020204030204" pitchFamily="49" charset="0"/>
              </a:rPr>
              <a:t>elif</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err="1">
                <a:solidFill>
                  <a:srgbClr val="74531F"/>
                </a:solidFill>
                <a:latin typeface="Consolas" panose="020B0609020204030204" pitchFamily="49" charset="0"/>
              </a:rPr>
              <a:t>remove_all</a:t>
            </a:r>
            <a:r>
              <a:rPr lang="en-US" sz="1200" dirty="0">
                <a:solidFill>
                  <a:srgbClr val="000000"/>
                </a:solidFill>
                <a:latin typeface="Consolas" panose="020B0609020204030204" pitchFamily="49" charset="0"/>
              </a:rPr>
              <a:t>(</a:t>
            </a:r>
            <a:r>
              <a:rPr lang="en-US" sz="1200" dirty="0">
                <a:solidFill>
                  <a:srgbClr val="1F377F"/>
                </a:solidFill>
                <a:latin typeface="Consolas" panose="020B0609020204030204" pitchFamily="49" charset="0"/>
              </a:rPr>
              <a:t>root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8F08C4"/>
                </a:solidFill>
                <a:latin typeface="Consolas" panose="020B0609020204030204" pitchFamily="49" charset="0"/>
              </a:rPr>
              <a:t>else</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Choice unknown;</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br>
              <a:rPr lang="en-US" sz="1200" dirty="0">
                <a:solidFill>
                  <a:srgbClr val="000000"/>
                </a:solidFill>
                <a:latin typeface="Consolas" panose="020B0609020204030204" pitchFamily="49" charset="0"/>
              </a:rPr>
            </a:br>
            <a:endParaRPr lang="en-US" sz="12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11" name="Rectangle 10">
            <a:extLst>
              <a:ext uri="{FF2B5EF4-FFF2-40B4-BE49-F238E27FC236}">
                <a16:creationId xmlns:a16="http://schemas.microsoft.com/office/drawing/2014/main" id="{9A160827-942E-482E-8B34-E253BF44CE36}"/>
              </a:ext>
            </a:extLst>
          </p:cNvPr>
          <p:cNvSpPr/>
          <p:nvPr/>
        </p:nvSpPr>
        <p:spPr>
          <a:xfrm>
            <a:off x="1066800" y="1133208"/>
            <a:ext cx="3390002" cy="461665"/>
          </a:xfrm>
          <a:prstGeom prst="rect">
            <a:avLst/>
          </a:prstGeom>
        </p:spPr>
        <p:txBody>
          <a:bodyPr wrap="square">
            <a:spAutoFit/>
          </a:bodyPr>
          <a:lstStyle/>
          <a:p>
            <a:pPr marR="0" lvl="0">
              <a:spcBef>
                <a:spcPts val="0"/>
              </a:spcBef>
              <a:spcAft>
                <a:spcPts val="0"/>
              </a:spcAft>
            </a:pPr>
            <a:r>
              <a:rPr lang="en-US" sz="2400" b="1" dirty="0">
                <a:latin typeface="Times New Roman" panose="02020603050405020304" pitchFamily="18" charset="0"/>
                <a:ea typeface="Times New Roman" panose="02020603050405020304" pitchFamily="18" charset="0"/>
              </a:rPr>
              <a:t>Testing our functions</a:t>
            </a:r>
          </a:p>
        </p:txBody>
      </p:sp>
      <p:sp>
        <p:nvSpPr>
          <p:cNvPr id="4" name="Rectangle 1">
            <a:extLst>
              <a:ext uri="{FF2B5EF4-FFF2-40B4-BE49-F238E27FC236}">
                <a16:creationId xmlns:a16="http://schemas.microsoft.com/office/drawing/2014/main" id="{CA83EC4B-4B3E-4818-A292-574F55D8EA61}"/>
              </a:ext>
            </a:extLst>
          </p:cNvPr>
          <p:cNvSpPr>
            <a:spLocks noChangeArrowheads="1"/>
          </p:cNvSpPr>
          <p:nvPr/>
        </p:nvSpPr>
        <p:spPr bwMode="auto">
          <a:xfrm>
            <a:off x="857886" y="3068598"/>
            <a:ext cx="2985134" cy="2308324"/>
          </a:xfrm>
          <a:prstGeom prst="rect">
            <a:avLst/>
          </a:prstGeom>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b="1" dirty="0">
                <a:solidFill>
                  <a:schemeClr val="tx1"/>
                </a:solidFill>
                <a:latin typeface="Times New Roman" panose="02020603050405020304" pitchFamily="18" charset="0"/>
                <a:cs typeface="Times New Roman" panose="02020603050405020304" pitchFamily="18" charset="0"/>
              </a:rPr>
              <a:t>Level-order traversal (user choice = 2)</a:t>
            </a:r>
          </a:p>
          <a:p>
            <a:pPr eaLnBrk="0" fontAlgn="base" hangingPunct="0">
              <a:spcBef>
                <a:spcPct val="0"/>
              </a:spcBef>
              <a:spcAft>
                <a:spcPct val="0"/>
              </a:spcAft>
            </a:pPr>
            <a:endParaRPr lang="en-US" altLang="en-US" b="1" dirty="0">
              <a:solidFill>
                <a:schemeClr val="tx1"/>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altLang="en-US" dirty="0">
                <a:solidFill>
                  <a:schemeClr val="tx1"/>
                </a:solidFill>
                <a:latin typeface="Times New Roman" panose="02020603050405020304" pitchFamily="18" charset="0"/>
                <a:cs typeface="Times New Roman" panose="02020603050405020304" pitchFamily="18" charset="0"/>
              </a:rPr>
              <a:t>Calls </a:t>
            </a:r>
            <a:r>
              <a:rPr lang="en-US" altLang="en-US" dirty="0" err="1">
                <a:solidFill>
                  <a:schemeClr val="tx1"/>
                </a:solidFill>
                <a:latin typeface="Times New Roman" panose="02020603050405020304" pitchFamily="18" charset="0"/>
                <a:cs typeface="Times New Roman" panose="02020603050405020304" pitchFamily="18" charset="0"/>
              </a:rPr>
              <a:t>levelOrderIterative</a:t>
            </a:r>
            <a:r>
              <a:rPr lang="en-US" altLang="en-US" dirty="0">
                <a:solidFill>
                  <a:schemeClr val="tx1"/>
                </a:solidFill>
                <a:latin typeface="Times New Roman" panose="02020603050405020304" pitchFamily="18" charset="0"/>
                <a:cs typeface="Times New Roman" panose="02020603050405020304" pitchFamily="18" charset="0"/>
              </a:rPr>
              <a:t> on the current root (root[0]).</a:t>
            </a:r>
          </a:p>
          <a:p>
            <a:pPr eaLnBrk="0" fontAlgn="base" hangingPunct="0">
              <a:spcBef>
                <a:spcPct val="0"/>
              </a:spcBef>
              <a:spcAft>
                <a:spcPct val="0"/>
              </a:spcAft>
            </a:pPr>
            <a:endParaRPr lang="en-US" altLang="en-US" dirty="0">
              <a:solidFill>
                <a:schemeClr val="tx1"/>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altLang="en-US" dirty="0">
                <a:solidFill>
                  <a:schemeClr val="tx1"/>
                </a:solidFill>
                <a:latin typeface="Times New Roman" panose="02020603050405020304" pitchFamily="18" charset="0"/>
                <a:cs typeface="Times New Roman" panose="02020603050405020304" pitchFamily="18" charset="0"/>
              </a:rPr>
              <a:t>Prints the nodes in level-by-level order.</a:t>
            </a:r>
          </a:p>
        </p:txBody>
      </p:sp>
      <p:sp>
        <p:nvSpPr>
          <p:cNvPr id="5" name="Arrow: Right 4">
            <a:extLst>
              <a:ext uri="{FF2B5EF4-FFF2-40B4-BE49-F238E27FC236}">
                <a16:creationId xmlns:a16="http://schemas.microsoft.com/office/drawing/2014/main" id="{762AF53F-9F1E-44CA-A745-782F1E8614AE}"/>
              </a:ext>
            </a:extLst>
          </p:cNvPr>
          <p:cNvSpPr/>
          <p:nvPr/>
        </p:nvSpPr>
        <p:spPr>
          <a:xfrm>
            <a:off x="3954258" y="4258727"/>
            <a:ext cx="1005087" cy="35137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12FCFB1-AC94-4773-AF21-4F3F7A12414A}"/>
              </a:ext>
            </a:extLst>
          </p:cNvPr>
          <p:cNvSpPr/>
          <p:nvPr/>
        </p:nvSpPr>
        <p:spPr>
          <a:xfrm>
            <a:off x="5148723" y="4038600"/>
            <a:ext cx="6721589" cy="1143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Tree>
    <p:extLst>
      <p:ext uri="{BB962C8B-B14F-4D97-AF65-F5344CB8AC3E}">
        <p14:creationId xmlns:p14="http://schemas.microsoft.com/office/powerpoint/2010/main" val="3640417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9F3C17F-24B1-4327-9512-D4B7DEBE540B}"/>
              </a:ext>
            </a:extLst>
          </p:cNvPr>
          <p:cNvSpPr/>
          <p:nvPr/>
        </p:nvSpPr>
        <p:spPr>
          <a:xfrm>
            <a:off x="5148723" y="1152258"/>
            <a:ext cx="6629400" cy="5447645"/>
          </a:xfrm>
          <a:prstGeom prst="rect">
            <a:avLst/>
          </a:prstGeom>
        </p:spPr>
        <p:txBody>
          <a:bodyPr wrap="square">
            <a:spAutoFit/>
          </a:bodyPr>
          <a:lstStyle/>
          <a:p>
            <a:r>
              <a:rPr lang="en-US" sz="1200" dirty="0">
                <a:solidFill>
                  <a:srgbClr val="8F08C4"/>
                </a:solidFill>
                <a:latin typeface="Consolas" panose="020B0609020204030204" pitchFamily="49" charset="0"/>
              </a:rPr>
              <a:t>if</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__name__</a:t>
            </a:r>
            <a:r>
              <a:rPr lang="en-US" sz="1200" dirty="0">
                <a:solidFill>
                  <a:srgbClr val="000000"/>
                </a:solidFill>
                <a:latin typeface="Consolas" panose="020B0609020204030204" pitchFamily="49" charset="0"/>
              </a:rPr>
              <a:t> == </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__main__</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1</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root</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None</a:t>
            </a:r>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 Use a list to allow modification of the root reference</a:t>
            </a:r>
            <a:endParaRPr lang="en-US" sz="1200" dirty="0">
              <a:solidFill>
                <a:srgbClr val="000000"/>
              </a:solidFill>
              <a:latin typeface="Consolas" panose="020B0609020204030204" pitchFamily="49" charset="0"/>
            </a:endParaRP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1: Insert an integer into the binary search tree;</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2: Print the level-order traversal of the binary search tree;</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0: Quit;</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8F08C4"/>
                </a:solidFill>
                <a:latin typeface="Consolas" panose="020B0609020204030204" pitchFamily="49" charset="0"/>
              </a:rPr>
              <a:t>while</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2B91AF"/>
                </a:solidFill>
                <a:latin typeface="Consolas" panose="020B0609020204030204" pitchFamily="49" charset="0"/>
              </a:rPr>
              <a:t>int</a:t>
            </a:r>
            <a:r>
              <a:rPr lang="en-US" sz="1200" dirty="0">
                <a:solidFill>
                  <a:srgbClr val="000000"/>
                </a:solidFill>
                <a:latin typeface="Consolas" panose="020B0609020204030204" pitchFamily="49" charset="0"/>
              </a:rPr>
              <a:t>(</a:t>
            </a:r>
            <a:r>
              <a:rPr lang="en-US" sz="1200" dirty="0">
                <a:solidFill>
                  <a:srgbClr val="74531F"/>
                </a:solidFill>
                <a:latin typeface="Consolas" panose="020B0609020204030204" pitchFamily="49" charset="0"/>
              </a:rPr>
              <a:t>input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Please input your choice(1/2/0): </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8F08C4"/>
                </a:solidFill>
                <a:latin typeface="Consolas" panose="020B0609020204030204" pitchFamily="49" charset="0"/>
              </a:rPr>
              <a:t>if</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1</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i</a:t>
            </a:r>
            <a:r>
              <a:rPr lang="en-US" sz="1200" dirty="0">
                <a:solidFill>
                  <a:srgbClr val="000000"/>
                </a:solidFill>
                <a:latin typeface="Consolas" panose="020B0609020204030204" pitchFamily="49" charset="0"/>
              </a:rPr>
              <a:t> = </a:t>
            </a:r>
            <a:r>
              <a:rPr lang="en-US" sz="1200" dirty="0">
                <a:solidFill>
                  <a:srgbClr val="2B91AF"/>
                </a:solidFill>
                <a:latin typeface="Consolas" panose="020B0609020204030204" pitchFamily="49" charset="0"/>
              </a:rPr>
              <a:t>int</a:t>
            </a:r>
            <a:r>
              <a:rPr lang="en-US" sz="1200" dirty="0">
                <a:solidFill>
                  <a:srgbClr val="000000"/>
                </a:solidFill>
                <a:latin typeface="Consolas" panose="020B0609020204030204" pitchFamily="49" charset="0"/>
              </a:rPr>
              <a:t>(</a:t>
            </a:r>
            <a:r>
              <a:rPr lang="en-US" sz="1200" dirty="0">
                <a:solidFill>
                  <a:srgbClr val="74531F"/>
                </a:solidFill>
                <a:latin typeface="Consolas" panose="020B0609020204030204" pitchFamily="49" charset="0"/>
              </a:rPr>
              <a:t>input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Input an integer that you want to insert into the Binary Search Tree: </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insert_bst_node</a:t>
            </a:r>
            <a:r>
              <a:rPr lang="en-US" sz="1200" dirty="0">
                <a:solidFill>
                  <a:srgbClr val="000000"/>
                </a:solidFill>
                <a:latin typeface="Consolas" panose="020B0609020204030204" pitchFamily="49" charset="0"/>
              </a:rPr>
              <a:t>(</a:t>
            </a:r>
            <a:r>
              <a:rPr lang="en-US" sz="1200" dirty="0">
                <a:solidFill>
                  <a:srgbClr val="1F377F"/>
                </a:solidFill>
                <a:latin typeface="Consolas" panose="020B0609020204030204" pitchFamily="49" charset="0"/>
              </a:rPr>
              <a:t>root</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i</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err="1">
                <a:solidFill>
                  <a:srgbClr val="8F08C4"/>
                </a:solidFill>
                <a:latin typeface="Consolas" panose="020B0609020204030204" pitchFamily="49" charset="0"/>
              </a:rPr>
              <a:t>elif</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2</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The resulting level-order traversal of the binary search tree is: </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end</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err="1">
                <a:solidFill>
                  <a:srgbClr val="74531F"/>
                </a:solidFill>
                <a:latin typeface="Consolas" panose="020B0609020204030204" pitchFamily="49" charset="0"/>
              </a:rPr>
              <a:t>levelOrderIterative</a:t>
            </a:r>
            <a:r>
              <a:rPr lang="en-US" sz="1200" dirty="0">
                <a:solidFill>
                  <a:srgbClr val="000000"/>
                </a:solidFill>
                <a:latin typeface="Consolas" panose="020B0609020204030204" pitchFamily="49" charset="0"/>
              </a:rPr>
              <a:t>(</a:t>
            </a:r>
            <a:r>
              <a:rPr lang="en-US" sz="1200" dirty="0">
                <a:solidFill>
                  <a:srgbClr val="1F377F"/>
                </a:solidFill>
                <a:latin typeface="Consolas" panose="020B0609020204030204" pitchFamily="49" charset="0"/>
              </a:rPr>
              <a:t>root</a:t>
            </a:r>
            <a:r>
              <a:rPr lang="en-US" sz="1200" dirty="0">
                <a:solidFill>
                  <a:srgbClr val="000000"/>
                </a:solidFill>
                <a:latin typeface="Consolas" panose="020B0609020204030204" pitchFamily="49" charset="0"/>
              </a:rPr>
              <a:t>[</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 Pass the actual root node</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err="1">
                <a:solidFill>
                  <a:srgbClr val="8F08C4"/>
                </a:solidFill>
                <a:latin typeface="Consolas" panose="020B0609020204030204" pitchFamily="49" charset="0"/>
              </a:rPr>
              <a:t>elif</a:t>
            </a:r>
            <a:r>
              <a:rPr lang="en-US" sz="1200" dirty="0">
                <a:solidFill>
                  <a:srgbClr val="000000"/>
                </a:solidFill>
                <a:latin typeface="Consolas" panose="020B0609020204030204" pitchFamily="49" charset="0"/>
              </a:rPr>
              <a:t> </a:t>
            </a:r>
            <a:r>
              <a:rPr lang="en-US" sz="1200" dirty="0">
                <a:solidFill>
                  <a:srgbClr val="1F377F"/>
                </a:solidFill>
                <a:latin typeface="Consolas" panose="020B0609020204030204" pitchFamily="49" charset="0"/>
              </a:rPr>
              <a:t>c</a:t>
            </a:r>
            <a:r>
              <a:rPr lang="en-US" sz="1200" dirty="0">
                <a:solidFill>
                  <a:srgbClr val="000000"/>
                </a:solidFill>
                <a:latin typeface="Consolas" panose="020B0609020204030204" pitchFamily="49" charset="0"/>
              </a:rPr>
              <a:t> == </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err="1">
                <a:solidFill>
                  <a:srgbClr val="74531F"/>
                </a:solidFill>
                <a:latin typeface="Consolas" panose="020B0609020204030204" pitchFamily="49" charset="0"/>
              </a:rPr>
              <a:t>remove_all</a:t>
            </a:r>
            <a:r>
              <a:rPr lang="en-US" sz="1200" dirty="0">
                <a:solidFill>
                  <a:srgbClr val="000000"/>
                </a:solidFill>
                <a:latin typeface="Consolas" panose="020B0609020204030204" pitchFamily="49" charset="0"/>
              </a:rPr>
              <a:t>(</a:t>
            </a:r>
            <a:r>
              <a:rPr lang="en-US" sz="1200" dirty="0">
                <a:solidFill>
                  <a:srgbClr val="1F377F"/>
                </a:solidFill>
                <a:latin typeface="Consolas" panose="020B0609020204030204" pitchFamily="49" charset="0"/>
              </a:rPr>
              <a:t>root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8F08C4"/>
                </a:solidFill>
                <a:latin typeface="Consolas" panose="020B0609020204030204" pitchFamily="49" charset="0"/>
              </a:rPr>
              <a:t>else</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E21F1F"/>
                </a:solidFill>
                <a:latin typeface="Consolas" panose="020B0609020204030204" pitchFamily="49" charset="0"/>
              </a:rPr>
              <a:t>"</a:t>
            </a:r>
            <a:r>
              <a:rPr lang="en-US" sz="1200" dirty="0">
                <a:solidFill>
                  <a:srgbClr val="A31515"/>
                </a:solidFill>
                <a:latin typeface="Consolas" panose="020B0609020204030204" pitchFamily="49" charset="0"/>
              </a:rPr>
              <a:t>Choice unknown;</a:t>
            </a:r>
            <a:r>
              <a:rPr lang="en-US" sz="1200" dirty="0">
                <a:solidFill>
                  <a:srgbClr val="E21F1F"/>
                </a:solidFill>
                <a:latin typeface="Consolas" panose="020B0609020204030204" pitchFamily="49" charset="0"/>
              </a:rPr>
              <a:t>"</a:t>
            </a:r>
            <a:r>
              <a:rPr lang="en-US" sz="1200" dirty="0">
                <a:solidFill>
                  <a:srgbClr val="000000"/>
                </a:solidFill>
                <a:latin typeface="Consolas" panose="020B0609020204030204" pitchFamily="49" charset="0"/>
              </a:rPr>
              <a:t>)</a:t>
            </a:r>
          </a:p>
          <a:p>
            <a:br>
              <a:rPr lang="en-US" sz="1200" dirty="0">
                <a:solidFill>
                  <a:srgbClr val="000000"/>
                </a:solidFill>
                <a:latin typeface="Consolas" panose="020B0609020204030204" pitchFamily="49" charset="0"/>
              </a:rPr>
            </a:br>
            <a:endParaRPr lang="en-US" sz="12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Q02 - Answer</a:t>
            </a:r>
          </a:p>
        </p:txBody>
      </p:sp>
      <p:sp>
        <p:nvSpPr>
          <p:cNvPr id="11" name="Rectangle 10">
            <a:extLst>
              <a:ext uri="{FF2B5EF4-FFF2-40B4-BE49-F238E27FC236}">
                <a16:creationId xmlns:a16="http://schemas.microsoft.com/office/drawing/2014/main" id="{9A160827-942E-482E-8B34-E253BF44CE36}"/>
              </a:ext>
            </a:extLst>
          </p:cNvPr>
          <p:cNvSpPr/>
          <p:nvPr/>
        </p:nvSpPr>
        <p:spPr>
          <a:xfrm>
            <a:off x="1066800" y="1133208"/>
            <a:ext cx="3390002" cy="461665"/>
          </a:xfrm>
          <a:prstGeom prst="rect">
            <a:avLst/>
          </a:prstGeom>
        </p:spPr>
        <p:txBody>
          <a:bodyPr wrap="square">
            <a:spAutoFit/>
          </a:bodyPr>
          <a:lstStyle/>
          <a:p>
            <a:pPr marR="0" lvl="0">
              <a:spcBef>
                <a:spcPts val="0"/>
              </a:spcBef>
              <a:spcAft>
                <a:spcPts val="0"/>
              </a:spcAft>
            </a:pPr>
            <a:r>
              <a:rPr lang="en-US" sz="2400" b="1" dirty="0">
                <a:latin typeface="Times New Roman" panose="02020603050405020304" pitchFamily="18" charset="0"/>
                <a:ea typeface="Times New Roman" panose="02020603050405020304" pitchFamily="18" charset="0"/>
              </a:rPr>
              <a:t>Testing our functions</a:t>
            </a:r>
          </a:p>
        </p:txBody>
      </p:sp>
      <p:sp>
        <p:nvSpPr>
          <p:cNvPr id="4" name="Rectangle 1">
            <a:extLst>
              <a:ext uri="{FF2B5EF4-FFF2-40B4-BE49-F238E27FC236}">
                <a16:creationId xmlns:a16="http://schemas.microsoft.com/office/drawing/2014/main" id="{CA83EC4B-4B3E-4818-A292-574F55D8EA61}"/>
              </a:ext>
            </a:extLst>
          </p:cNvPr>
          <p:cNvSpPr>
            <a:spLocks noChangeArrowheads="1"/>
          </p:cNvSpPr>
          <p:nvPr/>
        </p:nvSpPr>
        <p:spPr bwMode="auto">
          <a:xfrm>
            <a:off x="1121455" y="3733800"/>
            <a:ext cx="2985134" cy="2308324"/>
          </a:xfrm>
          <a:prstGeom prst="rect">
            <a:avLst/>
          </a:prstGeom>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b="1" dirty="0">
                <a:solidFill>
                  <a:schemeClr val="tx1"/>
                </a:solidFill>
                <a:latin typeface="Times New Roman" panose="02020603050405020304" pitchFamily="18" charset="0"/>
                <a:cs typeface="Times New Roman" panose="02020603050405020304" pitchFamily="18" charset="0"/>
              </a:rPr>
              <a:t>Quit the program (user choice = 0)</a:t>
            </a:r>
          </a:p>
          <a:p>
            <a:pPr eaLnBrk="0" fontAlgn="base" hangingPunct="0">
              <a:spcBef>
                <a:spcPct val="0"/>
              </a:spcBef>
              <a:spcAft>
                <a:spcPct val="0"/>
              </a:spcAft>
            </a:pPr>
            <a:endParaRPr lang="en-US" altLang="en-US" b="1" dirty="0">
              <a:solidFill>
                <a:schemeClr val="tx1"/>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altLang="en-US" dirty="0">
                <a:solidFill>
                  <a:schemeClr val="tx1"/>
                </a:solidFill>
                <a:latin typeface="Times New Roman" panose="02020603050405020304" pitchFamily="18" charset="0"/>
                <a:cs typeface="Times New Roman" panose="02020603050405020304" pitchFamily="18" charset="0"/>
              </a:rPr>
              <a:t>If the user chooses 0, the tree is deleted with </a:t>
            </a:r>
            <a:r>
              <a:rPr lang="en-US" altLang="en-US" dirty="0" err="1">
                <a:solidFill>
                  <a:schemeClr val="tx1"/>
                </a:solidFill>
                <a:latin typeface="Times New Roman" panose="02020603050405020304" pitchFamily="18" charset="0"/>
                <a:cs typeface="Times New Roman" panose="02020603050405020304" pitchFamily="18" charset="0"/>
              </a:rPr>
              <a:t>remove_all</a:t>
            </a:r>
            <a:r>
              <a:rPr lang="en-US" altLang="en-US" dirty="0">
                <a:solidFill>
                  <a:schemeClr val="tx1"/>
                </a:solidFill>
                <a:latin typeface="Times New Roman" panose="02020603050405020304" pitchFamily="18" charset="0"/>
                <a:cs typeface="Times New Roman" panose="02020603050405020304" pitchFamily="18" charset="0"/>
              </a:rPr>
              <a:t>.</a:t>
            </a:r>
          </a:p>
          <a:p>
            <a:pPr eaLnBrk="0" fontAlgn="base" hangingPunct="0">
              <a:spcBef>
                <a:spcPct val="0"/>
              </a:spcBef>
              <a:spcAft>
                <a:spcPct val="0"/>
              </a:spcAft>
            </a:pPr>
            <a:endParaRPr lang="en-US" altLang="en-US" dirty="0">
              <a:solidFill>
                <a:schemeClr val="tx1"/>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altLang="en-US" dirty="0">
                <a:solidFill>
                  <a:schemeClr val="tx1"/>
                </a:solidFill>
                <a:latin typeface="Times New Roman" panose="02020603050405020304" pitchFamily="18" charset="0"/>
                <a:cs typeface="Times New Roman" panose="02020603050405020304" pitchFamily="18" charset="0"/>
              </a:rPr>
              <a:t>Exits the loop after this iteration.</a:t>
            </a:r>
          </a:p>
        </p:txBody>
      </p:sp>
      <p:sp>
        <p:nvSpPr>
          <p:cNvPr id="5" name="Arrow: Right 4">
            <a:extLst>
              <a:ext uri="{FF2B5EF4-FFF2-40B4-BE49-F238E27FC236}">
                <a16:creationId xmlns:a16="http://schemas.microsoft.com/office/drawing/2014/main" id="{762AF53F-9F1E-44CA-A745-782F1E8614AE}"/>
              </a:ext>
            </a:extLst>
          </p:cNvPr>
          <p:cNvSpPr/>
          <p:nvPr/>
        </p:nvSpPr>
        <p:spPr>
          <a:xfrm>
            <a:off x="4256897" y="5252982"/>
            <a:ext cx="1005087" cy="35137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12FCFB1-AC94-4773-AF21-4F3F7A12414A}"/>
              </a:ext>
            </a:extLst>
          </p:cNvPr>
          <p:cNvSpPr/>
          <p:nvPr/>
        </p:nvSpPr>
        <p:spPr>
          <a:xfrm>
            <a:off x="5562600" y="5105400"/>
            <a:ext cx="2971800" cy="64653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Tree>
    <p:extLst>
      <p:ext uri="{BB962C8B-B14F-4D97-AF65-F5344CB8AC3E}">
        <p14:creationId xmlns:p14="http://schemas.microsoft.com/office/powerpoint/2010/main" val="12875127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dirty="0"/>
              <a:t>Q03</a:t>
            </a:r>
          </a:p>
        </p:txBody>
      </p:sp>
      <p:sp>
        <p:nvSpPr>
          <p:cNvPr id="11" name="Rectangle 10">
            <a:extLst>
              <a:ext uri="{FF2B5EF4-FFF2-40B4-BE49-F238E27FC236}">
                <a16:creationId xmlns:a16="http://schemas.microsoft.com/office/drawing/2014/main" id="{9A160827-942E-482E-8B34-E253BF44CE36}"/>
              </a:ext>
            </a:extLst>
          </p:cNvPr>
          <p:cNvSpPr/>
          <p:nvPr/>
        </p:nvSpPr>
        <p:spPr>
          <a:xfrm>
            <a:off x="1295400" y="2057400"/>
            <a:ext cx="9601200" cy="3046988"/>
          </a:xfrm>
          <a:prstGeom prst="rect">
            <a:avLst/>
          </a:prstGeom>
        </p:spPr>
        <p:txBody>
          <a:bodyPr wrap="square">
            <a:spAutoFit/>
          </a:bodyPr>
          <a:lstStyle/>
          <a:p>
            <a:pPr marR="0" lvl="0">
              <a:spcBef>
                <a:spcPts val="0"/>
              </a:spcBef>
              <a:spcAft>
                <a:spcPts val="0"/>
              </a:spcAft>
            </a:pPr>
            <a:r>
              <a:rPr lang="en-US" sz="2400" dirty="0">
                <a:latin typeface="Times New Roman" panose="02020603050405020304" pitchFamily="18" charset="0"/>
                <a:cs typeface="Times New Roman" panose="02020603050405020304" pitchFamily="18" charset="0"/>
              </a:rPr>
              <a:t>(</a:t>
            </a:r>
            <a:r>
              <a:rPr lang="en-US" sz="2400" b="1" dirty="0" err="1">
                <a:latin typeface="Times New Roman" panose="02020603050405020304" pitchFamily="18" charset="0"/>
                <a:cs typeface="Times New Roman" panose="02020603050405020304" pitchFamily="18" charset="0"/>
              </a:rPr>
              <a:t>preOrderIterative</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Write an iterative function </a:t>
            </a:r>
            <a:r>
              <a:rPr lang="en-US" sz="2400" dirty="0" err="1">
                <a:latin typeface="Times New Roman" panose="02020603050405020304" pitchFamily="18" charset="0"/>
                <a:cs typeface="Times New Roman" panose="02020603050405020304" pitchFamily="18" charset="0"/>
              </a:rPr>
              <a:t>preOrderIterative</a:t>
            </a:r>
            <a:r>
              <a:rPr lang="en-US" sz="2400" dirty="0">
                <a:latin typeface="Times New Roman" panose="02020603050405020304" pitchFamily="18" charset="0"/>
                <a:cs typeface="Times New Roman" panose="02020603050405020304" pitchFamily="18" charset="0"/>
              </a:rPr>
              <a:t>() that prints the pre-order traversal of a binary search tree using a stack. The function uses only push() or pop() operations to add or remove nodes from the stack. Ensure the stack is empty at the beginning of the traversal. </a:t>
            </a:r>
          </a:p>
          <a:p>
            <a:pPr marR="0" lvl="0">
              <a:spcBef>
                <a:spcPts val="0"/>
              </a:spcBef>
              <a:spcAft>
                <a:spcPts val="0"/>
              </a:spcAft>
            </a:pPr>
            <a:endParaRPr lang="en-US" sz="2400" dirty="0">
              <a:latin typeface="Times New Roman" panose="02020603050405020304" pitchFamily="18" charset="0"/>
              <a:cs typeface="Times New Roman" panose="02020603050405020304" pitchFamily="18" charset="0"/>
            </a:endParaRPr>
          </a:p>
          <a:p>
            <a:pPr marR="0" lvl="0">
              <a:spcBef>
                <a:spcPts val="0"/>
              </a:spcBef>
              <a:spcAft>
                <a:spcPts val="0"/>
              </a:spcAft>
            </a:pPr>
            <a:r>
              <a:rPr lang="en-US" sz="2400" dirty="0">
                <a:latin typeface="Times New Roman" panose="02020603050405020304" pitchFamily="18" charset="0"/>
                <a:cs typeface="Times New Roman" panose="02020603050405020304" pitchFamily="18" charset="0"/>
              </a:rPr>
              <a:t>The function prototype is given as follows: </a:t>
            </a:r>
          </a:p>
          <a:p>
            <a:pPr marR="0" lvl="0">
              <a:spcBef>
                <a:spcPts val="0"/>
              </a:spcBef>
              <a:spcAft>
                <a:spcPts val="0"/>
              </a:spcAft>
            </a:pPr>
            <a:r>
              <a:rPr lang="en-US" sz="2400" dirty="0">
                <a:latin typeface="Times New Roman" panose="02020603050405020304" pitchFamily="18" charset="0"/>
                <a:cs typeface="Times New Roman" panose="02020603050405020304" pitchFamily="18" charset="0"/>
              </a:rPr>
              <a:t> </a:t>
            </a:r>
          </a:p>
          <a:p>
            <a:pPr marR="0" lvl="0">
              <a:spcBef>
                <a:spcPts val="0"/>
              </a:spcBef>
              <a:spcAft>
                <a:spcPts val="0"/>
              </a:spcAft>
            </a:pPr>
            <a:r>
              <a:rPr lang="en-US" sz="2000" dirty="0">
                <a:latin typeface="Courier New" panose="02070309020205020404" pitchFamily="49" charset="0"/>
                <a:cs typeface="Courier New" panose="02070309020205020404" pitchFamily="49" charset="0"/>
              </a:rPr>
              <a:t>def </a:t>
            </a:r>
            <a:r>
              <a:rPr lang="en-US" sz="2000" dirty="0" err="1">
                <a:latin typeface="Courier New" panose="02070309020205020404" pitchFamily="49" charset="0"/>
                <a:cs typeface="Courier New" panose="02070309020205020404" pitchFamily="49" charset="0"/>
              </a:rPr>
              <a:t>preOrderIterative</a:t>
            </a:r>
            <a:r>
              <a:rPr lang="en-US" sz="2000" dirty="0">
                <a:latin typeface="Courier New" panose="02070309020205020404" pitchFamily="49" charset="0"/>
                <a:cs typeface="Courier New" panose="02070309020205020404" pitchFamily="49" charset="0"/>
              </a:rPr>
              <a:t>(root): </a:t>
            </a:r>
            <a:endParaRPr lang="en-US" sz="1600" dirty="0">
              <a:latin typeface="Courier New" panose="02070309020205020404" pitchFamily="49" charset="0"/>
              <a:ea typeface="Times New Roman" panose="02020603050405020304" pitchFamily="18" charset="0"/>
              <a:cs typeface="Courier New" panose="02070309020205020404" pitchFamily="49" charset="0"/>
            </a:endParaRPr>
          </a:p>
        </p:txBody>
      </p:sp>
    </p:spTree>
    <p:extLst>
      <p:ext uri="{BB962C8B-B14F-4D97-AF65-F5344CB8AC3E}">
        <p14:creationId xmlns:p14="http://schemas.microsoft.com/office/powerpoint/2010/main" val="9461718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dirty="0"/>
              <a:t>Q03 - Answer</a:t>
            </a:r>
          </a:p>
        </p:txBody>
      </p:sp>
      <p:sp>
        <p:nvSpPr>
          <p:cNvPr id="7" name="Rectangle 6">
            <a:extLst>
              <a:ext uri="{FF2B5EF4-FFF2-40B4-BE49-F238E27FC236}">
                <a16:creationId xmlns:a16="http://schemas.microsoft.com/office/drawing/2014/main" id="{FCE24775-85BF-4C1C-9047-247B2D1723ED}"/>
              </a:ext>
            </a:extLst>
          </p:cNvPr>
          <p:cNvSpPr/>
          <p:nvPr/>
        </p:nvSpPr>
        <p:spPr>
          <a:xfrm>
            <a:off x="1143000" y="1371600"/>
            <a:ext cx="9906000" cy="461665"/>
          </a:xfrm>
          <a:prstGeom prst="rect">
            <a:avLst/>
          </a:prstGeom>
        </p:spPr>
        <p:txBody>
          <a:bodyPr wrap="square">
            <a:spAutoFit/>
          </a:bodyPr>
          <a:lstStyle/>
          <a:p>
            <a:pPr marR="0" lvl="0">
              <a:spcBef>
                <a:spcPts val="0"/>
              </a:spcBef>
              <a:spcAft>
                <a:spcPts val="0"/>
              </a:spcAft>
            </a:pPr>
            <a:r>
              <a:rPr lang="en-US" sz="2400" dirty="0">
                <a:solidFill>
                  <a:schemeClr val="accent1">
                    <a:lumMod val="75000"/>
                  </a:schemeClr>
                </a:solidFill>
                <a:latin typeface="Times New Roman" panose="02020603050405020304" pitchFamily="18" charset="0"/>
                <a:ea typeface="Times New Roman" panose="02020603050405020304" pitchFamily="18" charset="0"/>
              </a:rPr>
              <a:t>Let’s go through the answer step-by-step   </a:t>
            </a:r>
          </a:p>
        </p:txBody>
      </p:sp>
      <p:sp>
        <p:nvSpPr>
          <p:cNvPr id="11" name="Rectangle 10">
            <a:extLst>
              <a:ext uri="{FF2B5EF4-FFF2-40B4-BE49-F238E27FC236}">
                <a16:creationId xmlns:a16="http://schemas.microsoft.com/office/drawing/2014/main" id="{9A160827-942E-482E-8B34-E253BF44CE36}"/>
              </a:ext>
            </a:extLst>
          </p:cNvPr>
          <p:cNvSpPr/>
          <p:nvPr/>
        </p:nvSpPr>
        <p:spPr>
          <a:xfrm>
            <a:off x="1676400" y="2057400"/>
            <a:ext cx="9906000" cy="461665"/>
          </a:xfrm>
          <a:prstGeom prst="rect">
            <a:avLst/>
          </a:prstGeom>
        </p:spPr>
        <p:txBody>
          <a:bodyPr wrap="square">
            <a:spAutoFit/>
          </a:bodyPr>
          <a:lstStyle/>
          <a:p>
            <a:pPr marR="0" lvl="0">
              <a:spcBef>
                <a:spcPts val="0"/>
              </a:spcBef>
              <a:spcAft>
                <a:spcPts val="0"/>
              </a:spcAft>
            </a:pPr>
            <a:r>
              <a:rPr lang="en-US" sz="2400" b="1" dirty="0">
                <a:latin typeface="Times New Roman" panose="02020603050405020304" pitchFamily="18" charset="0"/>
                <a:ea typeface="Times New Roman" panose="02020603050405020304" pitchFamily="18" charset="0"/>
              </a:rPr>
              <a:t>1. Class Definitions</a:t>
            </a:r>
          </a:p>
        </p:txBody>
      </p:sp>
      <p:sp>
        <p:nvSpPr>
          <p:cNvPr id="4" name="Rectangle 3">
            <a:extLst>
              <a:ext uri="{FF2B5EF4-FFF2-40B4-BE49-F238E27FC236}">
                <a16:creationId xmlns:a16="http://schemas.microsoft.com/office/drawing/2014/main" id="{3B8E54A4-A621-4784-A144-3400E3108B6C}"/>
              </a:ext>
            </a:extLst>
          </p:cNvPr>
          <p:cNvSpPr/>
          <p:nvPr/>
        </p:nvSpPr>
        <p:spPr>
          <a:xfrm>
            <a:off x="2552700" y="2743200"/>
            <a:ext cx="8496300" cy="1169551"/>
          </a:xfrm>
          <a:prstGeom prst="rect">
            <a:avLst/>
          </a:prstGeom>
        </p:spPr>
        <p:txBody>
          <a:bodyPr wrap="square">
            <a:spAutoFit/>
          </a:bodyPr>
          <a:lstStyle/>
          <a:p>
            <a:r>
              <a:rPr lang="en-US" sz="1400" dirty="0">
                <a:solidFill>
                  <a:srgbClr val="0000FF"/>
                </a:solidFill>
                <a:latin typeface="Consolas" panose="020B0609020204030204" pitchFamily="49" charset="0"/>
              </a:rPr>
              <a:t>class</a:t>
            </a:r>
            <a:r>
              <a:rPr lang="en-US" sz="1400" dirty="0">
                <a:solidFill>
                  <a:srgbClr val="000000"/>
                </a:solidFill>
                <a:latin typeface="Consolas" panose="020B0609020204030204" pitchFamily="49" charset="0"/>
              </a:rPr>
              <a:t> </a:t>
            </a:r>
            <a:r>
              <a:rPr lang="en-US" sz="1400" dirty="0" err="1">
                <a:solidFill>
                  <a:srgbClr val="2B91AF"/>
                </a:solidFill>
                <a:latin typeface="Consolas" panose="020B0609020204030204" pitchFamily="49" charset="0"/>
              </a:rPr>
              <a:t>BSTNode</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def</a:t>
            </a: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__init__</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self</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item</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self</a:t>
            </a:r>
            <a:r>
              <a:rPr lang="en-US" sz="1400" dirty="0" err="1">
                <a:solidFill>
                  <a:srgbClr val="000000"/>
                </a:solidFill>
                <a:latin typeface="Consolas" panose="020B0609020204030204" pitchFamily="49" charset="0"/>
              </a:rPr>
              <a:t>.item</a:t>
            </a:r>
            <a:r>
              <a:rPr lang="en-US" sz="1400" dirty="0">
                <a:solidFill>
                  <a:srgbClr val="000000"/>
                </a:solidFill>
                <a:latin typeface="Consolas" panose="020B0609020204030204" pitchFamily="49" charset="0"/>
              </a:rPr>
              <a:t> = </a:t>
            </a:r>
            <a:r>
              <a:rPr lang="en-US" sz="1400" dirty="0">
                <a:solidFill>
                  <a:srgbClr val="808080"/>
                </a:solidFill>
                <a:latin typeface="Consolas" panose="020B0609020204030204" pitchFamily="49" charset="0"/>
              </a:rPr>
              <a:t>item</a:t>
            </a:r>
            <a:r>
              <a:rPr lang="en-US"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self</a:t>
            </a:r>
            <a:r>
              <a:rPr lang="en-US" sz="1400" dirty="0" err="1">
                <a:solidFill>
                  <a:srgbClr val="000000"/>
                </a:solidFill>
                <a:latin typeface="Consolas" panose="020B0609020204030204" pitchFamily="49" charset="0"/>
              </a:rPr>
              <a:t>.left</a:t>
            </a:r>
            <a:r>
              <a:rPr lang="en-US" sz="1400" dirty="0">
                <a:solidFill>
                  <a:srgbClr val="000000"/>
                </a:solidFill>
                <a:latin typeface="Consolas" panose="020B0609020204030204" pitchFamily="49" charset="0"/>
              </a:rPr>
              <a:t> = </a:t>
            </a:r>
            <a:r>
              <a:rPr lang="en-US" sz="1400" dirty="0">
                <a:solidFill>
                  <a:srgbClr val="808080"/>
                </a:solidFill>
                <a:latin typeface="Consolas" panose="020B0609020204030204" pitchFamily="49" charset="0"/>
              </a:rPr>
              <a:t>left</a:t>
            </a:r>
            <a:r>
              <a:rPr lang="en-US"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self</a:t>
            </a:r>
            <a:r>
              <a:rPr lang="en-US" sz="1400" dirty="0" err="1">
                <a:solidFill>
                  <a:srgbClr val="000000"/>
                </a:solidFill>
                <a:latin typeface="Consolas" panose="020B0609020204030204" pitchFamily="49" charset="0"/>
              </a:rPr>
              <a:t>.right</a:t>
            </a:r>
            <a:r>
              <a:rPr lang="en-US" sz="1400" dirty="0">
                <a:solidFill>
                  <a:srgbClr val="000000"/>
                </a:solidFill>
                <a:latin typeface="Consolas" panose="020B0609020204030204" pitchFamily="49" charset="0"/>
              </a:rPr>
              <a:t> = </a:t>
            </a:r>
            <a:r>
              <a:rPr lang="en-US" sz="1400" dirty="0">
                <a:solidFill>
                  <a:srgbClr val="808080"/>
                </a:solidFill>
                <a:latin typeface="Consolas" panose="020B0609020204030204" pitchFamily="49" charset="0"/>
              </a:rPr>
              <a:t>right</a:t>
            </a:r>
            <a:r>
              <a:rPr lang="en-US" sz="1400" dirty="0">
                <a:solidFill>
                  <a:srgbClr val="000000"/>
                </a:solidFill>
                <a:latin typeface="Consolas" panose="020B0609020204030204" pitchFamily="49" charset="0"/>
              </a:rPr>
              <a:t>  </a:t>
            </a:r>
            <a:endParaRPr lang="en-US" sz="1400" b="0" dirty="0">
              <a:solidFill>
                <a:srgbClr val="000000"/>
              </a:solidFill>
              <a:effectLst/>
              <a:latin typeface="Consolas" panose="020B0609020204030204" pitchFamily="49" charset="0"/>
            </a:endParaRPr>
          </a:p>
        </p:txBody>
      </p:sp>
      <p:sp>
        <p:nvSpPr>
          <p:cNvPr id="3" name="Rectangle 2">
            <a:extLst>
              <a:ext uri="{FF2B5EF4-FFF2-40B4-BE49-F238E27FC236}">
                <a16:creationId xmlns:a16="http://schemas.microsoft.com/office/drawing/2014/main" id="{B82BA9FA-D73C-4053-80FD-7453C6451C31}"/>
              </a:ext>
            </a:extLst>
          </p:cNvPr>
          <p:cNvSpPr>
            <a:spLocks noChangeArrowheads="1"/>
          </p:cNvSpPr>
          <p:nvPr/>
        </p:nvSpPr>
        <p:spPr bwMode="auto">
          <a:xfrm>
            <a:off x="1905000" y="4136886"/>
            <a:ext cx="90678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defines a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Binary Tree Node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node has:</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item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value stored in the node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left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pointer/reference to the left child node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right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pointer/reference to the right child node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69818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dirty="0"/>
              <a:t>Q03 - Answer</a:t>
            </a:r>
          </a:p>
        </p:txBody>
      </p:sp>
      <p:sp>
        <p:nvSpPr>
          <p:cNvPr id="7" name="Rectangle 6">
            <a:extLst>
              <a:ext uri="{FF2B5EF4-FFF2-40B4-BE49-F238E27FC236}">
                <a16:creationId xmlns:a16="http://schemas.microsoft.com/office/drawing/2014/main" id="{FCE24775-85BF-4C1C-9047-247B2D1723ED}"/>
              </a:ext>
            </a:extLst>
          </p:cNvPr>
          <p:cNvSpPr/>
          <p:nvPr/>
        </p:nvSpPr>
        <p:spPr>
          <a:xfrm>
            <a:off x="1143000" y="1371600"/>
            <a:ext cx="9906000" cy="461665"/>
          </a:xfrm>
          <a:prstGeom prst="rect">
            <a:avLst/>
          </a:prstGeom>
        </p:spPr>
        <p:txBody>
          <a:bodyPr wrap="square">
            <a:spAutoFit/>
          </a:bodyPr>
          <a:lstStyle/>
          <a:p>
            <a:pPr marR="0" lvl="0">
              <a:spcBef>
                <a:spcPts val="0"/>
              </a:spcBef>
              <a:spcAft>
                <a:spcPts val="0"/>
              </a:spcAft>
            </a:pPr>
            <a:r>
              <a:rPr lang="en-US" sz="2400" dirty="0">
                <a:solidFill>
                  <a:schemeClr val="accent1">
                    <a:lumMod val="75000"/>
                  </a:schemeClr>
                </a:solidFill>
                <a:latin typeface="Times New Roman" panose="02020603050405020304" pitchFamily="18" charset="0"/>
                <a:ea typeface="Times New Roman" panose="02020603050405020304" pitchFamily="18" charset="0"/>
              </a:rPr>
              <a:t>Let’s go through the answer step-by-step   </a:t>
            </a:r>
          </a:p>
        </p:txBody>
      </p:sp>
      <p:sp>
        <p:nvSpPr>
          <p:cNvPr id="11" name="Rectangle 10">
            <a:extLst>
              <a:ext uri="{FF2B5EF4-FFF2-40B4-BE49-F238E27FC236}">
                <a16:creationId xmlns:a16="http://schemas.microsoft.com/office/drawing/2014/main" id="{9A160827-942E-482E-8B34-E253BF44CE36}"/>
              </a:ext>
            </a:extLst>
          </p:cNvPr>
          <p:cNvSpPr/>
          <p:nvPr/>
        </p:nvSpPr>
        <p:spPr>
          <a:xfrm>
            <a:off x="1676400" y="2057400"/>
            <a:ext cx="9906000" cy="461665"/>
          </a:xfrm>
          <a:prstGeom prst="rect">
            <a:avLst/>
          </a:prstGeom>
        </p:spPr>
        <p:txBody>
          <a:bodyPr wrap="square">
            <a:spAutoFit/>
          </a:bodyPr>
          <a:lstStyle/>
          <a:p>
            <a:pPr marR="0" lvl="0">
              <a:spcBef>
                <a:spcPts val="0"/>
              </a:spcBef>
              <a:spcAft>
                <a:spcPts val="0"/>
              </a:spcAft>
            </a:pPr>
            <a:r>
              <a:rPr lang="en-US" sz="2400" b="1" dirty="0">
                <a:latin typeface="Times New Roman" panose="02020603050405020304" pitchFamily="18" charset="0"/>
                <a:ea typeface="Times New Roman" panose="02020603050405020304" pitchFamily="18" charset="0"/>
              </a:rPr>
              <a:t>1. Class Definitions</a:t>
            </a:r>
          </a:p>
        </p:txBody>
      </p:sp>
      <p:sp>
        <p:nvSpPr>
          <p:cNvPr id="3" name="Rectangle 2">
            <a:extLst>
              <a:ext uri="{FF2B5EF4-FFF2-40B4-BE49-F238E27FC236}">
                <a16:creationId xmlns:a16="http://schemas.microsoft.com/office/drawing/2014/main" id="{B82BA9FA-D73C-4053-80FD-7453C6451C31}"/>
              </a:ext>
            </a:extLst>
          </p:cNvPr>
          <p:cNvSpPr>
            <a:spLocks noChangeArrowheads="1"/>
          </p:cNvSpPr>
          <p:nvPr/>
        </p:nvSpPr>
        <p:spPr bwMode="auto">
          <a:xfrm>
            <a:off x="1714500" y="4319886"/>
            <a:ext cx="90678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b="1" dirty="0" err="1">
                <a:latin typeface="Times New Roman" panose="02020603050405020304" pitchFamily="18" charset="0"/>
                <a:cs typeface="Times New Roman" panose="02020603050405020304" pitchFamily="18" charset="0"/>
              </a:rPr>
              <a:t>StackNode</a:t>
            </a:r>
            <a:r>
              <a:rPr lang="en-US" altLang="en-US" dirty="0">
                <a:latin typeface="Times New Roman" panose="02020603050405020304" pitchFamily="18" charset="0"/>
                <a:cs typeface="Times New Roman" panose="02020603050405020304" pitchFamily="18" charset="0"/>
              </a:rPr>
              <a:t> is a node used in a linked-list-based stack implementation. </a:t>
            </a:r>
          </a:p>
          <a:p>
            <a:pPr lv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Each node stores a piece of data and a reference to the next node in the stack.</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E7156864-C380-41D5-BF6F-AB6C725DC087}"/>
              </a:ext>
            </a:extLst>
          </p:cNvPr>
          <p:cNvSpPr/>
          <p:nvPr/>
        </p:nvSpPr>
        <p:spPr>
          <a:xfrm>
            <a:off x="3200400" y="2721114"/>
            <a:ext cx="6096000" cy="954107"/>
          </a:xfrm>
          <a:prstGeom prst="rect">
            <a:avLst/>
          </a:prstGeom>
        </p:spPr>
        <p:txBody>
          <a:bodyPr>
            <a:spAutoFit/>
          </a:bodyPr>
          <a:lstStyle/>
          <a:p>
            <a:r>
              <a:rPr lang="en-US" sz="1400" dirty="0">
                <a:solidFill>
                  <a:srgbClr val="0000FF"/>
                </a:solidFill>
                <a:latin typeface="Consolas" panose="020B0609020204030204" pitchFamily="49" charset="0"/>
              </a:rPr>
              <a:t>class</a:t>
            </a:r>
            <a:r>
              <a:rPr lang="en-US" sz="1400" dirty="0">
                <a:solidFill>
                  <a:srgbClr val="000000"/>
                </a:solidFill>
                <a:latin typeface="Consolas" panose="020B0609020204030204" pitchFamily="49" charset="0"/>
              </a:rPr>
              <a:t> </a:t>
            </a:r>
            <a:r>
              <a:rPr lang="en-US" sz="1400" dirty="0" err="1">
                <a:solidFill>
                  <a:srgbClr val="2B91AF"/>
                </a:solidFill>
                <a:latin typeface="Consolas" panose="020B0609020204030204" pitchFamily="49" charset="0"/>
              </a:rPr>
              <a:t>StackNode</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def</a:t>
            </a: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__init__</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self</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data</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self</a:t>
            </a:r>
            <a:r>
              <a:rPr lang="en-US" sz="1400" dirty="0" err="1">
                <a:solidFill>
                  <a:srgbClr val="000000"/>
                </a:solidFill>
                <a:latin typeface="Consolas" panose="020B0609020204030204" pitchFamily="49" charset="0"/>
              </a:rPr>
              <a:t>.data</a:t>
            </a:r>
            <a:r>
              <a:rPr lang="en-US" sz="1400" dirty="0">
                <a:solidFill>
                  <a:srgbClr val="000000"/>
                </a:solidFill>
                <a:latin typeface="Consolas" panose="020B0609020204030204" pitchFamily="49" charset="0"/>
              </a:rPr>
              <a:t> = </a:t>
            </a:r>
            <a:r>
              <a:rPr lang="en-US" sz="1400" dirty="0">
                <a:solidFill>
                  <a:srgbClr val="808080"/>
                </a:solidFill>
                <a:latin typeface="Consolas" panose="020B0609020204030204" pitchFamily="49" charset="0"/>
              </a:rPr>
              <a:t>data</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self</a:t>
            </a:r>
            <a:r>
              <a:rPr lang="en-US" sz="1400" dirty="0" err="1">
                <a:solidFill>
                  <a:srgbClr val="000000"/>
                </a:solidFill>
                <a:latin typeface="Consolas" panose="020B0609020204030204" pitchFamily="49" charset="0"/>
              </a:rPr>
              <a:t>.next</a:t>
            </a:r>
            <a:r>
              <a:rPr lang="en-US" sz="1400" dirty="0">
                <a:solidFill>
                  <a:srgbClr val="000000"/>
                </a:solidFill>
                <a:latin typeface="Consolas" panose="020B0609020204030204" pitchFamily="49" charset="0"/>
              </a:rPr>
              <a:t> = </a:t>
            </a:r>
            <a:r>
              <a:rPr lang="en-US" sz="1400" dirty="0">
                <a:solidFill>
                  <a:srgbClr val="0000FF"/>
                </a:solidFill>
                <a:latin typeface="Consolas" panose="020B0609020204030204" pitchFamily="49" charset="0"/>
              </a:rPr>
              <a:t>None</a:t>
            </a:r>
            <a:endParaRPr lang="en-US" sz="14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3668234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dirty="0"/>
              <a:t>Q03 - Answer</a:t>
            </a:r>
          </a:p>
        </p:txBody>
      </p:sp>
      <p:sp>
        <p:nvSpPr>
          <p:cNvPr id="7" name="Rectangle 6">
            <a:extLst>
              <a:ext uri="{FF2B5EF4-FFF2-40B4-BE49-F238E27FC236}">
                <a16:creationId xmlns:a16="http://schemas.microsoft.com/office/drawing/2014/main" id="{FCE24775-85BF-4C1C-9047-247B2D1723ED}"/>
              </a:ext>
            </a:extLst>
          </p:cNvPr>
          <p:cNvSpPr/>
          <p:nvPr/>
        </p:nvSpPr>
        <p:spPr>
          <a:xfrm>
            <a:off x="1143000" y="1371600"/>
            <a:ext cx="9906000" cy="461665"/>
          </a:xfrm>
          <a:prstGeom prst="rect">
            <a:avLst/>
          </a:prstGeom>
        </p:spPr>
        <p:txBody>
          <a:bodyPr wrap="square">
            <a:spAutoFit/>
          </a:bodyPr>
          <a:lstStyle/>
          <a:p>
            <a:pPr marR="0" lvl="0">
              <a:spcBef>
                <a:spcPts val="0"/>
              </a:spcBef>
              <a:spcAft>
                <a:spcPts val="0"/>
              </a:spcAft>
            </a:pPr>
            <a:r>
              <a:rPr lang="en-US" sz="2400" dirty="0">
                <a:solidFill>
                  <a:schemeClr val="accent1">
                    <a:lumMod val="75000"/>
                  </a:schemeClr>
                </a:solidFill>
                <a:latin typeface="Times New Roman" panose="02020603050405020304" pitchFamily="18" charset="0"/>
                <a:ea typeface="Times New Roman" panose="02020603050405020304" pitchFamily="18" charset="0"/>
              </a:rPr>
              <a:t>Let’s go through the answer step-by-step   </a:t>
            </a:r>
          </a:p>
        </p:txBody>
      </p:sp>
      <p:sp>
        <p:nvSpPr>
          <p:cNvPr id="11" name="Rectangle 10">
            <a:extLst>
              <a:ext uri="{FF2B5EF4-FFF2-40B4-BE49-F238E27FC236}">
                <a16:creationId xmlns:a16="http://schemas.microsoft.com/office/drawing/2014/main" id="{9A160827-942E-482E-8B34-E253BF44CE36}"/>
              </a:ext>
            </a:extLst>
          </p:cNvPr>
          <p:cNvSpPr/>
          <p:nvPr/>
        </p:nvSpPr>
        <p:spPr>
          <a:xfrm>
            <a:off x="1676400" y="2057400"/>
            <a:ext cx="9906000" cy="461665"/>
          </a:xfrm>
          <a:prstGeom prst="rect">
            <a:avLst/>
          </a:prstGeom>
        </p:spPr>
        <p:txBody>
          <a:bodyPr wrap="square">
            <a:spAutoFit/>
          </a:bodyPr>
          <a:lstStyle/>
          <a:p>
            <a:pPr marR="0" lvl="0">
              <a:spcBef>
                <a:spcPts val="0"/>
              </a:spcBef>
              <a:spcAft>
                <a:spcPts val="0"/>
              </a:spcAft>
            </a:pPr>
            <a:r>
              <a:rPr lang="en-US" sz="2400" b="1" dirty="0">
                <a:latin typeface="Times New Roman" panose="02020603050405020304" pitchFamily="18" charset="0"/>
                <a:ea typeface="Times New Roman" panose="02020603050405020304" pitchFamily="18" charset="0"/>
              </a:rPr>
              <a:t>1. Class Definitions</a:t>
            </a:r>
          </a:p>
        </p:txBody>
      </p:sp>
      <p:sp>
        <p:nvSpPr>
          <p:cNvPr id="3" name="Rectangle 2">
            <a:extLst>
              <a:ext uri="{FF2B5EF4-FFF2-40B4-BE49-F238E27FC236}">
                <a16:creationId xmlns:a16="http://schemas.microsoft.com/office/drawing/2014/main" id="{B82BA9FA-D73C-4053-80FD-7453C6451C31}"/>
              </a:ext>
            </a:extLst>
          </p:cNvPr>
          <p:cNvSpPr>
            <a:spLocks noChangeArrowheads="1"/>
          </p:cNvSpPr>
          <p:nvPr/>
        </p:nvSpPr>
        <p:spPr bwMode="auto">
          <a:xfrm>
            <a:off x="1828800" y="4038600"/>
            <a:ext cx="90678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The </a:t>
            </a:r>
            <a:r>
              <a:rPr lang="en-US" altLang="en-US" b="1" dirty="0">
                <a:latin typeface="Times New Roman" panose="02020603050405020304" pitchFamily="18" charset="0"/>
                <a:cs typeface="Times New Roman" panose="02020603050405020304" pitchFamily="18" charset="0"/>
              </a:rPr>
              <a:t>Stack</a:t>
            </a:r>
            <a:r>
              <a:rPr lang="en-US" altLang="en-US" dirty="0">
                <a:latin typeface="Times New Roman" panose="02020603050405020304" pitchFamily="18" charset="0"/>
                <a:cs typeface="Times New Roman" panose="02020603050405020304" pitchFamily="18" charset="0"/>
              </a:rPr>
              <a:t> class represents a stack data structure implemented using a linked list.</a:t>
            </a:r>
          </a:p>
          <a:p>
            <a:pPr lv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It allows you to perform standard stack operations such as push, pop, and peek.</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2EA70966-9738-438E-B48E-5E49C0957590}"/>
              </a:ext>
            </a:extLst>
          </p:cNvPr>
          <p:cNvSpPr/>
          <p:nvPr/>
        </p:nvSpPr>
        <p:spPr>
          <a:xfrm>
            <a:off x="3048000" y="2791362"/>
            <a:ext cx="6096000" cy="738664"/>
          </a:xfrm>
          <a:prstGeom prst="rect">
            <a:avLst/>
          </a:prstGeom>
        </p:spPr>
        <p:txBody>
          <a:bodyPr>
            <a:spAutoFit/>
          </a:bodyPr>
          <a:lstStyle/>
          <a:p>
            <a:r>
              <a:rPr lang="en-US" sz="1400" dirty="0">
                <a:solidFill>
                  <a:srgbClr val="0000FF"/>
                </a:solidFill>
                <a:latin typeface="Consolas" panose="020B0609020204030204" pitchFamily="49" charset="0"/>
              </a:rPr>
              <a:t>class</a:t>
            </a:r>
            <a:r>
              <a:rPr lang="en-US" sz="1400" dirty="0">
                <a:solidFill>
                  <a:srgbClr val="000000"/>
                </a:solidFill>
                <a:latin typeface="Consolas" panose="020B0609020204030204" pitchFamily="49" charset="0"/>
              </a:rPr>
              <a:t> </a:t>
            </a:r>
            <a:r>
              <a:rPr lang="en-US" sz="1400" dirty="0">
                <a:solidFill>
                  <a:srgbClr val="2B91AF"/>
                </a:solidFill>
                <a:latin typeface="Consolas" panose="020B0609020204030204" pitchFamily="49" charset="0"/>
              </a:rPr>
              <a:t>Stack</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def</a:t>
            </a:r>
            <a:r>
              <a:rPr lang="en-US" sz="1400" dirty="0">
                <a:solidFill>
                  <a:srgbClr val="000000"/>
                </a:solidFill>
                <a:latin typeface="Consolas" panose="020B0609020204030204" pitchFamily="49" charset="0"/>
              </a:rPr>
              <a:t> </a:t>
            </a:r>
            <a:r>
              <a:rPr lang="en-US" sz="1400" dirty="0">
                <a:solidFill>
                  <a:srgbClr val="74531F"/>
                </a:solidFill>
                <a:latin typeface="Consolas" panose="020B0609020204030204" pitchFamily="49" charset="0"/>
              </a:rPr>
              <a:t>__init__</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self</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self</a:t>
            </a:r>
            <a:r>
              <a:rPr lang="en-US" sz="1400" dirty="0" err="1">
                <a:solidFill>
                  <a:srgbClr val="000000"/>
                </a:solidFill>
                <a:latin typeface="Consolas" panose="020B0609020204030204" pitchFamily="49" charset="0"/>
              </a:rPr>
              <a:t>.top</a:t>
            </a:r>
            <a:r>
              <a:rPr lang="en-US" sz="1400" dirty="0">
                <a:solidFill>
                  <a:srgbClr val="000000"/>
                </a:solidFill>
                <a:latin typeface="Consolas" panose="020B0609020204030204" pitchFamily="49" charset="0"/>
              </a:rPr>
              <a:t> = </a:t>
            </a:r>
            <a:r>
              <a:rPr lang="en-US" sz="1400" dirty="0">
                <a:solidFill>
                  <a:srgbClr val="0000FF"/>
                </a:solidFill>
                <a:latin typeface="Consolas" panose="020B0609020204030204" pitchFamily="49" charset="0"/>
              </a:rPr>
              <a:t>None</a:t>
            </a:r>
            <a:endParaRPr lang="en-US" sz="1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7209094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081A45-8735-4D92-946A-3AE4003776BD}"/>
              </a:ext>
            </a:extLst>
          </p:cNvPr>
          <p:cNvSpPr/>
          <p:nvPr/>
        </p:nvSpPr>
        <p:spPr>
          <a:xfrm>
            <a:off x="5723334" y="1309854"/>
            <a:ext cx="6096000" cy="3376758"/>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push</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stack</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node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err="1">
                <a:solidFill>
                  <a:srgbClr val="2B91AF"/>
                </a:solidFill>
                <a:latin typeface="Consolas" panose="020B0609020204030204" pitchFamily="49" charset="0"/>
              </a:rPr>
              <a:t>StackNode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node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stack</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stack</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 </a:t>
            </a:r>
            <a:r>
              <a:rPr lang="en-US" sz="1600" dirty="0">
                <a:solidFill>
                  <a:srgbClr val="1F377F"/>
                </a:solidFill>
                <a:latin typeface="Consolas" panose="020B0609020204030204" pitchFamily="49" charset="0"/>
              </a:rPr>
              <a:t>temp</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.next</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None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else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.next</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stack</a:t>
            </a:r>
            <a:r>
              <a:rPr lang="en-US" sz="1600" dirty="0" err="1">
                <a:solidFill>
                  <a:srgbClr val="000000"/>
                </a:solidFill>
                <a:latin typeface="Consolas" panose="020B0609020204030204" pitchFamily="49" charset="0"/>
              </a:rPr>
              <a:t>.top</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stack</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 </a:t>
            </a:r>
            <a:r>
              <a:rPr lang="en-US" sz="1600" dirty="0">
                <a:solidFill>
                  <a:srgbClr val="1F377F"/>
                </a:solidFill>
                <a:latin typeface="Consolas" panose="020B0609020204030204" pitchFamily="49" charset="0"/>
              </a:rPr>
              <a:t>temp</a:t>
            </a: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Q03 -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push(stack, node)</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999670" y="2441770"/>
            <a:ext cx="3714926" cy="2246769"/>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Create a new stack node</a:t>
            </a:r>
            <a:br>
              <a:rPr lang="en-US" altLang="en-US" sz="2000" b="1" dirty="0">
                <a:solidFill>
                  <a:schemeClr val="tx1"/>
                </a:solidFill>
                <a:latin typeface="Times New Roman" panose="02020603050405020304" pitchFamily="18" charset="0"/>
                <a:cs typeface="Times New Roman" panose="02020603050405020304" pitchFamily="18" charset="0"/>
              </a:rPr>
            </a:br>
            <a:endParaRPr lang="en-US" altLang="en-US" sz="2000" b="1"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Wrap the BST node (</a:t>
            </a:r>
            <a:r>
              <a:rPr lang="en-US" altLang="en-US" sz="2000" b="1" dirty="0">
                <a:solidFill>
                  <a:schemeClr val="tx1"/>
                </a:solidFill>
                <a:latin typeface="Times New Roman" panose="02020603050405020304" pitchFamily="18" charset="0"/>
                <a:cs typeface="Times New Roman" panose="02020603050405020304" pitchFamily="18" charset="0"/>
              </a:rPr>
              <a:t>node</a:t>
            </a:r>
            <a:r>
              <a:rPr lang="en-US" altLang="en-US" sz="2000" dirty="0">
                <a:solidFill>
                  <a:schemeClr val="tx1"/>
                </a:solidFill>
                <a:latin typeface="Times New Roman" panose="02020603050405020304" pitchFamily="18" charset="0"/>
                <a:cs typeface="Times New Roman" panose="02020603050405020304" pitchFamily="18" charset="0"/>
              </a:rPr>
              <a:t>) in a </a:t>
            </a:r>
            <a:r>
              <a:rPr lang="en-US" altLang="en-US" sz="2000" b="1" dirty="0" err="1">
                <a:solidFill>
                  <a:schemeClr val="tx1"/>
                </a:solidFill>
                <a:latin typeface="Times New Roman" panose="02020603050405020304" pitchFamily="18" charset="0"/>
                <a:cs typeface="Times New Roman" panose="02020603050405020304" pitchFamily="18" charset="0"/>
              </a:rPr>
              <a:t>StackNode</a:t>
            </a:r>
            <a:r>
              <a:rPr lang="en-US" altLang="en-US" sz="2000" dirty="0">
                <a:solidFill>
                  <a:schemeClr val="tx1"/>
                </a:solidFill>
                <a:latin typeface="Times New Roman" panose="02020603050405020304" pitchFamily="18" charset="0"/>
                <a:cs typeface="Times New Roman" panose="02020603050405020304" pitchFamily="18" charset="0"/>
              </a:rPr>
              <a:t> object.</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This node will be inserted at the top of the stack.</a:t>
            </a:r>
          </a:p>
        </p:txBody>
      </p:sp>
      <p:sp>
        <p:nvSpPr>
          <p:cNvPr id="12" name="Arrow: Right 11">
            <a:extLst>
              <a:ext uri="{FF2B5EF4-FFF2-40B4-BE49-F238E27FC236}">
                <a16:creationId xmlns:a16="http://schemas.microsoft.com/office/drawing/2014/main" id="{142C7A4E-F58A-4630-BD94-E67826170FE3}"/>
              </a:ext>
            </a:extLst>
          </p:cNvPr>
          <p:cNvSpPr/>
          <p:nvPr/>
        </p:nvSpPr>
        <p:spPr>
          <a:xfrm rot="19904457">
            <a:off x="4701987" y="1914530"/>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5723334" y="1734947"/>
            <a:ext cx="3886199" cy="39160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57424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081A45-8735-4D92-946A-3AE4003776BD}"/>
              </a:ext>
            </a:extLst>
          </p:cNvPr>
          <p:cNvSpPr/>
          <p:nvPr/>
        </p:nvSpPr>
        <p:spPr>
          <a:xfrm>
            <a:off x="5723334" y="1309854"/>
            <a:ext cx="6096000" cy="3376758"/>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push</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stack</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node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err="1">
                <a:solidFill>
                  <a:srgbClr val="2B91AF"/>
                </a:solidFill>
                <a:latin typeface="Consolas" panose="020B0609020204030204" pitchFamily="49" charset="0"/>
              </a:rPr>
              <a:t>StackNode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node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stack</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stack</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 </a:t>
            </a:r>
            <a:r>
              <a:rPr lang="en-US" sz="1600" dirty="0">
                <a:solidFill>
                  <a:srgbClr val="1F377F"/>
                </a:solidFill>
                <a:latin typeface="Consolas" panose="020B0609020204030204" pitchFamily="49" charset="0"/>
              </a:rPr>
              <a:t>temp</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.next</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None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else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.next</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stack</a:t>
            </a:r>
            <a:r>
              <a:rPr lang="en-US" sz="1600" dirty="0" err="1">
                <a:solidFill>
                  <a:srgbClr val="000000"/>
                </a:solidFill>
                <a:latin typeface="Consolas" panose="020B0609020204030204" pitchFamily="49" charset="0"/>
              </a:rPr>
              <a:t>.top</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stack</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 </a:t>
            </a:r>
            <a:r>
              <a:rPr lang="en-US" sz="1600" dirty="0">
                <a:solidFill>
                  <a:srgbClr val="1F377F"/>
                </a:solidFill>
                <a:latin typeface="Consolas" panose="020B0609020204030204" pitchFamily="49" charset="0"/>
              </a:rPr>
              <a:t>temp</a:t>
            </a: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Q03 -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push(stack, node)</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961571" y="2074917"/>
            <a:ext cx="3229429" cy="2862322"/>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Check if the stack is empty</a:t>
            </a:r>
            <a:br>
              <a:rPr lang="en-US" altLang="en-US" sz="2000" b="1" dirty="0">
                <a:solidFill>
                  <a:schemeClr val="tx1"/>
                </a:solidFill>
                <a:latin typeface="Times New Roman" panose="02020603050405020304" pitchFamily="18" charset="0"/>
                <a:cs typeface="Times New Roman" panose="02020603050405020304" pitchFamily="18" charset="0"/>
              </a:rPr>
            </a:br>
            <a:endParaRPr lang="en-US" altLang="en-US" sz="2000" b="1"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If the stack is empty (top is None), the new node becomes the top node.</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err="1">
                <a:solidFill>
                  <a:schemeClr val="tx1"/>
                </a:solidFill>
                <a:latin typeface="Times New Roman" panose="02020603050405020304" pitchFamily="18" charset="0"/>
                <a:cs typeface="Times New Roman" panose="02020603050405020304" pitchFamily="18" charset="0"/>
              </a:rPr>
              <a:t>temp.next</a:t>
            </a:r>
            <a:r>
              <a:rPr lang="en-US" altLang="en-US" sz="2000" dirty="0">
                <a:solidFill>
                  <a:schemeClr val="tx1"/>
                </a:solidFill>
                <a:latin typeface="Times New Roman" panose="02020603050405020304" pitchFamily="18" charset="0"/>
                <a:cs typeface="Times New Roman" panose="02020603050405020304" pitchFamily="18" charset="0"/>
              </a:rPr>
              <a:t> = None ensures there’s nothing below this node.</a:t>
            </a:r>
          </a:p>
        </p:txBody>
      </p:sp>
      <p:sp>
        <p:nvSpPr>
          <p:cNvPr id="12" name="Arrow: Right 11">
            <a:extLst>
              <a:ext uri="{FF2B5EF4-FFF2-40B4-BE49-F238E27FC236}">
                <a16:creationId xmlns:a16="http://schemas.microsoft.com/office/drawing/2014/main" id="{142C7A4E-F58A-4630-BD94-E67826170FE3}"/>
              </a:ext>
            </a:extLst>
          </p:cNvPr>
          <p:cNvSpPr/>
          <p:nvPr/>
        </p:nvSpPr>
        <p:spPr>
          <a:xfrm>
            <a:off x="4507308" y="2677421"/>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5742384" y="2441770"/>
            <a:ext cx="3886199" cy="113963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69313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081A45-8735-4D92-946A-3AE4003776BD}"/>
              </a:ext>
            </a:extLst>
          </p:cNvPr>
          <p:cNvSpPr/>
          <p:nvPr/>
        </p:nvSpPr>
        <p:spPr>
          <a:xfrm>
            <a:off x="5723334" y="1309854"/>
            <a:ext cx="6096000" cy="3376758"/>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push</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stack</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node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err="1">
                <a:solidFill>
                  <a:srgbClr val="2B91AF"/>
                </a:solidFill>
                <a:latin typeface="Consolas" panose="020B0609020204030204" pitchFamily="49" charset="0"/>
              </a:rPr>
              <a:t>StackNode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node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stack</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stack</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 </a:t>
            </a:r>
            <a:r>
              <a:rPr lang="en-US" sz="1600" dirty="0">
                <a:solidFill>
                  <a:srgbClr val="1F377F"/>
                </a:solidFill>
                <a:latin typeface="Consolas" panose="020B0609020204030204" pitchFamily="49" charset="0"/>
              </a:rPr>
              <a:t>temp</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.next</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None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else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.next</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stack</a:t>
            </a:r>
            <a:r>
              <a:rPr lang="en-US" sz="1600" dirty="0" err="1">
                <a:solidFill>
                  <a:srgbClr val="000000"/>
                </a:solidFill>
                <a:latin typeface="Consolas" panose="020B0609020204030204" pitchFamily="49" charset="0"/>
              </a:rPr>
              <a:t>.top</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stack</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 </a:t>
            </a:r>
            <a:r>
              <a:rPr lang="en-US" sz="1600" dirty="0">
                <a:solidFill>
                  <a:srgbClr val="1F377F"/>
                </a:solidFill>
                <a:latin typeface="Consolas" panose="020B0609020204030204" pitchFamily="49" charset="0"/>
              </a:rPr>
              <a:t>temp</a:t>
            </a: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Q03 -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push(stack, node)</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961571" y="2049630"/>
            <a:ext cx="3229429" cy="4093428"/>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If the stack is not empty</a:t>
            </a:r>
            <a:br>
              <a:rPr lang="en-US" altLang="en-US" sz="2000" b="1" dirty="0">
                <a:solidFill>
                  <a:schemeClr val="tx1"/>
                </a:solidFill>
                <a:latin typeface="Times New Roman" panose="02020603050405020304" pitchFamily="18" charset="0"/>
                <a:cs typeface="Times New Roman" panose="02020603050405020304" pitchFamily="18" charset="0"/>
              </a:rPr>
            </a:br>
            <a:endParaRPr lang="en-US" altLang="en-US" sz="2000" b="1"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Set the .</a:t>
            </a:r>
            <a:r>
              <a:rPr lang="en-US" altLang="en-US" sz="2000" b="1" dirty="0">
                <a:solidFill>
                  <a:schemeClr val="tx1"/>
                </a:solidFill>
                <a:latin typeface="Times New Roman" panose="02020603050405020304" pitchFamily="18" charset="0"/>
                <a:cs typeface="Times New Roman" panose="02020603050405020304" pitchFamily="18" charset="0"/>
              </a:rPr>
              <a:t>next</a:t>
            </a:r>
            <a:r>
              <a:rPr lang="en-US" altLang="en-US" sz="2000" dirty="0">
                <a:solidFill>
                  <a:schemeClr val="tx1"/>
                </a:solidFill>
                <a:latin typeface="Times New Roman" panose="02020603050405020304" pitchFamily="18" charset="0"/>
                <a:cs typeface="Times New Roman" panose="02020603050405020304" pitchFamily="18" charset="0"/>
              </a:rPr>
              <a:t> of the new node to the current top node.</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Update </a:t>
            </a:r>
            <a:r>
              <a:rPr lang="en-US" altLang="en-US" sz="2000" b="1" dirty="0" err="1">
                <a:solidFill>
                  <a:schemeClr val="tx1"/>
                </a:solidFill>
                <a:latin typeface="Times New Roman" panose="02020603050405020304" pitchFamily="18" charset="0"/>
                <a:cs typeface="Times New Roman" panose="02020603050405020304" pitchFamily="18" charset="0"/>
              </a:rPr>
              <a:t>stack.top</a:t>
            </a:r>
            <a:r>
              <a:rPr lang="en-US" altLang="en-US" sz="2000" b="1" dirty="0">
                <a:solidFill>
                  <a:schemeClr val="tx1"/>
                </a:solidFill>
                <a:latin typeface="Times New Roman" panose="02020603050405020304" pitchFamily="18" charset="0"/>
                <a:cs typeface="Times New Roman" panose="02020603050405020304" pitchFamily="18" charset="0"/>
              </a:rPr>
              <a:t> </a:t>
            </a:r>
            <a:r>
              <a:rPr lang="en-US" altLang="en-US" sz="2000" dirty="0">
                <a:solidFill>
                  <a:schemeClr val="tx1"/>
                </a:solidFill>
                <a:latin typeface="Times New Roman" panose="02020603050405020304" pitchFamily="18" charset="0"/>
                <a:cs typeface="Times New Roman" panose="02020603050405020304" pitchFamily="18" charset="0"/>
              </a:rPr>
              <a:t>to point to the new </a:t>
            </a:r>
            <a:r>
              <a:rPr lang="en-US" altLang="en-US" sz="2000" b="1" dirty="0">
                <a:solidFill>
                  <a:schemeClr val="tx1"/>
                </a:solidFill>
                <a:latin typeface="Times New Roman" panose="02020603050405020304" pitchFamily="18" charset="0"/>
                <a:cs typeface="Times New Roman" panose="02020603050405020304" pitchFamily="18" charset="0"/>
              </a:rPr>
              <a:t>node</a:t>
            </a:r>
            <a:r>
              <a:rPr lang="en-US" altLang="en-US" sz="2000" dirty="0">
                <a:solidFill>
                  <a:schemeClr val="tx1"/>
                </a:solidFill>
                <a:latin typeface="Times New Roman" panose="02020603050405020304" pitchFamily="18" charset="0"/>
                <a:cs typeface="Times New Roman" panose="02020603050405020304" pitchFamily="18" charset="0"/>
              </a:rPr>
              <a:t>.</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This effectively inserts the new node above the existing stack.</a:t>
            </a:r>
          </a:p>
          <a:p>
            <a:pPr lvl="0" eaLnBrk="0" fontAlgn="base" hangingPunct="0">
              <a:spcBef>
                <a:spcPct val="0"/>
              </a:spcBef>
              <a:spcAft>
                <a:spcPct val="0"/>
              </a:spcAft>
            </a:pPr>
            <a:endParaRPr lang="en-US" altLang="en-US" sz="2000" b="1" dirty="0">
              <a:solidFill>
                <a:schemeClr val="tx1"/>
              </a:solidFill>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4507308" y="3929262"/>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5867400" y="3506078"/>
            <a:ext cx="3886199" cy="118053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3754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dirty="0"/>
              <a:t>Q03 -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pop(s)</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1416091" y="1939841"/>
            <a:ext cx="3229429" cy="1631216"/>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Check if the stack is empty</a:t>
            </a:r>
            <a:br>
              <a:rPr lang="en-US" altLang="en-US" sz="2000" b="1" dirty="0">
                <a:solidFill>
                  <a:schemeClr val="tx1"/>
                </a:solidFill>
                <a:latin typeface="Times New Roman" panose="02020603050405020304" pitchFamily="18" charset="0"/>
                <a:cs typeface="Times New Roman" panose="02020603050405020304" pitchFamily="18" charset="0"/>
              </a:rPr>
            </a:br>
            <a:endParaRPr lang="en-US" altLang="en-US" sz="2000" b="1"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If the stack is empty, there’s nothing to pop, so it returns None.</a:t>
            </a:r>
            <a:endParaRPr lang="en-US" altLang="en-US" sz="2000" b="1" dirty="0">
              <a:solidFill>
                <a:schemeClr val="tx1"/>
              </a:solidFill>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125609" y="2014841"/>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705600" y="1734947"/>
            <a:ext cx="3200400" cy="89395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0991BC85-2EE3-4E2D-B30C-5299C5669C39}"/>
              </a:ext>
            </a:extLst>
          </p:cNvPr>
          <p:cNvSpPr/>
          <p:nvPr/>
        </p:nvSpPr>
        <p:spPr>
          <a:xfrm>
            <a:off x="6495142" y="1349291"/>
            <a:ext cx="5248729" cy="3007426"/>
          </a:xfrm>
          <a:prstGeom prst="rect">
            <a:avLst/>
          </a:prstGeom>
        </p:spPr>
        <p:txBody>
          <a:bodyPr wrap="square">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pop</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s</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.top.next</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ptr</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.top.data</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 </a:t>
            </a:r>
            <a:r>
              <a:rPr lang="en-US" sz="1600" dirty="0">
                <a:solidFill>
                  <a:srgbClr val="1F377F"/>
                </a:solidFill>
                <a:latin typeface="Consolas" panose="020B0609020204030204" pitchFamily="49" charset="0"/>
              </a:rPr>
              <a:t>temp</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ptr</a:t>
            </a:r>
            <a:endParaRPr lang="en-US" sz="16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5988952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91BC85-2EE3-4E2D-B30C-5299C5669C39}"/>
              </a:ext>
            </a:extLst>
          </p:cNvPr>
          <p:cNvSpPr/>
          <p:nvPr/>
        </p:nvSpPr>
        <p:spPr>
          <a:xfrm>
            <a:off x="6495142" y="1349291"/>
            <a:ext cx="5248729" cy="3007426"/>
          </a:xfrm>
          <a:prstGeom prst="rect">
            <a:avLst/>
          </a:prstGeom>
        </p:spPr>
        <p:txBody>
          <a:bodyPr wrap="square">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pop</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s</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.top.next</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ptr</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.top.data</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 </a:t>
            </a:r>
            <a:r>
              <a:rPr lang="en-US" sz="1600" dirty="0">
                <a:solidFill>
                  <a:srgbClr val="1F377F"/>
                </a:solidFill>
                <a:latin typeface="Consolas" panose="020B0609020204030204" pitchFamily="49" charset="0"/>
              </a:rPr>
              <a:t>temp</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ptr</a:t>
            </a: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Q03 -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pop(s)</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1408792" y="2314964"/>
            <a:ext cx="3229429" cy="3170099"/>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Store reference to the next node</a:t>
            </a:r>
            <a:br>
              <a:rPr lang="en-US" altLang="en-US" sz="2000" b="1" dirty="0">
                <a:solidFill>
                  <a:schemeClr val="tx1"/>
                </a:solidFill>
                <a:latin typeface="Times New Roman" panose="02020603050405020304" pitchFamily="18" charset="0"/>
                <a:cs typeface="Times New Roman" panose="02020603050405020304" pitchFamily="18" charset="0"/>
              </a:rPr>
            </a:br>
            <a:endParaRPr lang="en-US" altLang="en-US" sz="2000" b="1"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temp temporarily holds the node below the top node.</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This is needed to update the stack after removing the top.</a:t>
            </a:r>
            <a:endParaRPr lang="en-US" altLang="en-US" sz="2000" b="1" dirty="0">
              <a:solidFill>
                <a:schemeClr val="tx1"/>
              </a:solidFill>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221598" y="2986391"/>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705600" y="2895600"/>
            <a:ext cx="3200400" cy="381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02197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91BC85-2EE3-4E2D-B30C-5299C5669C39}"/>
              </a:ext>
            </a:extLst>
          </p:cNvPr>
          <p:cNvSpPr/>
          <p:nvPr/>
        </p:nvSpPr>
        <p:spPr>
          <a:xfrm>
            <a:off x="6495142" y="1349291"/>
            <a:ext cx="5248729" cy="3007426"/>
          </a:xfrm>
          <a:prstGeom prst="rect">
            <a:avLst/>
          </a:prstGeom>
        </p:spPr>
        <p:txBody>
          <a:bodyPr wrap="square">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pop</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s</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.top.next</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ptr</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.top.data</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 </a:t>
            </a:r>
            <a:r>
              <a:rPr lang="en-US" sz="1600" dirty="0">
                <a:solidFill>
                  <a:srgbClr val="1F377F"/>
                </a:solidFill>
                <a:latin typeface="Consolas" panose="020B0609020204030204" pitchFamily="49" charset="0"/>
              </a:rPr>
              <a:t>temp</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ptr</a:t>
            </a: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Q03 -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pop(s)</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1483220" y="2650004"/>
            <a:ext cx="3229429" cy="1938992"/>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Store the data of the top node</a:t>
            </a:r>
            <a:br>
              <a:rPr lang="en-US" altLang="en-US" sz="2000" b="1" dirty="0">
                <a:solidFill>
                  <a:schemeClr val="tx1"/>
                </a:solidFill>
                <a:latin typeface="Times New Roman" panose="02020603050405020304" pitchFamily="18" charset="0"/>
                <a:cs typeface="Times New Roman" panose="02020603050405020304" pitchFamily="18" charset="0"/>
              </a:rPr>
            </a:br>
            <a:endParaRPr lang="en-US" altLang="en-US" sz="2000" b="1"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err="1">
                <a:solidFill>
                  <a:schemeClr val="tx1"/>
                </a:solidFill>
                <a:latin typeface="Times New Roman" panose="02020603050405020304" pitchFamily="18" charset="0"/>
                <a:cs typeface="Times New Roman" panose="02020603050405020304" pitchFamily="18" charset="0"/>
              </a:rPr>
              <a:t>ptr</a:t>
            </a:r>
            <a:r>
              <a:rPr lang="en-US" altLang="en-US" sz="2000" dirty="0">
                <a:solidFill>
                  <a:schemeClr val="tx1"/>
                </a:solidFill>
                <a:latin typeface="Times New Roman" panose="02020603050405020304" pitchFamily="18" charset="0"/>
                <a:cs typeface="Times New Roman" panose="02020603050405020304" pitchFamily="18" charset="0"/>
              </a:rPr>
              <a:t> stores the actual value (BST node) that we want to return.</a:t>
            </a:r>
            <a:endParaRPr lang="en-US" altLang="en-US" sz="2000" b="1" dirty="0">
              <a:solidFill>
                <a:schemeClr val="tx1"/>
              </a:solidFill>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259867" y="3261918"/>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723742" y="3238500"/>
            <a:ext cx="3200400" cy="381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10525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91BC85-2EE3-4E2D-B30C-5299C5669C39}"/>
              </a:ext>
            </a:extLst>
          </p:cNvPr>
          <p:cNvSpPr/>
          <p:nvPr/>
        </p:nvSpPr>
        <p:spPr>
          <a:xfrm>
            <a:off x="6495142" y="1349291"/>
            <a:ext cx="5248729" cy="3007426"/>
          </a:xfrm>
          <a:prstGeom prst="rect">
            <a:avLst/>
          </a:prstGeom>
        </p:spPr>
        <p:txBody>
          <a:bodyPr wrap="square">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pop</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s</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.top.next</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ptr</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.top.data</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 </a:t>
            </a:r>
            <a:r>
              <a:rPr lang="en-US" sz="1600" dirty="0">
                <a:solidFill>
                  <a:srgbClr val="1F377F"/>
                </a:solidFill>
                <a:latin typeface="Consolas" panose="020B0609020204030204" pitchFamily="49" charset="0"/>
              </a:rPr>
              <a:t>temp</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ptr</a:t>
            </a: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Q03 -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pop(s)</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1545770" y="2383984"/>
            <a:ext cx="3229429" cy="3170099"/>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Update the top of the stack</a:t>
            </a:r>
            <a:br>
              <a:rPr lang="en-US" altLang="en-US" sz="2000" b="1" dirty="0">
                <a:solidFill>
                  <a:schemeClr val="tx1"/>
                </a:solidFill>
                <a:latin typeface="Times New Roman" panose="02020603050405020304" pitchFamily="18" charset="0"/>
                <a:cs typeface="Times New Roman" panose="02020603050405020304" pitchFamily="18" charset="0"/>
              </a:rPr>
            </a:br>
            <a:endParaRPr lang="en-US" altLang="en-US" sz="2000" b="1"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The new top of the stack becomes the node that was below the original top.</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This effectively removes the original top node from the stack.</a:t>
            </a:r>
            <a:endParaRPr lang="en-US" altLang="en-US" sz="2000" b="1" dirty="0">
              <a:solidFill>
                <a:schemeClr val="tx1"/>
              </a:solidFill>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244276" y="3642918"/>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705600" y="3619500"/>
            <a:ext cx="3200400" cy="381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30116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91BC85-2EE3-4E2D-B30C-5299C5669C39}"/>
              </a:ext>
            </a:extLst>
          </p:cNvPr>
          <p:cNvSpPr/>
          <p:nvPr/>
        </p:nvSpPr>
        <p:spPr>
          <a:xfrm>
            <a:off x="6495142" y="1349291"/>
            <a:ext cx="5248729" cy="3007426"/>
          </a:xfrm>
          <a:prstGeom prst="rect">
            <a:avLst/>
          </a:prstGeom>
        </p:spPr>
        <p:txBody>
          <a:bodyPr wrap="square">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pop</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s</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p>
          <a:p>
            <a:pPr>
              <a:lnSpc>
                <a:spcPct val="150000"/>
              </a:lnSpc>
            </a:pP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.top.next</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ptr</a:t>
            </a:r>
            <a:r>
              <a:rPr lang="en-US" sz="1600" dirty="0">
                <a:solidFill>
                  <a:srgbClr val="000000"/>
                </a:solidFill>
                <a:latin typeface="Consolas" panose="020B0609020204030204" pitchFamily="49" charset="0"/>
              </a:rPr>
              <a:t> =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.top.data</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 </a:t>
            </a:r>
            <a:r>
              <a:rPr lang="en-US" sz="1600" dirty="0">
                <a:solidFill>
                  <a:srgbClr val="1F377F"/>
                </a:solidFill>
                <a:latin typeface="Consolas" panose="020B0609020204030204" pitchFamily="49" charset="0"/>
              </a:rPr>
              <a:t>temp</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ptr</a:t>
            </a: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Q03 -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pop(s)</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1532574" y="3184892"/>
            <a:ext cx="3229429" cy="1631216"/>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Return the popped data</a:t>
            </a:r>
            <a:br>
              <a:rPr lang="en-US" altLang="en-US" sz="2000" b="1" dirty="0">
                <a:solidFill>
                  <a:schemeClr val="tx1"/>
                </a:solidFill>
                <a:latin typeface="Times New Roman" panose="02020603050405020304" pitchFamily="18" charset="0"/>
                <a:cs typeface="Times New Roman" panose="02020603050405020304" pitchFamily="18" charset="0"/>
              </a:rPr>
            </a:br>
            <a:endParaRPr lang="en-US" altLang="en-US" sz="2000" b="1"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Returns the BST node that was stored at the top before popping.</a:t>
            </a:r>
            <a:endParaRPr lang="en-US" altLang="en-US" sz="2000" b="1" dirty="0">
              <a:solidFill>
                <a:schemeClr val="tx1"/>
              </a:solidFill>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244276" y="4000500"/>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613070" y="3977082"/>
            <a:ext cx="3200400" cy="381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6158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0B5BC1D-519D-40DA-B3D9-4C2EE7421A64}"/>
              </a:ext>
            </a:extLst>
          </p:cNvPr>
          <p:cNvSpPr/>
          <p:nvPr/>
        </p:nvSpPr>
        <p:spPr>
          <a:xfrm>
            <a:off x="6645316" y="1696570"/>
            <a:ext cx="6096000" cy="2638094"/>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peek</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s</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.top.data</a:t>
            </a:r>
            <a:endParaRPr lang="en-US" sz="1600" dirty="0">
              <a:solidFill>
                <a:srgbClr val="000000"/>
              </a:solidFill>
              <a:latin typeface="Consolas" panose="020B0609020204030204" pitchFamily="49" charset="0"/>
            </a:endParaRPr>
          </a:p>
          <a:p>
            <a:pPr>
              <a:lnSpc>
                <a:spcPct val="150000"/>
              </a:lnSpc>
            </a:pPr>
            <a:br>
              <a:rPr lang="en-US" sz="1600" dirty="0">
                <a:solidFill>
                  <a:srgbClr val="000000"/>
                </a:solidFill>
                <a:latin typeface="Consolas" panose="020B0609020204030204" pitchFamily="49" charset="0"/>
              </a:rPr>
            </a:b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isEmpty</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s</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Q03 -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peek(s) and </a:t>
            </a:r>
            <a:r>
              <a:rPr lang="en-US" sz="2000" b="1" u="sng" dirty="0" err="1">
                <a:solidFill>
                  <a:srgbClr val="005684"/>
                </a:solidFill>
                <a:latin typeface="Times New Roman" panose="02020603050405020304" pitchFamily="18" charset="0"/>
                <a:ea typeface="Times New Roman" panose="02020603050405020304" pitchFamily="18" charset="0"/>
              </a:rPr>
              <a:t>isEmpty</a:t>
            </a:r>
            <a:r>
              <a:rPr lang="en-US" sz="2000" b="1" u="sng" dirty="0">
                <a:solidFill>
                  <a:srgbClr val="005684"/>
                </a:solidFill>
                <a:latin typeface="Times New Roman" panose="02020603050405020304" pitchFamily="18" charset="0"/>
                <a:ea typeface="Times New Roman" panose="02020603050405020304" pitchFamily="18" charset="0"/>
              </a:rPr>
              <a:t>(s)</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1542123" y="1939841"/>
            <a:ext cx="3229429" cy="3170099"/>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peek Function</a:t>
            </a:r>
            <a:br>
              <a:rPr lang="en-US" altLang="en-US" sz="2000" b="1" dirty="0">
                <a:solidFill>
                  <a:schemeClr val="tx1"/>
                </a:solidFill>
                <a:latin typeface="Times New Roman" panose="02020603050405020304" pitchFamily="18" charset="0"/>
                <a:cs typeface="Times New Roman" panose="02020603050405020304" pitchFamily="18" charset="0"/>
              </a:rPr>
            </a:br>
            <a:endParaRPr lang="en-US" altLang="en-US" sz="2000" b="1"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Returns the value at the top of the stack without removing it.</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Useful when you want to inspect the top element without modifying the stack.</a:t>
            </a:r>
            <a:endParaRPr lang="en-US" altLang="en-US" sz="2000" b="1" dirty="0">
              <a:solidFill>
                <a:schemeClr val="tx1"/>
              </a:solidFill>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227499" y="2421285"/>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781800" y="2152650"/>
            <a:ext cx="3200400" cy="103224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41393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0B5BC1D-519D-40DA-B3D9-4C2EE7421A64}"/>
              </a:ext>
            </a:extLst>
          </p:cNvPr>
          <p:cNvSpPr/>
          <p:nvPr/>
        </p:nvSpPr>
        <p:spPr>
          <a:xfrm>
            <a:off x="6645316" y="1696570"/>
            <a:ext cx="6096000" cy="2638094"/>
          </a:xfrm>
          <a:prstGeom prst="rect">
            <a:avLst/>
          </a:prstGeom>
        </p:spPr>
        <p:txBody>
          <a:bodyPr>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peek</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s</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.top.data</a:t>
            </a:r>
            <a:endParaRPr lang="en-US" sz="1600" dirty="0">
              <a:solidFill>
                <a:srgbClr val="000000"/>
              </a:solidFill>
              <a:latin typeface="Consolas" panose="020B0609020204030204" pitchFamily="49" charset="0"/>
            </a:endParaRPr>
          </a:p>
          <a:p>
            <a:pPr>
              <a:lnSpc>
                <a:spcPct val="150000"/>
              </a:lnSpc>
            </a:pPr>
            <a:br>
              <a:rPr lang="en-US" sz="1600" dirty="0">
                <a:solidFill>
                  <a:srgbClr val="000000"/>
                </a:solidFill>
                <a:latin typeface="Consolas" panose="020B0609020204030204" pitchFamily="49" charset="0"/>
              </a:rPr>
            </a:b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isEmpty</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s</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s</a:t>
            </a:r>
            <a:r>
              <a:rPr lang="en-US" sz="1600" dirty="0" err="1">
                <a:solidFill>
                  <a:srgbClr val="000000"/>
                </a:solidFill>
                <a:latin typeface="Consolas" panose="020B0609020204030204" pitchFamily="49" charset="0"/>
              </a:rPr>
              <a:t>.top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Q03 - Answer</a:t>
            </a:r>
          </a:p>
        </p:txBody>
      </p:sp>
      <p:sp>
        <p:nvSpPr>
          <p:cNvPr id="8" name="Rectangle 7">
            <a:extLst>
              <a:ext uri="{FF2B5EF4-FFF2-40B4-BE49-F238E27FC236}">
                <a16:creationId xmlns:a16="http://schemas.microsoft.com/office/drawing/2014/main" id="{B291BBA7-C33F-45BC-B728-36E9BDF0BBCB}"/>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BBD917A1-E1B1-4E69-813E-5AB4975D1E27}"/>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peek(s) and </a:t>
            </a:r>
            <a:r>
              <a:rPr lang="en-US" sz="2000" b="1" u="sng" dirty="0" err="1">
                <a:solidFill>
                  <a:srgbClr val="005684"/>
                </a:solidFill>
                <a:latin typeface="Times New Roman" panose="02020603050405020304" pitchFamily="18" charset="0"/>
                <a:ea typeface="Times New Roman" panose="02020603050405020304" pitchFamily="18" charset="0"/>
              </a:rPr>
              <a:t>isEmpty</a:t>
            </a:r>
            <a:r>
              <a:rPr lang="en-US" sz="2000" b="1" u="sng" dirty="0">
                <a:solidFill>
                  <a:srgbClr val="005684"/>
                </a:solidFill>
                <a:latin typeface="Times New Roman" panose="02020603050405020304" pitchFamily="18" charset="0"/>
                <a:ea typeface="Times New Roman" panose="02020603050405020304" pitchFamily="18" charset="0"/>
              </a:rPr>
              <a:t>(s)</a:t>
            </a:r>
          </a:p>
        </p:txBody>
      </p:sp>
      <p:sp>
        <p:nvSpPr>
          <p:cNvPr id="10" name="Rectangle 1">
            <a:extLst>
              <a:ext uri="{FF2B5EF4-FFF2-40B4-BE49-F238E27FC236}">
                <a16:creationId xmlns:a16="http://schemas.microsoft.com/office/drawing/2014/main" id="{4BD3B217-8C8F-4C7E-AFA2-CA2F57BA677B}"/>
              </a:ext>
            </a:extLst>
          </p:cNvPr>
          <p:cNvSpPr>
            <a:spLocks noChangeArrowheads="1"/>
          </p:cNvSpPr>
          <p:nvPr/>
        </p:nvSpPr>
        <p:spPr bwMode="auto">
          <a:xfrm>
            <a:off x="1616454" y="2965564"/>
            <a:ext cx="3229429" cy="2246769"/>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err="1">
                <a:solidFill>
                  <a:schemeClr val="tx1"/>
                </a:solidFill>
                <a:latin typeface="Times New Roman" panose="02020603050405020304" pitchFamily="18" charset="0"/>
                <a:cs typeface="Times New Roman" panose="02020603050405020304" pitchFamily="18" charset="0"/>
              </a:rPr>
              <a:t>isEmpty</a:t>
            </a:r>
            <a:r>
              <a:rPr lang="en-US" altLang="en-US" sz="2000" b="1" dirty="0">
                <a:solidFill>
                  <a:schemeClr val="tx1"/>
                </a:solidFill>
                <a:latin typeface="Times New Roman" panose="02020603050405020304" pitchFamily="18" charset="0"/>
                <a:cs typeface="Times New Roman" panose="02020603050405020304" pitchFamily="18" charset="0"/>
              </a:rPr>
              <a:t> Function</a:t>
            </a:r>
            <a:br>
              <a:rPr lang="en-US" altLang="en-US" sz="2000" b="1" dirty="0">
                <a:solidFill>
                  <a:schemeClr val="tx1"/>
                </a:solidFill>
                <a:latin typeface="Times New Roman" panose="02020603050405020304" pitchFamily="18" charset="0"/>
                <a:cs typeface="Times New Roman" panose="02020603050405020304" pitchFamily="18" charset="0"/>
              </a:rPr>
            </a:br>
            <a:endParaRPr lang="en-US" altLang="en-US" sz="2000" b="1"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Checks whether the stack is empty.</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Returns </a:t>
            </a:r>
            <a:r>
              <a:rPr lang="en-US" altLang="en-US" sz="2000" b="1" dirty="0">
                <a:solidFill>
                  <a:schemeClr val="tx1"/>
                </a:solidFill>
                <a:latin typeface="Times New Roman" panose="02020603050405020304" pitchFamily="18" charset="0"/>
                <a:cs typeface="Times New Roman" panose="02020603050405020304" pitchFamily="18" charset="0"/>
              </a:rPr>
              <a:t>True</a:t>
            </a:r>
            <a:r>
              <a:rPr lang="en-US" altLang="en-US" sz="2000" dirty="0">
                <a:solidFill>
                  <a:schemeClr val="tx1"/>
                </a:solidFill>
                <a:latin typeface="Times New Roman" panose="02020603050405020304" pitchFamily="18" charset="0"/>
                <a:cs typeface="Times New Roman" panose="02020603050405020304" pitchFamily="18" charset="0"/>
              </a:rPr>
              <a:t> if the stack is empty, </a:t>
            </a:r>
            <a:r>
              <a:rPr lang="en-US" altLang="en-US" sz="2000" b="1" dirty="0">
                <a:solidFill>
                  <a:schemeClr val="tx1"/>
                </a:solidFill>
                <a:latin typeface="Times New Roman" panose="02020603050405020304" pitchFamily="18" charset="0"/>
                <a:cs typeface="Times New Roman" panose="02020603050405020304" pitchFamily="18" charset="0"/>
              </a:rPr>
              <a:t>False</a:t>
            </a:r>
            <a:r>
              <a:rPr lang="en-US" altLang="en-US" sz="2000" dirty="0">
                <a:solidFill>
                  <a:schemeClr val="tx1"/>
                </a:solidFill>
                <a:latin typeface="Times New Roman" panose="02020603050405020304" pitchFamily="18" charset="0"/>
                <a:cs typeface="Times New Roman" panose="02020603050405020304" pitchFamily="18" charset="0"/>
              </a:rPr>
              <a:t> otherwise.</a:t>
            </a:r>
            <a:endParaRPr lang="en-US" altLang="en-US" sz="2000" b="1" dirty="0">
              <a:solidFill>
                <a:schemeClr val="tx1"/>
              </a:solidFill>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42C7A4E-F58A-4630-BD94-E67826170FE3}"/>
              </a:ext>
            </a:extLst>
          </p:cNvPr>
          <p:cNvSpPr/>
          <p:nvPr/>
        </p:nvSpPr>
        <p:spPr>
          <a:xfrm>
            <a:off x="5440183" y="4088949"/>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00096-0027-4913-8BA4-5F92FA55F883}"/>
              </a:ext>
            </a:extLst>
          </p:cNvPr>
          <p:cNvSpPr/>
          <p:nvPr/>
        </p:nvSpPr>
        <p:spPr>
          <a:xfrm>
            <a:off x="6934200" y="3962400"/>
            <a:ext cx="3200400" cy="533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36283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B4B1E-86AD-99EF-8A57-640C892AFAF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502FDFB-2492-4358-B213-B7F16FEE63E8}"/>
              </a:ext>
            </a:extLst>
          </p:cNvPr>
          <p:cNvSpPr/>
          <p:nvPr/>
        </p:nvSpPr>
        <p:spPr>
          <a:xfrm>
            <a:off x="6524070" y="1534892"/>
            <a:ext cx="6096000" cy="4278094"/>
          </a:xfrm>
          <a:prstGeom prst="rect">
            <a:avLst/>
          </a:prstGeom>
        </p:spPr>
        <p:txBody>
          <a:bodyPr>
            <a:spAutoFit/>
          </a:bodyPr>
          <a:lstStyle/>
          <a:p>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preOrderIterative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root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 = </a:t>
            </a:r>
            <a:r>
              <a:rPr lang="en-US" sz="1600" dirty="0">
                <a:solidFill>
                  <a:srgbClr val="2B91AF"/>
                </a:solidFill>
                <a:latin typeface="Consolas" panose="020B0609020204030204" pitchFamily="49" charset="0"/>
              </a:rPr>
              <a:t>Stack</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a:solidFill>
                  <a:srgbClr val="808080"/>
                </a:solidFill>
                <a:latin typeface="Consolas" panose="020B0609020204030204" pitchFamily="49" charset="0"/>
              </a:rPr>
              <a:t>root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push</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while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isEmpty</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a:solidFill>
                  <a:srgbClr val="74531F"/>
                </a:solidFill>
                <a:latin typeface="Consolas" panose="020B0609020204030204" pitchFamily="49" charset="0"/>
              </a:rPr>
              <a:t>pop</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print</a:t>
            </a:r>
            <a:r>
              <a:rPr lang="en-US" sz="1600" dirty="0">
                <a:solidFill>
                  <a:srgbClr val="000000"/>
                </a:solidFill>
                <a:latin typeface="Consolas" panose="020B0609020204030204" pitchFamily="49" charset="0"/>
              </a:rPr>
              <a:t>(</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.item</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end</a:t>
            </a:r>
            <a:r>
              <a:rPr lang="en-US" sz="1600" dirty="0">
                <a:solidFill>
                  <a:srgbClr val="000000"/>
                </a:solidFill>
                <a:latin typeface="Consolas" panose="020B0609020204030204" pitchFamily="49" charset="0"/>
              </a:rPr>
              <a:t>=</a:t>
            </a:r>
            <a:r>
              <a:rPr lang="en-US" sz="1600" dirty="0">
                <a:solidFill>
                  <a:srgbClr val="E21F1F"/>
                </a:solidFill>
                <a:latin typeface="Consolas" panose="020B0609020204030204" pitchFamily="49" charset="0"/>
              </a:rPr>
              <a:t>"</a:t>
            </a:r>
            <a:r>
              <a:rPr lang="en-US" sz="1600" dirty="0">
                <a:solidFill>
                  <a:srgbClr val="A31515"/>
                </a:solidFill>
                <a:latin typeface="Consolas" panose="020B0609020204030204" pitchFamily="49" charset="0"/>
              </a:rPr>
              <a:t> </a:t>
            </a:r>
            <a:r>
              <a:rPr lang="en-US" sz="1600" dirty="0">
                <a:solidFill>
                  <a:srgbClr val="E21F1F"/>
                </a:solidFill>
                <a:latin typeface="Consolas" panose="020B0609020204030204" pitchFamily="49" charset="0"/>
              </a:rPr>
              <a: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push</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push</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45058" name="Rectangle 2">
            <a:extLst>
              <a:ext uri="{FF2B5EF4-FFF2-40B4-BE49-F238E27FC236}">
                <a16:creationId xmlns:a16="http://schemas.microsoft.com/office/drawing/2014/main" id="{D298BACC-9D88-A51E-B292-B1576F840256}"/>
              </a:ext>
            </a:extLst>
          </p:cNvPr>
          <p:cNvSpPr>
            <a:spLocks noGrp="1" noChangeArrowheads="1"/>
          </p:cNvSpPr>
          <p:nvPr>
            <p:ph type="title"/>
          </p:nvPr>
        </p:nvSpPr>
        <p:spPr/>
        <p:txBody>
          <a:bodyPr/>
          <a:lstStyle/>
          <a:p>
            <a:r>
              <a:rPr lang="en-US" dirty="0"/>
              <a:t>Q03 - Answer</a:t>
            </a:r>
          </a:p>
        </p:txBody>
      </p:sp>
      <p:sp>
        <p:nvSpPr>
          <p:cNvPr id="8" name="Rectangle 7">
            <a:extLst>
              <a:ext uri="{FF2B5EF4-FFF2-40B4-BE49-F238E27FC236}">
                <a16:creationId xmlns:a16="http://schemas.microsoft.com/office/drawing/2014/main" id="{2D06EEC8-5154-9B74-D3A3-955C04992167}"/>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D81EC777-AC06-8214-66AC-9C89A50BB2E9}"/>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Answer: </a:t>
            </a:r>
            <a:r>
              <a:rPr lang="en-US" sz="2000" b="1" u="sng" dirty="0" err="1">
                <a:solidFill>
                  <a:srgbClr val="005684"/>
                </a:solidFill>
                <a:latin typeface="Times New Roman" panose="02020603050405020304" pitchFamily="18" charset="0"/>
                <a:ea typeface="Times New Roman" panose="02020603050405020304" pitchFamily="18" charset="0"/>
              </a:rPr>
              <a:t>preOrderIterative</a:t>
            </a:r>
            <a:r>
              <a:rPr lang="en-US" sz="2000" b="1" u="sng" dirty="0">
                <a:solidFill>
                  <a:srgbClr val="005684"/>
                </a:solidFill>
                <a:latin typeface="Times New Roman" panose="02020603050405020304" pitchFamily="18" charset="0"/>
                <a:ea typeface="Times New Roman" panose="02020603050405020304" pitchFamily="18" charset="0"/>
              </a:rPr>
              <a:t>(root)</a:t>
            </a:r>
          </a:p>
        </p:txBody>
      </p:sp>
      <p:sp>
        <p:nvSpPr>
          <p:cNvPr id="10" name="Rectangle 1">
            <a:extLst>
              <a:ext uri="{FF2B5EF4-FFF2-40B4-BE49-F238E27FC236}">
                <a16:creationId xmlns:a16="http://schemas.microsoft.com/office/drawing/2014/main" id="{7D61D69E-5099-D835-7E3E-C29BF5280C7A}"/>
              </a:ext>
            </a:extLst>
          </p:cNvPr>
          <p:cNvSpPr>
            <a:spLocks noChangeArrowheads="1"/>
          </p:cNvSpPr>
          <p:nvPr/>
        </p:nvSpPr>
        <p:spPr bwMode="auto">
          <a:xfrm>
            <a:off x="1905000" y="1947312"/>
            <a:ext cx="3385711" cy="1323439"/>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Creates an empty stack s.</a:t>
            </a:r>
          </a:p>
          <a:p>
            <a:pPr lvl="0" eaLnBrk="0" fontAlgn="base" hangingPunct="0">
              <a:spcBef>
                <a:spcPct val="0"/>
              </a:spcBef>
              <a:spcAft>
                <a:spcPct val="0"/>
              </a:spcAft>
            </a:pPr>
            <a:endParaRPr lang="en-US" altLang="en-US" sz="2000" b="1"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temp points to the root node of the tree.</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63873694-3EB2-E263-D9A5-4338E38B6555}"/>
              </a:ext>
            </a:extLst>
          </p:cNvPr>
          <p:cNvSpPr/>
          <p:nvPr/>
        </p:nvSpPr>
        <p:spPr>
          <a:xfrm>
            <a:off x="5551567" y="2024562"/>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C6F7857-061B-F4EE-5656-4C9C2A12E9A4}"/>
              </a:ext>
            </a:extLst>
          </p:cNvPr>
          <p:cNvSpPr/>
          <p:nvPr/>
        </p:nvSpPr>
        <p:spPr>
          <a:xfrm>
            <a:off x="6669641" y="1828800"/>
            <a:ext cx="2438400" cy="54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152386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B4B1E-86AD-99EF-8A57-640C892AFAF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502FDFB-2492-4358-B213-B7F16FEE63E8}"/>
              </a:ext>
            </a:extLst>
          </p:cNvPr>
          <p:cNvSpPr/>
          <p:nvPr/>
        </p:nvSpPr>
        <p:spPr>
          <a:xfrm>
            <a:off x="6524070" y="1534892"/>
            <a:ext cx="6096000" cy="4278094"/>
          </a:xfrm>
          <a:prstGeom prst="rect">
            <a:avLst/>
          </a:prstGeom>
        </p:spPr>
        <p:txBody>
          <a:bodyPr>
            <a:spAutoFit/>
          </a:bodyPr>
          <a:lstStyle/>
          <a:p>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preOrderIterative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root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 = </a:t>
            </a:r>
            <a:r>
              <a:rPr lang="en-US" sz="1600" dirty="0">
                <a:solidFill>
                  <a:srgbClr val="2B91AF"/>
                </a:solidFill>
                <a:latin typeface="Consolas" panose="020B0609020204030204" pitchFamily="49" charset="0"/>
              </a:rPr>
              <a:t>Stack</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a:solidFill>
                  <a:srgbClr val="808080"/>
                </a:solidFill>
                <a:latin typeface="Consolas" panose="020B0609020204030204" pitchFamily="49" charset="0"/>
              </a:rPr>
              <a:t>root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push</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while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isEmpty</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a:solidFill>
                  <a:srgbClr val="74531F"/>
                </a:solidFill>
                <a:latin typeface="Consolas" panose="020B0609020204030204" pitchFamily="49" charset="0"/>
              </a:rPr>
              <a:t>pop</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print</a:t>
            </a:r>
            <a:r>
              <a:rPr lang="en-US" sz="1600" dirty="0">
                <a:solidFill>
                  <a:srgbClr val="000000"/>
                </a:solidFill>
                <a:latin typeface="Consolas" panose="020B0609020204030204" pitchFamily="49" charset="0"/>
              </a:rPr>
              <a:t>(</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.item</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end</a:t>
            </a:r>
            <a:r>
              <a:rPr lang="en-US" sz="1600" dirty="0">
                <a:solidFill>
                  <a:srgbClr val="000000"/>
                </a:solidFill>
                <a:latin typeface="Consolas" panose="020B0609020204030204" pitchFamily="49" charset="0"/>
              </a:rPr>
              <a:t>=</a:t>
            </a:r>
            <a:r>
              <a:rPr lang="en-US" sz="1600" dirty="0">
                <a:solidFill>
                  <a:srgbClr val="E21F1F"/>
                </a:solidFill>
                <a:latin typeface="Consolas" panose="020B0609020204030204" pitchFamily="49" charset="0"/>
              </a:rPr>
              <a:t>"</a:t>
            </a:r>
            <a:r>
              <a:rPr lang="en-US" sz="1600" dirty="0">
                <a:solidFill>
                  <a:srgbClr val="A31515"/>
                </a:solidFill>
                <a:latin typeface="Consolas" panose="020B0609020204030204" pitchFamily="49" charset="0"/>
              </a:rPr>
              <a:t> </a:t>
            </a:r>
            <a:r>
              <a:rPr lang="en-US" sz="1600" dirty="0">
                <a:solidFill>
                  <a:srgbClr val="E21F1F"/>
                </a:solidFill>
                <a:latin typeface="Consolas" panose="020B0609020204030204" pitchFamily="49" charset="0"/>
              </a:rPr>
              <a: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push</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push</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45058" name="Rectangle 2">
            <a:extLst>
              <a:ext uri="{FF2B5EF4-FFF2-40B4-BE49-F238E27FC236}">
                <a16:creationId xmlns:a16="http://schemas.microsoft.com/office/drawing/2014/main" id="{D298BACC-9D88-A51E-B292-B1576F840256}"/>
              </a:ext>
            </a:extLst>
          </p:cNvPr>
          <p:cNvSpPr>
            <a:spLocks noGrp="1" noChangeArrowheads="1"/>
          </p:cNvSpPr>
          <p:nvPr>
            <p:ph type="title"/>
          </p:nvPr>
        </p:nvSpPr>
        <p:spPr/>
        <p:txBody>
          <a:bodyPr/>
          <a:lstStyle/>
          <a:p>
            <a:r>
              <a:rPr lang="en-US" dirty="0"/>
              <a:t>Q03 - Answer</a:t>
            </a:r>
          </a:p>
        </p:txBody>
      </p:sp>
      <p:sp>
        <p:nvSpPr>
          <p:cNvPr id="8" name="Rectangle 7">
            <a:extLst>
              <a:ext uri="{FF2B5EF4-FFF2-40B4-BE49-F238E27FC236}">
                <a16:creationId xmlns:a16="http://schemas.microsoft.com/office/drawing/2014/main" id="{2D06EEC8-5154-9B74-D3A3-955C04992167}"/>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D81EC777-AC06-8214-66AC-9C89A50BB2E9}"/>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Answer: </a:t>
            </a:r>
            <a:r>
              <a:rPr lang="en-US" sz="2000" b="1" u="sng" dirty="0" err="1">
                <a:solidFill>
                  <a:srgbClr val="005684"/>
                </a:solidFill>
                <a:latin typeface="Times New Roman" panose="02020603050405020304" pitchFamily="18" charset="0"/>
                <a:ea typeface="Times New Roman" panose="02020603050405020304" pitchFamily="18" charset="0"/>
              </a:rPr>
              <a:t>preOrderIterative</a:t>
            </a:r>
            <a:r>
              <a:rPr lang="en-US" sz="2000" b="1" u="sng" dirty="0">
                <a:solidFill>
                  <a:srgbClr val="005684"/>
                </a:solidFill>
                <a:latin typeface="Times New Roman" panose="02020603050405020304" pitchFamily="18" charset="0"/>
                <a:ea typeface="Times New Roman" panose="02020603050405020304" pitchFamily="18" charset="0"/>
              </a:rPr>
              <a:t>(root)</a:t>
            </a:r>
          </a:p>
        </p:txBody>
      </p:sp>
      <p:sp>
        <p:nvSpPr>
          <p:cNvPr id="10" name="Rectangle 1">
            <a:extLst>
              <a:ext uri="{FF2B5EF4-FFF2-40B4-BE49-F238E27FC236}">
                <a16:creationId xmlns:a16="http://schemas.microsoft.com/office/drawing/2014/main" id="{7D61D69E-5099-D835-7E3E-C29BF5280C7A}"/>
              </a:ext>
            </a:extLst>
          </p:cNvPr>
          <p:cNvSpPr>
            <a:spLocks noChangeArrowheads="1"/>
          </p:cNvSpPr>
          <p:nvPr/>
        </p:nvSpPr>
        <p:spPr bwMode="auto">
          <a:xfrm>
            <a:off x="1942240" y="2416314"/>
            <a:ext cx="3385711" cy="707886"/>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Base case: If the tree is empty, exit the function.</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63873694-3EB2-E263-D9A5-4338E38B6555}"/>
              </a:ext>
            </a:extLst>
          </p:cNvPr>
          <p:cNvSpPr/>
          <p:nvPr/>
        </p:nvSpPr>
        <p:spPr>
          <a:xfrm>
            <a:off x="5624353" y="2574381"/>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C6F7857-061B-F4EE-5656-4C9C2A12E9A4}"/>
              </a:ext>
            </a:extLst>
          </p:cNvPr>
          <p:cNvSpPr/>
          <p:nvPr/>
        </p:nvSpPr>
        <p:spPr>
          <a:xfrm>
            <a:off x="6908383" y="2358726"/>
            <a:ext cx="2438400" cy="76547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47883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B4B1E-86AD-99EF-8A57-640C892AFAF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502FDFB-2492-4358-B213-B7F16FEE63E8}"/>
              </a:ext>
            </a:extLst>
          </p:cNvPr>
          <p:cNvSpPr/>
          <p:nvPr/>
        </p:nvSpPr>
        <p:spPr>
          <a:xfrm>
            <a:off x="6524070" y="1534892"/>
            <a:ext cx="6096000" cy="4278094"/>
          </a:xfrm>
          <a:prstGeom prst="rect">
            <a:avLst/>
          </a:prstGeom>
        </p:spPr>
        <p:txBody>
          <a:bodyPr>
            <a:spAutoFit/>
          </a:bodyPr>
          <a:lstStyle/>
          <a:p>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preOrderIterative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root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 = </a:t>
            </a:r>
            <a:r>
              <a:rPr lang="en-US" sz="1600" dirty="0">
                <a:solidFill>
                  <a:srgbClr val="2B91AF"/>
                </a:solidFill>
                <a:latin typeface="Consolas" panose="020B0609020204030204" pitchFamily="49" charset="0"/>
              </a:rPr>
              <a:t>Stack</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a:solidFill>
                  <a:srgbClr val="808080"/>
                </a:solidFill>
                <a:latin typeface="Consolas" panose="020B0609020204030204" pitchFamily="49" charset="0"/>
              </a:rPr>
              <a:t>root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push</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while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isEmpty</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a:solidFill>
                  <a:srgbClr val="74531F"/>
                </a:solidFill>
                <a:latin typeface="Consolas" panose="020B0609020204030204" pitchFamily="49" charset="0"/>
              </a:rPr>
              <a:t>pop</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print</a:t>
            </a:r>
            <a:r>
              <a:rPr lang="en-US" sz="1600" dirty="0">
                <a:solidFill>
                  <a:srgbClr val="000000"/>
                </a:solidFill>
                <a:latin typeface="Consolas" panose="020B0609020204030204" pitchFamily="49" charset="0"/>
              </a:rPr>
              <a:t>(</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.item</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end</a:t>
            </a:r>
            <a:r>
              <a:rPr lang="en-US" sz="1600" dirty="0">
                <a:solidFill>
                  <a:srgbClr val="000000"/>
                </a:solidFill>
                <a:latin typeface="Consolas" panose="020B0609020204030204" pitchFamily="49" charset="0"/>
              </a:rPr>
              <a:t>=</a:t>
            </a:r>
            <a:r>
              <a:rPr lang="en-US" sz="1600" dirty="0">
                <a:solidFill>
                  <a:srgbClr val="E21F1F"/>
                </a:solidFill>
                <a:latin typeface="Consolas" panose="020B0609020204030204" pitchFamily="49" charset="0"/>
              </a:rPr>
              <a:t>"</a:t>
            </a:r>
            <a:r>
              <a:rPr lang="en-US" sz="1600" dirty="0">
                <a:solidFill>
                  <a:srgbClr val="A31515"/>
                </a:solidFill>
                <a:latin typeface="Consolas" panose="020B0609020204030204" pitchFamily="49" charset="0"/>
              </a:rPr>
              <a:t> </a:t>
            </a:r>
            <a:r>
              <a:rPr lang="en-US" sz="1600" dirty="0">
                <a:solidFill>
                  <a:srgbClr val="E21F1F"/>
                </a:solidFill>
                <a:latin typeface="Consolas" panose="020B0609020204030204" pitchFamily="49" charset="0"/>
              </a:rPr>
              <a: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push</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push</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45058" name="Rectangle 2">
            <a:extLst>
              <a:ext uri="{FF2B5EF4-FFF2-40B4-BE49-F238E27FC236}">
                <a16:creationId xmlns:a16="http://schemas.microsoft.com/office/drawing/2014/main" id="{D298BACC-9D88-A51E-B292-B1576F840256}"/>
              </a:ext>
            </a:extLst>
          </p:cNvPr>
          <p:cNvSpPr>
            <a:spLocks noGrp="1" noChangeArrowheads="1"/>
          </p:cNvSpPr>
          <p:nvPr>
            <p:ph type="title"/>
          </p:nvPr>
        </p:nvSpPr>
        <p:spPr/>
        <p:txBody>
          <a:bodyPr/>
          <a:lstStyle/>
          <a:p>
            <a:r>
              <a:rPr lang="en-US" dirty="0"/>
              <a:t>Q03 - Answer</a:t>
            </a:r>
          </a:p>
        </p:txBody>
      </p:sp>
      <p:sp>
        <p:nvSpPr>
          <p:cNvPr id="8" name="Rectangle 7">
            <a:extLst>
              <a:ext uri="{FF2B5EF4-FFF2-40B4-BE49-F238E27FC236}">
                <a16:creationId xmlns:a16="http://schemas.microsoft.com/office/drawing/2014/main" id="{2D06EEC8-5154-9B74-D3A3-955C04992167}"/>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D81EC777-AC06-8214-66AC-9C89A50BB2E9}"/>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Answer: </a:t>
            </a:r>
            <a:r>
              <a:rPr lang="en-US" sz="2000" b="1" u="sng" dirty="0" err="1">
                <a:solidFill>
                  <a:srgbClr val="005684"/>
                </a:solidFill>
                <a:latin typeface="Times New Roman" panose="02020603050405020304" pitchFamily="18" charset="0"/>
                <a:ea typeface="Times New Roman" panose="02020603050405020304" pitchFamily="18" charset="0"/>
              </a:rPr>
              <a:t>preOrderIterative</a:t>
            </a:r>
            <a:r>
              <a:rPr lang="en-US" sz="2000" b="1" u="sng" dirty="0">
                <a:solidFill>
                  <a:srgbClr val="005684"/>
                </a:solidFill>
                <a:latin typeface="Times New Roman" panose="02020603050405020304" pitchFamily="18" charset="0"/>
                <a:ea typeface="Times New Roman" panose="02020603050405020304" pitchFamily="18" charset="0"/>
              </a:rPr>
              <a:t>(root)</a:t>
            </a:r>
          </a:p>
        </p:txBody>
      </p:sp>
      <p:sp>
        <p:nvSpPr>
          <p:cNvPr id="10" name="Rectangle 1">
            <a:extLst>
              <a:ext uri="{FF2B5EF4-FFF2-40B4-BE49-F238E27FC236}">
                <a16:creationId xmlns:a16="http://schemas.microsoft.com/office/drawing/2014/main" id="{7D61D69E-5099-D835-7E3E-C29BF5280C7A}"/>
              </a:ext>
            </a:extLst>
          </p:cNvPr>
          <p:cNvSpPr>
            <a:spLocks noChangeArrowheads="1"/>
          </p:cNvSpPr>
          <p:nvPr/>
        </p:nvSpPr>
        <p:spPr bwMode="auto">
          <a:xfrm>
            <a:off x="2048192" y="3124199"/>
            <a:ext cx="3385711" cy="707886"/>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Push the root node onto the stack to start traversal.</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63873694-3EB2-E263-D9A5-4338E38B6555}"/>
              </a:ext>
            </a:extLst>
          </p:cNvPr>
          <p:cNvSpPr/>
          <p:nvPr/>
        </p:nvSpPr>
        <p:spPr>
          <a:xfrm>
            <a:off x="5662453" y="3261918"/>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C6F7857-061B-F4EE-5656-4C9C2A12E9A4}"/>
              </a:ext>
            </a:extLst>
          </p:cNvPr>
          <p:cNvSpPr/>
          <p:nvPr/>
        </p:nvSpPr>
        <p:spPr>
          <a:xfrm>
            <a:off x="6981169" y="3124199"/>
            <a:ext cx="2438400" cy="54981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62060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B4B1E-86AD-99EF-8A57-640C892AFAF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502FDFB-2492-4358-B213-B7F16FEE63E8}"/>
              </a:ext>
            </a:extLst>
          </p:cNvPr>
          <p:cNvSpPr/>
          <p:nvPr/>
        </p:nvSpPr>
        <p:spPr>
          <a:xfrm>
            <a:off x="6524070" y="1534892"/>
            <a:ext cx="6096000" cy="4278094"/>
          </a:xfrm>
          <a:prstGeom prst="rect">
            <a:avLst/>
          </a:prstGeom>
        </p:spPr>
        <p:txBody>
          <a:bodyPr>
            <a:spAutoFit/>
          </a:bodyPr>
          <a:lstStyle/>
          <a:p>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preOrderIterative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root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 = </a:t>
            </a:r>
            <a:r>
              <a:rPr lang="en-US" sz="1600" dirty="0">
                <a:solidFill>
                  <a:srgbClr val="2B91AF"/>
                </a:solidFill>
                <a:latin typeface="Consolas" panose="020B0609020204030204" pitchFamily="49" charset="0"/>
              </a:rPr>
              <a:t>Stack</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a:solidFill>
                  <a:srgbClr val="808080"/>
                </a:solidFill>
                <a:latin typeface="Consolas" panose="020B0609020204030204" pitchFamily="49" charset="0"/>
              </a:rPr>
              <a:t>root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push</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while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isEmpty</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a:solidFill>
                  <a:srgbClr val="74531F"/>
                </a:solidFill>
                <a:latin typeface="Consolas" panose="020B0609020204030204" pitchFamily="49" charset="0"/>
              </a:rPr>
              <a:t>pop</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print</a:t>
            </a:r>
            <a:r>
              <a:rPr lang="en-US" sz="1600" dirty="0">
                <a:solidFill>
                  <a:srgbClr val="000000"/>
                </a:solidFill>
                <a:latin typeface="Consolas" panose="020B0609020204030204" pitchFamily="49" charset="0"/>
              </a:rPr>
              <a:t>(</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.item</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end</a:t>
            </a:r>
            <a:r>
              <a:rPr lang="en-US" sz="1600" dirty="0">
                <a:solidFill>
                  <a:srgbClr val="000000"/>
                </a:solidFill>
                <a:latin typeface="Consolas" panose="020B0609020204030204" pitchFamily="49" charset="0"/>
              </a:rPr>
              <a:t>=</a:t>
            </a:r>
            <a:r>
              <a:rPr lang="en-US" sz="1600" dirty="0">
                <a:solidFill>
                  <a:srgbClr val="E21F1F"/>
                </a:solidFill>
                <a:latin typeface="Consolas" panose="020B0609020204030204" pitchFamily="49" charset="0"/>
              </a:rPr>
              <a:t>"</a:t>
            </a:r>
            <a:r>
              <a:rPr lang="en-US" sz="1600" dirty="0">
                <a:solidFill>
                  <a:srgbClr val="A31515"/>
                </a:solidFill>
                <a:latin typeface="Consolas" panose="020B0609020204030204" pitchFamily="49" charset="0"/>
              </a:rPr>
              <a:t> </a:t>
            </a:r>
            <a:r>
              <a:rPr lang="en-US" sz="1600" dirty="0">
                <a:solidFill>
                  <a:srgbClr val="E21F1F"/>
                </a:solidFill>
                <a:latin typeface="Consolas" panose="020B0609020204030204" pitchFamily="49" charset="0"/>
              </a:rPr>
              <a: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push</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push</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45058" name="Rectangle 2">
            <a:extLst>
              <a:ext uri="{FF2B5EF4-FFF2-40B4-BE49-F238E27FC236}">
                <a16:creationId xmlns:a16="http://schemas.microsoft.com/office/drawing/2014/main" id="{D298BACC-9D88-A51E-B292-B1576F840256}"/>
              </a:ext>
            </a:extLst>
          </p:cNvPr>
          <p:cNvSpPr>
            <a:spLocks noGrp="1" noChangeArrowheads="1"/>
          </p:cNvSpPr>
          <p:nvPr>
            <p:ph type="title"/>
          </p:nvPr>
        </p:nvSpPr>
        <p:spPr/>
        <p:txBody>
          <a:bodyPr/>
          <a:lstStyle/>
          <a:p>
            <a:r>
              <a:rPr lang="en-US" dirty="0"/>
              <a:t>Q03 - Answer</a:t>
            </a:r>
          </a:p>
        </p:txBody>
      </p:sp>
      <p:sp>
        <p:nvSpPr>
          <p:cNvPr id="8" name="Rectangle 7">
            <a:extLst>
              <a:ext uri="{FF2B5EF4-FFF2-40B4-BE49-F238E27FC236}">
                <a16:creationId xmlns:a16="http://schemas.microsoft.com/office/drawing/2014/main" id="{2D06EEC8-5154-9B74-D3A3-955C04992167}"/>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D81EC777-AC06-8214-66AC-9C89A50BB2E9}"/>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Answer: </a:t>
            </a:r>
            <a:r>
              <a:rPr lang="en-US" sz="2000" b="1" u="sng" dirty="0" err="1">
                <a:solidFill>
                  <a:srgbClr val="005684"/>
                </a:solidFill>
                <a:latin typeface="Times New Roman" panose="02020603050405020304" pitchFamily="18" charset="0"/>
                <a:ea typeface="Times New Roman" panose="02020603050405020304" pitchFamily="18" charset="0"/>
              </a:rPr>
              <a:t>preOrderIterative</a:t>
            </a:r>
            <a:r>
              <a:rPr lang="en-US" sz="2000" b="1" u="sng" dirty="0">
                <a:solidFill>
                  <a:srgbClr val="005684"/>
                </a:solidFill>
                <a:latin typeface="Times New Roman" panose="02020603050405020304" pitchFamily="18" charset="0"/>
                <a:ea typeface="Times New Roman" panose="02020603050405020304" pitchFamily="18" charset="0"/>
              </a:rPr>
              <a:t>(root)</a:t>
            </a:r>
          </a:p>
        </p:txBody>
      </p:sp>
      <p:sp>
        <p:nvSpPr>
          <p:cNvPr id="10" name="Rectangle 1">
            <a:extLst>
              <a:ext uri="{FF2B5EF4-FFF2-40B4-BE49-F238E27FC236}">
                <a16:creationId xmlns:a16="http://schemas.microsoft.com/office/drawing/2014/main" id="{7D61D69E-5099-D835-7E3E-C29BF5280C7A}"/>
              </a:ext>
            </a:extLst>
          </p:cNvPr>
          <p:cNvSpPr>
            <a:spLocks noChangeArrowheads="1"/>
          </p:cNvSpPr>
          <p:nvPr/>
        </p:nvSpPr>
        <p:spPr bwMode="auto">
          <a:xfrm>
            <a:off x="1143000" y="3146384"/>
            <a:ext cx="4096862" cy="2246769"/>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Loop while the stack is not </a:t>
            </a:r>
            <a:r>
              <a:rPr lang="en-US" altLang="en-US" sz="2000" b="1" dirty="0">
                <a:solidFill>
                  <a:schemeClr val="tx1"/>
                </a:solidFill>
                <a:latin typeface="Times New Roman" panose="02020603050405020304" pitchFamily="18" charset="0"/>
                <a:cs typeface="Times New Roman" panose="02020603050405020304" pitchFamily="18" charset="0"/>
              </a:rPr>
              <a:t>empty</a:t>
            </a:r>
            <a:r>
              <a:rPr lang="en-US" altLang="en-US" sz="2000" dirty="0">
                <a:solidFill>
                  <a:schemeClr val="tx1"/>
                </a:solidFill>
                <a:latin typeface="Times New Roman" panose="02020603050405020304" pitchFamily="18" charset="0"/>
                <a:cs typeface="Times New Roman" panose="02020603050405020304" pitchFamily="18" charset="0"/>
              </a:rPr>
              <a:t>.</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Pop the top node from </a:t>
            </a:r>
            <a:r>
              <a:rPr lang="en-US" altLang="en-US" sz="2000" b="1" dirty="0">
                <a:solidFill>
                  <a:schemeClr val="tx1"/>
                </a:solidFill>
                <a:latin typeface="Times New Roman" panose="02020603050405020304" pitchFamily="18" charset="0"/>
                <a:cs typeface="Times New Roman" panose="02020603050405020304" pitchFamily="18" charset="0"/>
              </a:rPr>
              <a:t>the stack → temp</a:t>
            </a:r>
            <a:r>
              <a:rPr lang="en-US" altLang="en-US" sz="2000" dirty="0">
                <a:solidFill>
                  <a:schemeClr val="tx1"/>
                </a:solidFill>
                <a:latin typeface="Times New Roman" panose="02020603050405020304" pitchFamily="18" charset="0"/>
                <a:cs typeface="Times New Roman" panose="02020603050405020304" pitchFamily="18" charset="0"/>
              </a:rPr>
              <a:t>.</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Print the value of temp (pre-order visits the node first).</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63873694-3EB2-E263-D9A5-4338E38B6555}"/>
              </a:ext>
            </a:extLst>
          </p:cNvPr>
          <p:cNvSpPr/>
          <p:nvPr/>
        </p:nvSpPr>
        <p:spPr>
          <a:xfrm>
            <a:off x="5667931" y="3935605"/>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C6F7857-061B-F4EE-5656-4C9C2A12E9A4}"/>
              </a:ext>
            </a:extLst>
          </p:cNvPr>
          <p:cNvSpPr/>
          <p:nvPr/>
        </p:nvSpPr>
        <p:spPr>
          <a:xfrm>
            <a:off x="6790720" y="3557175"/>
            <a:ext cx="3801079" cy="10910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405539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B4B1E-86AD-99EF-8A57-640C892AFAF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502FDFB-2492-4358-B213-B7F16FEE63E8}"/>
              </a:ext>
            </a:extLst>
          </p:cNvPr>
          <p:cNvSpPr/>
          <p:nvPr/>
        </p:nvSpPr>
        <p:spPr>
          <a:xfrm>
            <a:off x="6524070" y="1534892"/>
            <a:ext cx="6096000" cy="4278094"/>
          </a:xfrm>
          <a:prstGeom prst="rect">
            <a:avLst/>
          </a:prstGeom>
        </p:spPr>
        <p:txBody>
          <a:bodyPr>
            <a:spAutoFit/>
          </a:bodyPr>
          <a:lstStyle/>
          <a:p>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preOrderIterative</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root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 = </a:t>
            </a:r>
            <a:r>
              <a:rPr lang="en-US" sz="1600" dirty="0">
                <a:solidFill>
                  <a:srgbClr val="2B91AF"/>
                </a:solidFill>
                <a:latin typeface="Consolas" panose="020B0609020204030204" pitchFamily="49" charset="0"/>
              </a:rPr>
              <a:t>Stack</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a:solidFill>
                  <a:srgbClr val="808080"/>
                </a:solidFill>
                <a:latin typeface="Consolas" panose="020B0609020204030204" pitchFamily="49" charset="0"/>
              </a:rPr>
              <a:t>root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push</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while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isEmpty</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1F377F"/>
                </a:solidFill>
                <a:latin typeface="Consolas" panose="020B0609020204030204" pitchFamily="49" charset="0"/>
              </a:rPr>
              <a:t>temp</a:t>
            </a:r>
            <a:r>
              <a:rPr lang="en-US" sz="1600" dirty="0">
                <a:solidFill>
                  <a:srgbClr val="000000"/>
                </a:solidFill>
                <a:latin typeface="Consolas" panose="020B0609020204030204" pitchFamily="49" charset="0"/>
              </a:rPr>
              <a:t> = </a:t>
            </a:r>
            <a:r>
              <a:rPr lang="en-US" sz="1600" dirty="0">
                <a:solidFill>
                  <a:srgbClr val="74531F"/>
                </a:solidFill>
                <a:latin typeface="Consolas" panose="020B0609020204030204" pitchFamily="49" charset="0"/>
              </a:rPr>
              <a:t>pop</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print</a:t>
            </a:r>
            <a:r>
              <a:rPr lang="en-US" sz="1600" dirty="0">
                <a:solidFill>
                  <a:srgbClr val="000000"/>
                </a:solidFill>
                <a:latin typeface="Consolas" panose="020B0609020204030204" pitchFamily="49" charset="0"/>
              </a:rPr>
              <a:t>(</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.item</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end</a:t>
            </a:r>
            <a:r>
              <a:rPr lang="en-US" sz="1600" dirty="0">
                <a:solidFill>
                  <a:srgbClr val="000000"/>
                </a:solidFill>
                <a:latin typeface="Consolas" panose="020B0609020204030204" pitchFamily="49" charset="0"/>
              </a:rPr>
              <a:t>=</a:t>
            </a:r>
            <a:r>
              <a:rPr lang="en-US" sz="1600" dirty="0">
                <a:solidFill>
                  <a:srgbClr val="E21F1F"/>
                </a:solidFill>
                <a:latin typeface="Consolas" panose="020B0609020204030204" pitchFamily="49" charset="0"/>
              </a:rPr>
              <a:t>"</a:t>
            </a:r>
            <a:r>
              <a:rPr lang="en-US" sz="1600" dirty="0">
                <a:solidFill>
                  <a:srgbClr val="A31515"/>
                </a:solidFill>
                <a:latin typeface="Consolas" panose="020B0609020204030204" pitchFamily="49" charset="0"/>
              </a:rPr>
              <a:t> </a:t>
            </a:r>
            <a:r>
              <a:rPr lang="en-US" sz="1600" dirty="0">
                <a:solidFill>
                  <a:srgbClr val="E21F1F"/>
                </a:solidFill>
                <a:latin typeface="Consolas" panose="020B0609020204030204" pitchFamily="49" charset="0"/>
              </a:rPr>
              <a: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push</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74531F"/>
                </a:solidFill>
                <a:latin typeface="Consolas" panose="020B0609020204030204" pitchFamily="49" charset="0"/>
              </a:rPr>
              <a:t>push</a:t>
            </a:r>
            <a:r>
              <a:rPr lang="en-US" sz="1600" dirty="0">
                <a:solidFill>
                  <a:srgbClr val="000000"/>
                </a:solidFill>
                <a:latin typeface="Consolas" panose="020B0609020204030204" pitchFamily="49" charset="0"/>
              </a:rPr>
              <a:t>(</a:t>
            </a:r>
            <a:r>
              <a:rPr lang="en-US" sz="1600" dirty="0">
                <a:solidFill>
                  <a:srgbClr val="1F377F"/>
                </a:solidFill>
                <a:latin typeface="Consolas" panose="020B0609020204030204" pitchFamily="49" charset="0"/>
              </a:rPr>
              <a:t>s</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temp</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45058" name="Rectangle 2">
            <a:extLst>
              <a:ext uri="{FF2B5EF4-FFF2-40B4-BE49-F238E27FC236}">
                <a16:creationId xmlns:a16="http://schemas.microsoft.com/office/drawing/2014/main" id="{D298BACC-9D88-A51E-B292-B1576F840256}"/>
              </a:ext>
            </a:extLst>
          </p:cNvPr>
          <p:cNvSpPr>
            <a:spLocks noGrp="1" noChangeArrowheads="1"/>
          </p:cNvSpPr>
          <p:nvPr>
            <p:ph type="title"/>
          </p:nvPr>
        </p:nvSpPr>
        <p:spPr/>
        <p:txBody>
          <a:bodyPr/>
          <a:lstStyle/>
          <a:p>
            <a:r>
              <a:rPr lang="en-US" dirty="0"/>
              <a:t>Q03 - Answer</a:t>
            </a:r>
          </a:p>
        </p:txBody>
      </p:sp>
      <p:sp>
        <p:nvSpPr>
          <p:cNvPr id="8" name="Rectangle 7">
            <a:extLst>
              <a:ext uri="{FF2B5EF4-FFF2-40B4-BE49-F238E27FC236}">
                <a16:creationId xmlns:a16="http://schemas.microsoft.com/office/drawing/2014/main" id="{2D06EEC8-5154-9B74-D3A3-955C04992167}"/>
              </a:ext>
            </a:extLst>
          </p:cNvPr>
          <p:cNvSpPr/>
          <p:nvPr/>
        </p:nvSpPr>
        <p:spPr>
          <a:xfrm>
            <a:off x="914400" y="829139"/>
            <a:ext cx="2895600" cy="461665"/>
          </a:xfrm>
          <a:prstGeom prst="rect">
            <a:avLst/>
          </a:prstGeom>
        </p:spPr>
        <p:txBody>
          <a:bodyPr wrap="square">
            <a:spAutoFit/>
          </a:bodyPr>
          <a:lstStyle/>
          <a:p>
            <a:pPr marR="0" lvl="0">
              <a:spcBef>
                <a:spcPts val="0"/>
              </a:spcBef>
              <a:spcAft>
                <a:spcPts val="0"/>
              </a:spcAft>
            </a:pPr>
            <a:r>
              <a:rPr lang="en-US" sz="2400" b="1">
                <a:latin typeface="Times New Roman" panose="02020603050405020304" pitchFamily="18" charset="0"/>
                <a:ea typeface="Times New Roman" panose="02020603050405020304" pitchFamily="18" charset="0"/>
              </a:rPr>
              <a:t>2. </a:t>
            </a:r>
            <a:r>
              <a:rPr lang="en-US" sz="2400" b="1" dirty="0">
                <a:latin typeface="Times New Roman" panose="02020603050405020304" pitchFamily="18" charset="0"/>
                <a:ea typeface="Times New Roman" panose="02020603050405020304" pitchFamily="18" charset="0"/>
              </a:rPr>
              <a:t>Functions</a:t>
            </a:r>
          </a:p>
        </p:txBody>
      </p:sp>
      <p:sp>
        <p:nvSpPr>
          <p:cNvPr id="9" name="Rectangle 8">
            <a:extLst>
              <a:ext uri="{FF2B5EF4-FFF2-40B4-BE49-F238E27FC236}">
                <a16:creationId xmlns:a16="http://schemas.microsoft.com/office/drawing/2014/main" id="{D81EC777-AC06-8214-66AC-9C89A50BB2E9}"/>
              </a:ext>
            </a:extLst>
          </p:cNvPr>
          <p:cNvSpPr/>
          <p:nvPr/>
        </p:nvSpPr>
        <p:spPr>
          <a:xfrm>
            <a:off x="961571" y="1334837"/>
            <a:ext cx="3886200" cy="400110"/>
          </a:xfrm>
          <a:prstGeom prst="rect">
            <a:avLst/>
          </a:prstGeom>
        </p:spPr>
        <p:txBody>
          <a:bodyPr wrap="square">
            <a:spAutoFit/>
          </a:bodyPr>
          <a:lstStyle/>
          <a:p>
            <a:pPr marR="0" lvl="0">
              <a:spcBef>
                <a:spcPts val="0"/>
              </a:spcBef>
              <a:spcAft>
                <a:spcPts val="0"/>
              </a:spcAft>
            </a:pPr>
            <a:r>
              <a:rPr lang="en-US" sz="2000" b="1" u="sng" dirty="0">
                <a:solidFill>
                  <a:srgbClr val="005684"/>
                </a:solidFill>
                <a:latin typeface="Times New Roman" panose="02020603050405020304" pitchFamily="18" charset="0"/>
                <a:ea typeface="Times New Roman" panose="02020603050405020304" pitchFamily="18" charset="0"/>
              </a:rPr>
              <a:t>Answer: </a:t>
            </a:r>
            <a:r>
              <a:rPr lang="en-US" sz="2000" b="1" u="sng" dirty="0" err="1">
                <a:solidFill>
                  <a:srgbClr val="005684"/>
                </a:solidFill>
                <a:latin typeface="Times New Roman" panose="02020603050405020304" pitchFamily="18" charset="0"/>
                <a:ea typeface="Times New Roman" panose="02020603050405020304" pitchFamily="18" charset="0"/>
              </a:rPr>
              <a:t>preOrderIterative</a:t>
            </a:r>
            <a:r>
              <a:rPr lang="en-US" sz="2000" b="1" u="sng" dirty="0">
                <a:solidFill>
                  <a:srgbClr val="005684"/>
                </a:solidFill>
                <a:latin typeface="Times New Roman" panose="02020603050405020304" pitchFamily="18" charset="0"/>
                <a:ea typeface="Times New Roman" panose="02020603050405020304" pitchFamily="18" charset="0"/>
              </a:rPr>
              <a:t>(root)</a:t>
            </a:r>
          </a:p>
        </p:txBody>
      </p:sp>
      <p:sp>
        <p:nvSpPr>
          <p:cNvPr id="10" name="Rectangle 1">
            <a:extLst>
              <a:ext uri="{FF2B5EF4-FFF2-40B4-BE49-F238E27FC236}">
                <a16:creationId xmlns:a16="http://schemas.microsoft.com/office/drawing/2014/main" id="{7D61D69E-5099-D835-7E3E-C29BF5280C7A}"/>
              </a:ext>
            </a:extLst>
          </p:cNvPr>
          <p:cNvSpPr>
            <a:spLocks noChangeArrowheads="1"/>
          </p:cNvSpPr>
          <p:nvPr/>
        </p:nvSpPr>
        <p:spPr bwMode="auto">
          <a:xfrm>
            <a:off x="1143000" y="2530832"/>
            <a:ext cx="4096862" cy="3477875"/>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Push children</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lang="en-US" altLang="en-US" sz="2000" b="1"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Important: Push right child first, then left child.</a:t>
            </a:r>
          </a:p>
          <a:p>
            <a:pPr lvl="0" eaLnBrk="0" fontAlgn="base" hangingPunct="0">
              <a:spcBef>
                <a:spcPct val="0"/>
              </a:spcBef>
              <a:spcAft>
                <a:spcPct val="0"/>
              </a:spcAft>
            </a:pPr>
            <a:endParaRPr lang="en-US" altLang="en-US" sz="2000" b="1"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Reason: Stack is LIFO (last-in, first-out).</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Left child will be popped before </a:t>
            </a:r>
            <a:r>
              <a:rPr lang="en-US" altLang="en-US" sz="2000" b="1" dirty="0">
                <a:solidFill>
                  <a:schemeClr val="tx1"/>
                </a:solidFill>
                <a:latin typeface="Times New Roman" panose="02020603050405020304" pitchFamily="18" charset="0"/>
                <a:cs typeface="Times New Roman" panose="02020603050405020304" pitchFamily="18" charset="0"/>
              </a:rPr>
              <a:t>right child → preserves pre-order</a:t>
            </a: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b="1" dirty="0">
                <a:solidFill>
                  <a:schemeClr val="tx1"/>
                </a:solidFill>
                <a:highlight>
                  <a:srgbClr val="FFFF00"/>
                </a:highlight>
                <a:latin typeface="Times New Roman" panose="02020603050405020304" pitchFamily="18" charset="0"/>
                <a:cs typeface="Times New Roman" panose="02020603050405020304" pitchFamily="18" charset="0"/>
              </a:rPr>
              <a:t>Root → Left → Right</a:t>
            </a:r>
            <a:r>
              <a:rPr lang="en-US" altLang="en-US" sz="2000" dirty="0">
                <a:solidFill>
                  <a:schemeClr val="tx1"/>
                </a:solidFill>
                <a:latin typeface="Times New Roman" panose="02020603050405020304" pitchFamily="18" charset="0"/>
                <a:cs typeface="Times New Roman" panose="02020603050405020304" pitchFamily="18" charset="0"/>
              </a:rPr>
              <a:t>.</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63873694-3EB2-E263-D9A5-4338E38B6555}"/>
              </a:ext>
            </a:extLst>
          </p:cNvPr>
          <p:cNvSpPr/>
          <p:nvPr/>
        </p:nvSpPr>
        <p:spPr>
          <a:xfrm>
            <a:off x="5798592" y="4861065"/>
            <a:ext cx="899717" cy="33416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C6F7857-061B-F4EE-5656-4C9C2A12E9A4}"/>
              </a:ext>
            </a:extLst>
          </p:cNvPr>
          <p:cNvSpPr/>
          <p:nvPr/>
        </p:nvSpPr>
        <p:spPr>
          <a:xfrm>
            <a:off x="7086600" y="4574736"/>
            <a:ext cx="3801079" cy="124098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19451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0" y="39261"/>
            <a:ext cx="12192000" cy="646539"/>
          </a:xfrm>
        </p:spPr>
        <p:txBody>
          <a:bodyPr/>
          <a:lstStyle/>
          <a:p>
            <a:r>
              <a:rPr lang="en-US" dirty="0"/>
              <a:t>Q04</a:t>
            </a:r>
          </a:p>
        </p:txBody>
      </p:sp>
      <p:sp>
        <p:nvSpPr>
          <p:cNvPr id="11" name="Rectangle 10">
            <a:extLst>
              <a:ext uri="{FF2B5EF4-FFF2-40B4-BE49-F238E27FC236}">
                <a16:creationId xmlns:a16="http://schemas.microsoft.com/office/drawing/2014/main" id="{9A160827-942E-482E-8B34-E253BF44CE36}"/>
              </a:ext>
            </a:extLst>
          </p:cNvPr>
          <p:cNvSpPr/>
          <p:nvPr/>
        </p:nvSpPr>
        <p:spPr>
          <a:xfrm>
            <a:off x="1295400" y="1752600"/>
            <a:ext cx="9906000" cy="2308324"/>
          </a:xfrm>
          <a:prstGeom prst="rect">
            <a:avLst/>
          </a:prstGeom>
        </p:spPr>
        <p:txBody>
          <a:bodyPr wrap="square">
            <a:spAutoFit/>
          </a:bodyPr>
          <a:lstStyle/>
          <a:p>
            <a:pPr marR="0" lvl="0">
              <a:spcBef>
                <a:spcPts val="0"/>
              </a:spcBef>
              <a:spcAft>
                <a:spcPts val="0"/>
              </a:spcAft>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maxDepth</a:t>
            </a:r>
            <a:r>
              <a:rPr lang="en-US" sz="2400" dirty="0">
                <a:latin typeface="Times New Roman" panose="02020603050405020304" pitchFamily="18" charset="0"/>
                <a:cs typeface="Times New Roman" panose="02020603050405020304" pitchFamily="18" charset="0"/>
              </a:rPr>
              <a:t>) Write a Python function to find the maximum depth of a binary tree. </a:t>
            </a:r>
          </a:p>
          <a:p>
            <a:pPr marR="0" lvl="0">
              <a:spcBef>
                <a:spcPts val="0"/>
              </a:spcBef>
              <a:spcAft>
                <a:spcPts val="0"/>
              </a:spcAft>
            </a:pP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R="0" lvl="0">
              <a:spcBef>
                <a:spcPts val="0"/>
              </a:spcBef>
              <a:spcAft>
                <a:spcPts val="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The function prototype is given as follows:</a:t>
            </a:r>
          </a:p>
          <a:p>
            <a:pPr marR="0" lvl="0">
              <a:spcBef>
                <a:spcPts val="0"/>
              </a:spcBef>
              <a:spcAft>
                <a:spcPts val="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  </a:t>
            </a:r>
          </a:p>
          <a:p>
            <a:pPr marR="0" lvl="0">
              <a:spcBef>
                <a:spcPts val="0"/>
              </a:spcBef>
              <a:spcAft>
                <a:spcPts val="0"/>
              </a:spcAft>
            </a:pPr>
            <a:r>
              <a:rPr lang="en-US" sz="2400" dirty="0">
                <a:latin typeface="Courier New" panose="02070309020205020404" pitchFamily="49" charset="0"/>
                <a:ea typeface="Times New Roman" panose="02020603050405020304" pitchFamily="18" charset="0"/>
                <a:cs typeface="Courier New" panose="02070309020205020404" pitchFamily="49" charset="0"/>
              </a:rPr>
              <a:t>def </a:t>
            </a:r>
            <a:r>
              <a:rPr lang="en-US" sz="2400" dirty="0" err="1">
                <a:latin typeface="Courier New" panose="02070309020205020404" pitchFamily="49" charset="0"/>
                <a:ea typeface="Times New Roman" panose="02020603050405020304" pitchFamily="18" charset="0"/>
                <a:cs typeface="Courier New" panose="02070309020205020404" pitchFamily="49" charset="0"/>
              </a:rPr>
              <a:t>maxDepth</a:t>
            </a:r>
            <a:r>
              <a:rPr lang="en-US" sz="2400" dirty="0">
                <a:latin typeface="Courier New" panose="02070309020205020404" pitchFamily="49" charset="0"/>
                <a:ea typeface="Times New Roman" panose="02020603050405020304" pitchFamily="18" charset="0"/>
                <a:cs typeface="Courier New" panose="02070309020205020404" pitchFamily="49" charset="0"/>
              </a:rPr>
              <a:t>(node): </a:t>
            </a:r>
          </a:p>
        </p:txBody>
      </p:sp>
    </p:spTree>
    <p:extLst>
      <p:ext uri="{BB962C8B-B14F-4D97-AF65-F5344CB8AC3E}">
        <p14:creationId xmlns:p14="http://schemas.microsoft.com/office/powerpoint/2010/main" val="2119581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C7D5C6F-BFC3-4A5F-9B63-80987D8FF085}"/>
              </a:ext>
            </a:extLst>
          </p:cNvPr>
          <p:cNvSpPr/>
          <p:nvPr/>
        </p:nvSpPr>
        <p:spPr>
          <a:xfrm>
            <a:off x="6096000" y="1752600"/>
            <a:ext cx="5105400" cy="4854086"/>
          </a:xfrm>
          <a:prstGeom prst="rect">
            <a:avLst/>
          </a:prstGeom>
        </p:spPr>
        <p:txBody>
          <a:bodyPr wrap="square">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maxDepth</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node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node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98658"/>
                </a:solidFill>
                <a:latin typeface="Consolas" panose="020B0609020204030204" pitchFamily="49" charset="0"/>
              </a:rPr>
              <a:t>1</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else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ldepth</a:t>
            </a:r>
            <a:r>
              <a:rPr lang="en-US" sz="1600" dirty="0">
                <a:solidFill>
                  <a:srgbClr val="000000"/>
                </a:solidFill>
                <a:latin typeface="Consolas" panose="020B0609020204030204" pitchFamily="49" charset="0"/>
              </a:rPr>
              <a:t> = </a:t>
            </a:r>
            <a:r>
              <a:rPr lang="en-US" sz="1600" dirty="0" err="1">
                <a:solidFill>
                  <a:srgbClr val="74531F"/>
                </a:solidFill>
                <a:latin typeface="Consolas" panose="020B0609020204030204" pitchFamily="49" charset="0"/>
              </a:rPr>
              <a:t>maxDepth</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node</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rdepth</a:t>
            </a:r>
            <a:r>
              <a:rPr lang="en-US" sz="1600" dirty="0">
                <a:solidFill>
                  <a:srgbClr val="000000"/>
                </a:solidFill>
                <a:latin typeface="Consolas" panose="020B0609020204030204" pitchFamily="49" charset="0"/>
              </a:rPr>
              <a:t> = </a:t>
            </a:r>
            <a:r>
              <a:rPr lang="en-US" sz="1600" dirty="0" err="1">
                <a:solidFill>
                  <a:srgbClr val="74531F"/>
                </a:solidFill>
                <a:latin typeface="Consolas" panose="020B0609020204030204" pitchFamily="49" charset="0"/>
              </a:rPr>
              <a:t>maxDepth</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node</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ldepth</a:t>
            </a:r>
            <a:r>
              <a:rPr lang="en-US" sz="1600" dirty="0">
                <a:solidFill>
                  <a:srgbClr val="000000"/>
                </a:solidFill>
                <a:latin typeface="Consolas" panose="020B0609020204030204" pitchFamily="49" charset="0"/>
              </a:rPr>
              <a:t> &gt; </a:t>
            </a:r>
            <a:r>
              <a:rPr lang="en-US" sz="1600" dirty="0" err="1">
                <a:solidFill>
                  <a:srgbClr val="1F377F"/>
                </a:solidFill>
                <a:latin typeface="Consolas" panose="020B0609020204030204" pitchFamily="49" charset="0"/>
              </a:rPr>
              <a:t>rdepth</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ldepth</a:t>
            </a:r>
            <a:r>
              <a:rPr lang="en-US" sz="1600" dirty="0">
                <a:solidFill>
                  <a:srgbClr val="000000"/>
                </a:solidFill>
                <a:latin typeface="Consolas" panose="020B0609020204030204" pitchFamily="49" charset="0"/>
              </a:rPr>
              <a:t> + </a:t>
            </a:r>
            <a:r>
              <a:rPr lang="en-US" sz="1600" dirty="0">
                <a:solidFill>
                  <a:srgbClr val="098658"/>
                </a:solidFill>
                <a:latin typeface="Consolas" panose="020B0609020204030204" pitchFamily="49" charset="0"/>
              </a:rPr>
              <a:t>1</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else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rdepth</a:t>
            </a:r>
            <a:r>
              <a:rPr lang="en-US" sz="1600" dirty="0">
                <a:solidFill>
                  <a:srgbClr val="000000"/>
                </a:solidFill>
                <a:latin typeface="Consolas" panose="020B0609020204030204" pitchFamily="49" charset="0"/>
              </a:rPr>
              <a:t> + </a:t>
            </a:r>
            <a:r>
              <a:rPr lang="en-US" sz="1600" dirty="0">
                <a:solidFill>
                  <a:srgbClr val="098658"/>
                </a:solidFill>
                <a:latin typeface="Consolas" panose="020B0609020204030204" pitchFamily="49" charset="0"/>
              </a:rPr>
              <a:t>1</a:t>
            </a:r>
            <a:endParaRPr lang="en-US" sz="1600" dirty="0">
              <a:solidFill>
                <a:srgbClr val="000000"/>
              </a:solidFill>
              <a:latin typeface="Consolas" panose="020B0609020204030204" pitchFamily="49" charset="0"/>
            </a:endParaRPr>
          </a:p>
          <a:p>
            <a:pPr>
              <a:lnSpc>
                <a:spcPct val="150000"/>
              </a:lnSpc>
            </a:pPr>
            <a:br>
              <a:rPr lang="en-US" sz="1600" dirty="0">
                <a:solidFill>
                  <a:srgbClr val="000000"/>
                </a:solidFill>
                <a:latin typeface="Consolas" panose="020B0609020204030204" pitchFamily="49" charset="0"/>
              </a:rPr>
            </a:b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Q04 - Answer</a:t>
            </a:r>
          </a:p>
        </p:txBody>
      </p:sp>
      <p:sp>
        <p:nvSpPr>
          <p:cNvPr id="11" name="Rectangle 10">
            <a:extLst>
              <a:ext uri="{FF2B5EF4-FFF2-40B4-BE49-F238E27FC236}">
                <a16:creationId xmlns:a16="http://schemas.microsoft.com/office/drawing/2014/main" id="{9A160827-942E-482E-8B34-E253BF44CE36}"/>
              </a:ext>
            </a:extLst>
          </p:cNvPr>
          <p:cNvSpPr/>
          <p:nvPr/>
        </p:nvSpPr>
        <p:spPr>
          <a:xfrm>
            <a:off x="997987" y="1091930"/>
            <a:ext cx="9906000" cy="461665"/>
          </a:xfrm>
          <a:prstGeom prst="rect">
            <a:avLst/>
          </a:prstGeom>
        </p:spPr>
        <p:txBody>
          <a:bodyPr wrap="square">
            <a:spAutoFit/>
          </a:bodyPr>
          <a:lstStyle/>
          <a:p>
            <a:pPr marR="0" lvl="0">
              <a:spcBef>
                <a:spcPts val="0"/>
              </a:spcBef>
              <a:spcAft>
                <a:spcPts val="0"/>
              </a:spcAft>
            </a:pPr>
            <a:r>
              <a:rPr lang="en-US" sz="2400" b="1" u="sng" dirty="0">
                <a:solidFill>
                  <a:schemeClr val="accent1">
                    <a:lumMod val="75000"/>
                  </a:schemeClr>
                </a:solidFill>
                <a:latin typeface="Times New Roman" panose="02020603050405020304" pitchFamily="18" charset="0"/>
                <a:ea typeface="Times New Roman" panose="02020603050405020304" pitchFamily="18" charset="0"/>
              </a:rPr>
              <a:t>Now we will go through the </a:t>
            </a:r>
            <a:r>
              <a:rPr lang="en-US" sz="2400" b="1" u="sng" dirty="0" err="1">
                <a:solidFill>
                  <a:schemeClr val="accent1">
                    <a:lumMod val="75000"/>
                  </a:schemeClr>
                </a:solidFill>
                <a:latin typeface="Times New Roman" panose="02020603050405020304" pitchFamily="18" charset="0"/>
                <a:ea typeface="Times New Roman" panose="02020603050405020304" pitchFamily="18" charset="0"/>
              </a:rPr>
              <a:t>maxDepth</a:t>
            </a:r>
            <a:r>
              <a:rPr lang="en-US" sz="2400" b="1" u="sng" dirty="0">
                <a:solidFill>
                  <a:schemeClr val="accent1">
                    <a:lumMod val="75000"/>
                  </a:schemeClr>
                </a:solidFill>
                <a:latin typeface="Times New Roman" panose="02020603050405020304" pitchFamily="18" charset="0"/>
                <a:ea typeface="Times New Roman" panose="02020603050405020304" pitchFamily="18" charset="0"/>
              </a:rPr>
              <a:t>(node) function </a:t>
            </a:r>
          </a:p>
        </p:txBody>
      </p:sp>
      <p:sp>
        <p:nvSpPr>
          <p:cNvPr id="4" name="Rectangle 1">
            <a:extLst>
              <a:ext uri="{FF2B5EF4-FFF2-40B4-BE49-F238E27FC236}">
                <a16:creationId xmlns:a16="http://schemas.microsoft.com/office/drawing/2014/main" id="{CA83EC4B-4B3E-4818-A292-574F55D8EA61}"/>
              </a:ext>
            </a:extLst>
          </p:cNvPr>
          <p:cNvSpPr>
            <a:spLocks noChangeArrowheads="1"/>
          </p:cNvSpPr>
          <p:nvPr/>
        </p:nvSpPr>
        <p:spPr bwMode="auto">
          <a:xfrm>
            <a:off x="990600" y="2136298"/>
            <a:ext cx="4050263" cy="2308324"/>
          </a:xfrm>
          <a:prstGeom prst="rect">
            <a:avLst/>
          </a:prstGeom>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1600" b="1" dirty="0">
                <a:solidFill>
                  <a:schemeClr val="tx1"/>
                </a:solidFill>
                <a:latin typeface="Times New Roman" panose="02020603050405020304" pitchFamily="18" charset="0"/>
                <a:cs typeface="Times New Roman" panose="02020603050405020304" pitchFamily="18" charset="0"/>
              </a:rPr>
              <a:t>Base Case</a:t>
            </a:r>
            <a:br>
              <a:rPr lang="en-US" altLang="en-US" sz="1600" b="1" dirty="0">
                <a:solidFill>
                  <a:schemeClr val="tx1"/>
                </a:solidFill>
                <a:latin typeface="Times New Roman" panose="02020603050405020304" pitchFamily="18" charset="0"/>
                <a:cs typeface="Times New Roman" panose="02020603050405020304" pitchFamily="18" charset="0"/>
              </a:rPr>
            </a:br>
            <a:endParaRPr lang="en-US" altLang="en-US" sz="16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sz="1600" dirty="0">
                <a:solidFill>
                  <a:schemeClr val="tx1"/>
                </a:solidFill>
                <a:latin typeface="Times New Roman" panose="02020603050405020304" pitchFamily="18" charset="0"/>
                <a:cs typeface="Times New Roman" panose="02020603050405020304" pitchFamily="18" charset="0"/>
              </a:rPr>
              <a:t>If the </a:t>
            </a:r>
            <a:r>
              <a:rPr lang="en-US" altLang="en-US" sz="1600" b="1" dirty="0">
                <a:solidFill>
                  <a:schemeClr val="tx1"/>
                </a:solidFill>
                <a:latin typeface="Times New Roman" panose="02020603050405020304" pitchFamily="18" charset="0"/>
                <a:cs typeface="Times New Roman" panose="02020603050405020304" pitchFamily="18" charset="0"/>
              </a:rPr>
              <a:t>node</a:t>
            </a:r>
            <a:r>
              <a:rPr lang="en-US" altLang="en-US" sz="1600" dirty="0">
                <a:solidFill>
                  <a:schemeClr val="tx1"/>
                </a:solidFill>
                <a:latin typeface="Times New Roman" panose="02020603050405020304" pitchFamily="18" charset="0"/>
                <a:cs typeface="Times New Roman" panose="02020603050405020304" pitchFamily="18" charset="0"/>
              </a:rPr>
              <a:t> is </a:t>
            </a:r>
            <a:r>
              <a:rPr lang="en-US" altLang="en-US" sz="1600" b="1" dirty="0">
                <a:solidFill>
                  <a:schemeClr val="tx1"/>
                </a:solidFill>
                <a:latin typeface="Times New Roman" panose="02020603050405020304" pitchFamily="18" charset="0"/>
                <a:cs typeface="Times New Roman" panose="02020603050405020304" pitchFamily="18" charset="0"/>
              </a:rPr>
              <a:t>None</a:t>
            </a:r>
            <a:r>
              <a:rPr lang="en-US" altLang="en-US" sz="1600" dirty="0">
                <a:solidFill>
                  <a:schemeClr val="tx1"/>
                </a:solidFill>
                <a:latin typeface="Times New Roman" panose="02020603050405020304" pitchFamily="18" charset="0"/>
                <a:cs typeface="Times New Roman" panose="02020603050405020304" pitchFamily="18" charset="0"/>
              </a:rPr>
              <a:t>, it means we have reached a </a:t>
            </a:r>
            <a:r>
              <a:rPr lang="en-US" altLang="en-US" sz="1600" b="1" dirty="0">
                <a:solidFill>
                  <a:schemeClr val="tx1"/>
                </a:solidFill>
                <a:latin typeface="Times New Roman" panose="02020603050405020304" pitchFamily="18" charset="0"/>
                <a:cs typeface="Times New Roman" panose="02020603050405020304" pitchFamily="18" charset="0"/>
              </a:rPr>
              <a:t>leaf’s child </a:t>
            </a:r>
            <a:r>
              <a:rPr lang="en-US" altLang="en-US" sz="1600" dirty="0">
                <a:solidFill>
                  <a:schemeClr val="tx1"/>
                </a:solidFill>
                <a:latin typeface="Times New Roman" panose="02020603050405020304" pitchFamily="18" charset="0"/>
                <a:cs typeface="Times New Roman" panose="02020603050405020304" pitchFamily="18" charset="0"/>
              </a:rPr>
              <a:t>(i.e., an </a:t>
            </a:r>
            <a:r>
              <a:rPr lang="en-US" altLang="en-US" sz="1600" b="1" dirty="0">
                <a:solidFill>
                  <a:schemeClr val="tx1"/>
                </a:solidFill>
                <a:latin typeface="Times New Roman" panose="02020603050405020304" pitchFamily="18" charset="0"/>
                <a:cs typeface="Times New Roman" panose="02020603050405020304" pitchFamily="18" charset="0"/>
              </a:rPr>
              <a:t>empty subtree</a:t>
            </a:r>
            <a:r>
              <a:rPr lang="en-US" altLang="en-US" sz="1600" dirty="0">
                <a:solidFill>
                  <a:schemeClr val="tx1"/>
                </a:solidFill>
                <a:latin typeface="Times New Roman" panose="02020603050405020304" pitchFamily="18" charset="0"/>
                <a:cs typeface="Times New Roman" panose="02020603050405020304" pitchFamily="18" charset="0"/>
              </a:rPr>
              <a:t>).</a:t>
            </a:r>
          </a:p>
          <a:p>
            <a:pPr marL="285750" lvl="0" indent="-285750" eaLnBrk="0" fontAlgn="base" hangingPunct="0">
              <a:spcBef>
                <a:spcPct val="0"/>
              </a:spcBef>
              <a:spcAft>
                <a:spcPct val="0"/>
              </a:spcAft>
              <a:buFont typeface="Arial" panose="020B0604020202020204" pitchFamily="34" charset="0"/>
              <a:buChar char="•"/>
            </a:pPr>
            <a:endParaRPr lang="en-US" altLang="en-US" sz="16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sz="1600" b="1" dirty="0">
                <a:solidFill>
                  <a:schemeClr val="tx1"/>
                </a:solidFill>
                <a:latin typeface="Times New Roman" panose="02020603050405020304" pitchFamily="18" charset="0"/>
                <a:cs typeface="Times New Roman" panose="02020603050405020304" pitchFamily="18" charset="0"/>
              </a:rPr>
              <a:t>Returning -1 means the depth of an empty tree (or edges below a leaf) is -1.</a:t>
            </a:r>
          </a:p>
          <a:p>
            <a:pPr lvl="0" eaLnBrk="0" fontAlgn="base" hangingPunct="0">
              <a:spcBef>
                <a:spcPct val="0"/>
              </a:spcBef>
              <a:spcAft>
                <a:spcPct val="0"/>
              </a:spcAft>
            </a:pPr>
            <a:endParaRPr lang="en-US" altLang="en-US" sz="1600" dirty="0">
              <a:solidFill>
                <a:schemeClr val="tx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D12FCFB1-AC94-4773-AF21-4F3F7A12414A}"/>
              </a:ext>
            </a:extLst>
          </p:cNvPr>
          <p:cNvSpPr/>
          <p:nvPr/>
        </p:nvSpPr>
        <p:spPr>
          <a:xfrm>
            <a:off x="6324600" y="2136298"/>
            <a:ext cx="2514600" cy="75930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9" name="Arrow: Right 8">
            <a:extLst>
              <a:ext uri="{FF2B5EF4-FFF2-40B4-BE49-F238E27FC236}">
                <a16:creationId xmlns:a16="http://schemas.microsoft.com/office/drawing/2014/main" id="{0A1E6FF5-7F34-43B5-84ED-A6451BD1C857}"/>
              </a:ext>
            </a:extLst>
          </p:cNvPr>
          <p:cNvSpPr/>
          <p:nvPr/>
        </p:nvSpPr>
        <p:spPr>
          <a:xfrm>
            <a:off x="5152871" y="2336652"/>
            <a:ext cx="817166" cy="35859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95847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C7D5C6F-BFC3-4A5F-9B63-80987D8FF085}"/>
              </a:ext>
            </a:extLst>
          </p:cNvPr>
          <p:cNvSpPr/>
          <p:nvPr/>
        </p:nvSpPr>
        <p:spPr>
          <a:xfrm>
            <a:off x="6096000" y="1752600"/>
            <a:ext cx="5105400" cy="4854086"/>
          </a:xfrm>
          <a:prstGeom prst="rect">
            <a:avLst/>
          </a:prstGeom>
        </p:spPr>
        <p:txBody>
          <a:bodyPr wrap="square">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maxDepth</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node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node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98658"/>
                </a:solidFill>
                <a:latin typeface="Consolas" panose="020B0609020204030204" pitchFamily="49" charset="0"/>
              </a:rPr>
              <a:t>1</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else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ldepth</a:t>
            </a:r>
            <a:r>
              <a:rPr lang="en-US" sz="1600" dirty="0">
                <a:solidFill>
                  <a:srgbClr val="000000"/>
                </a:solidFill>
                <a:latin typeface="Consolas" panose="020B0609020204030204" pitchFamily="49" charset="0"/>
              </a:rPr>
              <a:t> = </a:t>
            </a:r>
            <a:r>
              <a:rPr lang="en-US" sz="1600" dirty="0" err="1">
                <a:solidFill>
                  <a:srgbClr val="74531F"/>
                </a:solidFill>
                <a:latin typeface="Consolas" panose="020B0609020204030204" pitchFamily="49" charset="0"/>
              </a:rPr>
              <a:t>maxDepth</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node</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rdepth</a:t>
            </a:r>
            <a:r>
              <a:rPr lang="en-US" sz="1600" dirty="0">
                <a:solidFill>
                  <a:srgbClr val="000000"/>
                </a:solidFill>
                <a:latin typeface="Consolas" panose="020B0609020204030204" pitchFamily="49" charset="0"/>
              </a:rPr>
              <a:t> = </a:t>
            </a:r>
            <a:r>
              <a:rPr lang="en-US" sz="1600" dirty="0" err="1">
                <a:solidFill>
                  <a:srgbClr val="74531F"/>
                </a:solidFill>
                <a:latin typeface="Consolas" panose="020B0609020204030204" pitchFamily="49" charset="0"/>
              </a:rPr>
              <a:t>maxDepth</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node</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ldepth</a:t>
            </a:r>
            <a:r>
              <a:rPr lang="en-US" sz="1600" dirty="0">
                <a:solidFill>
                  <a:srgbClr val="000000"/>
                </a:solidFill>
                <a:latin typeface="Consolas" panose="020B0609020204030204" pitchFamily="49" charset="0"/>
              </a:rPr>
              <a:t> &gt; </a:t>
            </a:r>
            <a:r>
              <a:rPr lang="en-US" sz="1600" dirty="0" err="1">
                <a:solidFill>
                  <a:srgbClr val="1F377F"/>
                </a:solidFill>
                <a:latin typeface="Consolas" panose="020B0609020204030204" pitchFamily="49" charset="0"/>
              </a:rPr>
              <a:t>rdepth</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ldepth</a:t>
            </a:r>
            <a:r>
              <a:rPr lang="en-US" sz="1600" dirty="0">
                <a:solidFill>
                  <a:srgbClr val="000000"/>
                </a:solidFill>
                <a:latin typeface="Consolas" panose="020B0609020204030204" pitchFamily="49" charset="0"/>
              </a:rPr>
              <a:t> + </a:t>
            </a:r>
            <a:r>
              <a:rPr lang="en-US" sz="1600" dirty="0">
                <a:solidFill>
                  <a:srgbClr val="098658"/>
                </a:solidFill>
                <a:latin typeface="Consolas" panose="020B0609020204030204" pitchFamily="49" charset="0"/>
              </a:rPr>
              <a:t>1</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else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rdepth</a:t>
            </a:r>
            <a:r>
              <a:rPr lang="en-US" sz="1600" dirty="0">
                <a:solidFill>
                  <a:srgbClr val="000000"/>
                </a:solidFill>
                <a:latin typeface="Consolas" panose="020B0609020204030204" pitchFamily="49" charset="0"/>
              </a:rPr>
              <a:t> + </a:t>
            </a:r>
            <a:r>
              <a:rPr lang="en-US" sz="1600" dirty="0">
                <a:solidFill>
                  <a:srgbClr val="098658"/>
                </a:solidFill>
                <a:latin typeface="Consolas" panose="020B0609020204030204" pitchFamily="49" charset="0"/>
              </a:rPr>
              <a:t>1</a:t>
            </a:r>
            <a:endParaRPr lang="en-US" sz="1600" dirty="0">
              <a:solidFill>
                <a:srgbClr val="000000"/>
              </a:solidFill>
              <a:latin typeface="Consolas" panose="020B0609020204030204" pitchFamily="49" charset="0"/>
            </a:endParaRPr>
          </a:p>
          <a:p>
            <a:pPr>
              <a:lnSpc>
                <a:spcPct val="150000"/>
              </a:lnSpc>
            </a:pPr>
            <a:br>
              <a:rPr lang="en-US" sz="1600" dirty="0">
                <a:solidFill>
                  <a:srgbClr val="000000"/>
                </a:solidFill>
                <a:latin typeface="Consolas" panose="020B0609020204030204" pitchFamily="49" charset="0"/>
              </a:rPr>
            </a:b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Q04 - Answer</a:t>
            </a:r>
          </a:p>
        </p:txBody>
      </p:sp>
      <p:sp>
        <p:nvSpPr>
          <p:cNvPr id="11" name="Rectangle 10">
            <a:extLst>
              <a:ext uri="{FF2B5EF4-FFF2-40B4-BE49-F238E27FC236}">
                <a16:creationId xmlns:a16="http://schemas.microsoft.com/office/drawing/2014/main" id="{9A160827-942E-482E-8B34-E253BF44CE36}"/>
              </a:ext>
            </a:extLst>
          </p:cNvPr>
          <p:cNvSpPr/>
          <p:nvPr/>
        </p:nvSpPr>
        <p:spPr>
          <a:xfrm>
            <a:off x="997987" y="1091930"/>
            <a:ext cx="9906000" cy="461665"/>
          </a:xfrm>
          <a:prstGeom prst="rect">
            <a:avLst/>
          </a:prstGeom>
        </p:spPr>
        <p:txBody>
          <a:bodyPr wrap="square">
            <a:spAutoFit/>
          </a:bodyPr>
          <a:lstStyle/>
          <a:p>
            <a:pPr marR="0" lvl="0">
              <a:spcBef>
                <a:spcPts val="0"/>
              </a:spcBef>
              <a:spcAft>
                <a:spcPts val="0"/>
              </a:spcAft>
            </a:pPr>
            <a:r>
              <a:rPr lang="en-US" sz="2400" b="1" u="sng" dirty="0">
                <a:solidFill>
                  <a:schemeClr val="accent1">
                    <a:lumMod val="75000"/>
                  </a:schemeClr>
                </a:solidFill>
                <a:latin typeface="Times New Roman" panose="02020603050405020304" pitchFamily="18" charset="0"/>
                <a:ea typeface="Times New Roman" panose="02020603050405020304" pitchFamily="18" charset="0"/>
              </a:rPr>
              <a:t>Now we will go through the </a:t>
            </a:r>
            <a:r>
              <a:rPr lang="en-US" sz="2400" b="1" u="sng" dirty="0" err="1">
                <a:solidFill>
                  <a:schemeClr val="accent1">
                    <a:lumMod val="75000"/>
                  </a:schemeClr>
                </a:solidFill>
                <a:latin typeface="Times New Roman" panose="02020603050405020304" pitchFamily="18" charset="0"/>
                <a:ea typeface="Times New Roman" panose="02020603050405020304" pitchFamily="18" charset="0"/>
              </a:rPr>
              <a:t>maxDepth</a:t>
            </a:r>
            <a:r>
              <a:rPr lang="en-US" sz="2400" b="1" u="sng" dirty="0">
                <a:solidFill>
                  <a:schemeClr val="accent1">
                    <a:lumMod val="75000"/>
                  </a:schemeClr>
                </a:solidFill>
                <a:latin typeface="Times New Roman" panose="02020603050405020304" pitchFamily="18" charset="0"/>
                <a:ea typeface="Times New Roman" panose="02020603050405020304" pitchFamily="18" charset="0"/>
              </a:rPr>
              <a:t>(node) function </a:t>
            </a:r>
          </a:p>
        </p:txBody>
      </p:sp>
      <p:sp>
        <p:nvSpPr>
          <p:cNvPr id="4" name="Rectangle 1">
            <a:extLst>
              <a:ext uri="{FF2B5EF4-FFF2-40B4-BE49-F238E27FC236}">
                <a16:creationId xmlns:a16="http://schemas.microsoft.com/office/drawing/2014/main" id="{CA83EC4B-4B3E-4818-A292-574F55D8EA61}"/>
              </a:ext>
            </a:extLst>
          </p:cNvPr>
          <p:cNvSpPr>
            <a:spLocks noChangeArrowheads="1"/>
          </p:cNvSpPr>
          <p:nvPr/>
        </p:nvSpPr>
        <p:spPr bwMode="auto">
          <a:xfrm>
            <a:off x="1052347" y="2942685"/>
            <a:ext cx="4050263" cy="1815882"/>
          </a:xfrm>
          <a:prstGeom prst="rect">
            <a:avLst/>
          </a:prstGeom>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1600" b="1" dirty="0">
                <a:solidFill>
                  <a:schemeClr val="tx1"/>
                </a:solidFill>
                <a:latin typeface="Times New Roman" panose="02020603050405020304" pitchFamily="18" charset="0"/>
                <a:cs typeface="Times New Roman" panose="02020603050405020304" pitchFamily="18" charset="0"/>
              </a:rPr>
              <a:t>Recursive Calls</a:t>
            </a:r>
            <a:br>
              <a:rPr lang="en-US" altLang="en-US" sz="1600" b="1" dirty="0">
                <a:solidFill>
                  <a:schemeClr val="tx1"/>
                </a:solidFill>
                <a:latin typeface="Times New Roman" panose="02020603050405020304" pitchFamily="18" charset="0"/>
                <a:cs typeface="Times New Roman" panose="02020603050405020304" pitchFamily="18" charset="0"/>
              </a:rPr>
            </a:br>
            <a:endParaRPr lang="en-US" altLang="en-US" sz="16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sz="1600" dirty="0">
                <a:solidFill>
                  <a:schemeClr val="tx1"/>
                </a:solidFill>
                <a:latin typeface="Times New Roman" panose="02020603050405020304" pitchFamily="18" charset="0"/>
                <a:cs typeface="Times New Roman" panose="02020603050405020304" pitchFamily="18" charset="0"/>
              </a:rPr>
              <a:t>Recursively compute the depth of the </a:t>
            </a:r>
            <a:r>
              <a:rPr lang="en-US" altLang="en-US" sz="1600" b="1" dirty="0">
                <a:solidFill>
                  <a:schemeClr val="tx1"/>
                </a:solidFill>
                <a:latin typeface="Times New Roman" panose="02020603050405020304" pitchFamily="18" charset="0"/>
                <a:cs typeface="Times New Roman" panose="02020603050405020304" pitchFamily="18" charset="0"/>
              </a:rPr>
              <a:t>left subtree</a:t>
            </a:r>
            <a:r>
              <a:rPr lang="en-US" altLang="en-US" sz="1600" dirty="0">
                <a:solidFill>
                  <a:schemeClr val="tx1"/>
                </a:solidFill>
                <a:latin typeface="Times New Roman" panose="02020603050405020304" pitchFamily="18" charset="0"/>
                <a:cs typeface="Times New Roman" panose="02020603050405020304" pitchFamily="18" charset="0"/>
              </a:rPr>
              <a:t> (</a:t>
            </a:r>
            <a:r>
              <a:rPr lang="en-US" altLang="en-US" sz="1600" b="1" dirty="0" err="1">
                <a:solidFill>
                  <a:schemeClr val="tx1"/>
                </a:solidFill>
                <a:latin typeface="Times New Roman" panose="02020603050405020304" pitchFamily="18" charset="0"/>
                <a:cs typeface="Times New Roman" panose="02020603050405020304" pitchFamily="18" charset="0"/>
              </a:rPr>
              <a:t>ldepth</a:t>
            </a:r>
            <a:r>
              <a:rPr lang="en-US" altLang="en-US" sz="1600" dirty="0">
                <a:solidFill>
                  <a:schemeClr val="tx1"/>
                </a:solidFill>
                <a:latin typeface="Times New Roman" panose="02020603050405020304" pitchFamily="18" charset="0"/>
                <a:cs typeface="Times New Roman" panose="02020603050405020304" pitchFamily="18" charset="0"/>
              </a:rPr>
              <a:t>) and </a:t>
            </a:r>
            <a:r>
              <a:rPr lang="en-US" altLang="en-US" sz="1600" b="1" dirty="0">
                <a:solidFill>
                  <a:schemeClr val="tx1"/>
                </a:solidFill>
                <a:latin typeface="Times New Roman" panose="02020603050405020304" pitchFamily="18" charset="0"/>
                <a:cs typeface="Times New Roman" panose="02020603050405020304" pitchFamily="18" charset="0"/>
              </a:rPr>
              <a:t>right subtree </a:t>
            </a:r>
            <a:r>
              <a:rPr lang="en-US" altLang="en-US" sz="1600" dirty="0">
                <a:solidFill>
                  <a:schemeClr val="tx1"/>
                </a:solidFill>
                <a:latin typeface="Times New Roman" panose="02020603050405020304" pitchFamily="18" charset="0"/>
                <a:cs typeface="Times New Roman" panose="02020603050405020304" pitchFamily="18" charset="0"/>
              </a:rPr>
              <a:t>(</a:t>
            </a:r>
            <a:r>
              <a:rPr lang="en-US" altLang="en-US" sz="1600" b="1" dirty="0" err="1">
                <a:solidFill>
                  <a:schemeClr val="tx1"/>
                </a:solidFill>
                <a:latin typeface="Times New Roman" panose="02020603050405020304" pitchFamily="18" charset="0"/>
                <a:cs typeface="Times New Roman" panose="02020603050405020304" pitchFamily="18" charset="0"/>
              </a:rPr>
              <a:t>rdepth</a:t>
            </a:r>
            <a:r>
              <a:rPr lang="en-US" altLang="en-US" sz="1600" dirty="0">
                <a:solidFill>
                  <a:schemeClr val="tx1"/>
                </a:solidFill>
                <a:latin typeface="Times New Roman" panose="02020603050405020304" pitchFamily="18" charset="0"/>
                <a:cs typeface="Times New Roman" panose="02020603050405020304" pitchFamily="18" charset="0"/>
              </a:rPr>
              <a:t>).</a:t>
            </a:r>
          </a:p>
          <a:p>
            <a:pPr marL="285750" lvl="0" indent="-285750" eaLnBrk="0" fontAlgn="base" hangingPunct="0">
              <a:spcBef>
                <a:spcPct val="0"/>
              </a:spcBef>
              <a:spcAft>
                <a:spcPct val="0"/>
              </a:spcAft>
              <a:buFont typeface="Arial" panose="020B0604020202020204" pitchFamily="34" charset="0"/>
              <a:buChar char="•"/>
            </a:pPr>
            <a:endParaRPr lang="en-US" altLang="en-US" sz="16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endParaRPr lang="en-US" altLang="en-US" sz="1600" dirty="0">
              <a:solidFill>
                <a:schemeClr val="tx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D12FCFB1-AC94-4773-AF21-4F3F7A12414A}"/>
              </a:ext>
            </a:extLst>
          </p:cNvPr>
          <p:cNvSpPr/>
          <p:nvPr/>
        </p:nvSpPr>
        <p:spPr>
          <a:xfrm>
            <a:off x="6819900" y="3290849"/>
            <a:ext cx="3657600" cy="97635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9" name="Arrow: Right 8">
            <a:extLst>
              <a:ext uri="{FF2B5EF4-FFF2-40B4-BE49-F238E27FC236}">
                <a16:creationId xmlns:a16="http://schemas.microsoft.com/office/drawing/2014/main" id="{0A1E6FF5-7F34-43B5-84ED-A6451BD1C857}"/>
              </a:ext>
            </a:extLst>
          </p:cNvPr>
          <p:cNvSpPr/>
          <p:nvPr/>
        </p:nvSpPr>
        <p:spPr>
          <a:xfrm>
            <a:off x="5464560" y="3492034"/>
            <a:ext cx="817166" cy="35859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4754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C7D5C6F-BFC3-4A5F-9B63-80987D8FF085}"/>
              </a:ext>
            </a:extLst>
          </p:cNvPr>
          <p:cNvSpPr/>
          <p:nvPr/>
        </p:nvSpPr>
        <p:spPr>
          <a:xfrm>
            <a:off x="6096000" y="1752600"/>
            <a:ext cx="5105400" cy="4854086"/>
          </a:xfrm>
          <a:prstGeom prst="rect">
            <a:avLst/>
          </a:prstGeom>
        </p:spPr>
        <p:txBody>
          <a:bodyPr wrap="square">
            <a:spAutoFit/>
          </a:bodyPr>
          <a:lstStyle/>
          <a:p>
            <a:pPr>
              <a:lnSpc>
                <a:spcPct val="150000"/>
              </a:lnSpc>
            </a:pPr>
            <a:r>
              <a:rPr lang="en-US" sz="1600" dirty="0">
                <a:solidFill>
                  <a:srgbClr val="0000FF"/>
                </a:solidFill>
                <a:latin typeface="Consolas" panose="020B0609020204030204" pitchFamily="49" charset="0"/>
              </a:rPr>
              <a:t>def</a:t>
            </a:r>
            <a:r>
              <a:rPr lang="en-US" sz="1600" dirty="0">
                <a:solidFill>
                  <a:srgbClr val="000000"/>
                </a:solidFill>
                <a:latin typeface="Consolas" panose="020B0609020204030204" pitchFamily="49" charset="0"/>
              </a:rPr>
              <a:t> </a:t>
            </a:r>
            <a:r>
              <a:rPr lang="en-US" sz="1600" dirty="0" err="1">
                <a:solidFill>
                  <a:srgbClr val="74531F"/>
                </a:solidFill>
                <a:latin typeface="Consolas" panose="020B0609020204030204" pitchFamily="49" charset="0"/>
              </a:rPr>
              <a:t>maxDepth</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node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node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None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98658"/>
                </a:solidFill>
                <a:latin typeface="Consolas" panose="020B0609020204030204" pitchFamily="49" charset="0"/>
              </a:rPr>
              <a:t>1</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else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ldepth</a:t>
            </a:r>
            <a:r>
              <a:rPr lang="en-US" sz="1600" dirty="0">
                <a:solidFill>
                  <a:srgbClr val="000000"/>
                </a:solidFill>
                <a:latin typeface="Consolas" panose="020B0609020204030204" pitchFamily="49" charset="0"/>
              </a:rPr>
              <a:t> = </a:t>
            </a:r>
            <a:r>
              <a:rPr lang="en-US" sz="1600" dirty="0" err="1">
                <a:solidFill>
                  <a:srgbClr val="74531F"/>
                </a:solidFill>
                <a:latin typeface="Consolas" panose="020B0609020204030204" pitchFamily="49" charset="0"/>
              </a:rPr>
              <a:t>maxDepth</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node</a:t>
            </a:r>
            <a:r>
              <a:rPr lang="en-US" sz="1600" dirty="0" err="1">
                <a:solidFill>
                  <a:srgbClr val="000000"/>
                </a:solidFill>
                <a:latin typeface="Consolas" panose="020B0609020204030204" pitchFamily="49" charset="0"/>
              </a:rPr>
              <a:t>.left</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rdepth</a:t>
            </a:r>
            <a:r>
              <a:rPr lang="en-US" sz="1600" dirty="0">
                <a:solidFill>
                  <a:srgbClr val="000000"/>
                </a:solidFill>
                <a:latin typeface="Consolas" panose="020B0609020204030204" pitchFamily="49" charset="0"/>
              </a:rPr>
              <a:t> = </a:t>
            </a:r>
            <a:r>
              <a:rPr lang="en-US" sz="1600" dirty="0" err="1">
                <a:solidFill>
                  <a:srgbClr val="74531F"/>
                </a:solidFill>
                <a:latin typeface="Consolas" panose="020B0609020204030204" pitchFamily="49" charset="0"/>
              </a:rPr>
              <a:t>maxDepth</a:t>
            </a:r>
            <a:r>
              <a:rPr lang="en-US" sz="1600" dirty="0">
                <a:solidFill>
                  <a:srgbClr val="000000"/>
                </a:solidFill>
                <a:latin typeface="Consolas" panose="020B0609020204030204" pitchFamily="49" charset="0"/>
              </a:rPr>
              <a:t>(</a:t>
            </a:r>
            <a:r>
              <a:rPr lang="en-US" sz="1600" dirty="0" err="1">
                <a:solidFill>
                  <a:srgbClr val="808080"/>
                </a:solidFill>
                <a:latin typeface="Consolas" panose="020B0609020204030204" pitchFamily="49" charset="0"/>
              </a:rPr>
              <a:t>node</a:t>
            </a:r>
            <a:r>
              <a:rPr lang="en-US" sz="1600" dirty="0" err="1">
                <a:solidFill>
                  <a:srgbClr val="000000"/>
                </a:solidFill>
                <a:latin typeface="Consolas" panose="020B0609020204030204" pitchFamily="49" charset="0"/>
              </a:rPr>
              <a:t>.right</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ldepth</a:t>
            </a:r>
            <a:r>
              <a:rPr lang="en-US" sz="1600" dirty="0">
                <a:solidFill>
                  <a:srgbClr val="000000"/>
                </a:solidFill>
                <a:latin typeface="Consolas" panose="020B0609020204030204" pitchFamily="49" charset="0"/>
              </a:rPr>
              <a:t> &gt; </a:t>
            </a:r>
            <a:r>
              <a:rPr lang="en-US" sz="1600" dirty="0" err="1">
                <a:solidFill>
                  <a:srgbClr val="1F377F"/>
                </a:solidFill>
                <a:latin typeface="Consolas" panose="020B0609020204030204" pitchFamily="49" charset="0"/>
              </a:rPr>
              <a:t>rdepth</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ldepth</a:t>
            </a:r>
            <a:r>
              <a:rPr lang="en-US" sz="1600" dirty="0">
                <a:solidFill>
                  <a:srgbClr val="000000"/>
                </a:solidFill>
                <a:latin typeface="Consolas" panose="020B0609020204030204" pitchFamily="49" charset="0"/>
              </a:rPr>
              <a:t> + </a:t>
            </a:r>
            <a:r>
              <a:rPr lang="en-US" sz="1600" dirty="0">
                <a:solidFill>
                  <a:srgbClr val="098658"/>
                </a:solidFill>
                <a:latin typeface="Consolas" panose="020B0609020204030204" pitchFamily="49" charset="0"/>
              </a:rPr>
              <a:t>1</a:t>
            </a:r>
            <a:endParaRPr lang="en-US" sz="1600" dirty="0">
              <a:solidFill>
                <a:srgbClr val="000000"/>
              </a:solidFill>
              <a:latin typeface="Consolas" panose="020B0609020204030204" pitchFamily="49" charset="0"/>
            </a:endParaRP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else</a:t>
            </a:r>
            <a:r>
              <a:rPr lang="en-US" sz="1600" dirty="0">
                <a:solidFill>
                  <a:srgbClr val="000000"/>
                </a:solidFill>
                <a:latin typeface="Consolas" panose="020B0609020204030204" pitchFamily="49" charset="0"/>
              </a:rPr>
              <a:t>:</a:t>
            </a:r>
          </a:p>
          <a:p>
            <a:pPr>
              <a:lnSpc>
                <a:spcPct val="150000"/>
              </a:lnSpc>
            </a:pPr>
            <a:r>
              <a:rPr lang="en-US" sz="1600" dirty="0">
                <a:solidFill>
                  <a:srgbClr val="000000"/>
                </a:solidFill>
                <a:latin typeface="Consolas" panose="020B0609020204030204" pitchFamily="49" charset="0"/>
              </a:rPr>
              <a:t>            </a:t>
            </a:r>
            <a:r>
              <a:rPr lang="en-US" sz="1600" dirty="0">
                <a:solidFill>
                  <a:srgbClr val="8F08C4"/>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err="1">
                <a:solidFill>
                  <a:srgbClr val="1F377F"/>
                </a:solidFill>
                <a:latin typeface="Consolas" panose="020B0609020204030204" pitchFamily="49" charset="0"/>
              </a:rPr>
              <a:t>rdepth</a:t>
            </a:r>
            <a:r>
              <a:rPr lang="en-US" sz="1600" dirty="0">
                <a:solidFill>
                  <a:srgbClr val="000000"/>
                </a:solidFill>
                <a:latin typeface="Consolas" panose="020B0609020204030204" pitchFamily="49" charset="0"/>
              </a:rPr>
              <a:t> + </a:t>
            </a:r>
            <a:r>
              <a:rPr lang="en-US" sz="1600" dirty="0">
                <a:solidFill>
                  <a:srgbClr val="098658"/>
                </a:solidFill>
                <a:latin typeface="Consolas" panose="020B0609020204030204" pitchFamily="49" charset="0"/>
              </a:rPr>
              <a:t>1</a:t>
            </a:r>
            <a:endParaRPr lang="en-US" sz="1600" dirty="0">
              <a:solidFill>
                <a:srgbClr val="000000"/>
              </a:solidFill>
              <a:latin typeface="Consolas" panose="020B0609020204030204" pitchFamily="49" charset="0"/>
            </a:endParaRPr>
          </a:p>
          <a:p>
            <a:pPr>
              <a:lnSpc>
                <a:spcPct val="150000"/>
              </a:lnSpc>
            </a:pPr>
            <a:br>
              <a:rPr lang="en-US" sz="1600" dirty="0">
                <a:solidFill>
                  <a:srgbClr val="000000"/>
                </a:solidFill>
                <a:latin typeface="Consolas" panose="020B0609020204030204" pitchFamily="49" charset="0"/>
              </a:rPr>
            </a:br>
            <a:endParaRPr lang="en-US" sz="1600" b="0" dirty="0">
              <a:solidFill>
                <a:srgbClr val="000000"/>
              </a:solidFill>
              <a:effectLst/>
              <a:latin typeface="Consolas" panose="020B0609020204030204" pitchFamily="49" charset="0"/>
            </a:endParaRPr>
          </a:p>
        </p:txBody>
      </p:sp>
      <p:sp>
        <p:nvSpPr>
          <p:cNvPr id="45058" name="Rectangle 2"/>
          <p:cNvSpPr>
            <a:spLocks noGrp="1" noChangeArrowheads="1"/>
          </p:cNvSpPr>
          <p:nvPr>
            <p:ph type="title"/>
          </p:nvPr>
        </p:nvSpPr>
        <p:spPr/>
        <p:txBody>
          <a:bodyPr/>
          <a:lstStyle/>
          <a:p>
            <a:r>
              <a:rPr lang="en-US" dirty="0"/>
              <a:t>Q04 - Answer</a:t>
            </a:r>
          </a:p>
        </p:txBody>
      </p:sp>
      <p:sp>
        <p:nvSpPr>
          <p:cNvPr id="11" name="Rectangle 10">
            <a:extLst>
              <a:ext uri="{FF2B5EF4-FFF2-40B4-BE49-F238E27FC236}">
                <a16:creationId xmlns:a16="http://schemas.microsoft.com/office/drawing/2014/main" id="{9A160827-942E-482E-8B34-E253BF44CE36}"/>
              </a:ext>
            </a:extLst>
          </p:cNvPr>
          <p:cNvSpPr/>
          <p:nvPr/>
        </p:nvSpPr>
        <p:spPr>
          <a:xfrm>
            <a:off x="997987" y="1091930"/>
            <a:ext cx="9906000" cy="461665"/>
          </a:xfrm>
          <a:prstGeom prst="rect">
            <a:avLst/>
          </a:prstGeom>
        </p:spPr>
        <p:txBody>
          <a:bodyPr wrap="square">
            <a:spAutoFit/>
          </a:bodyPr>
          <a:lstStyle/>
          <a:p>
            <a:pPr marR="0" lvl="0">
              <a:spcBef>
                <a:spcPts val="0"/>
              </a:spcBef>
              <a:spcAft>
                <a:spcPts val="0"/>
              </a:spcAft>
            </a:pPr>
            <a:r>
              <a:rPr lang="en-US" sz="2400" b="1" u="sng" dirty="0">
                <a:solidFill>
                  <a:schemeClr val="accent1">
                    <a:lumMod val="75000"/>
                  </a:schemeClr>
                </a:solidFill>
                <a:latin typeface="Times New Roman" panose="02020603050405020304" pitchFamily="18" charset="0"/>
                <a:ea typeface="Times New Roman" panose="02020603050405020304" pitchFamily="18" charset="0"/>
              </a:rPr>
              <a:t>Now we will go through the </a:t>
            </a:r>
            <a:r>
              <a:rPr lang="en-US" sz="2400" b="1" u="sng" dirty="0" err="1">
                <a:solidFill>
                  <a:schemeClr val="accent1">
                    <a:lumMod val="75000"/>
                  </a:schemeClr>
                </a:solidFill>
                <a:latin typeface="Times New Roman" panose="02020603050405020304" pitchFamily="18" charset="0"/>
                <a:ea typeface="Times New Roman" panose="02020603050405020304" pitchFamily="18" charset="0"/>
              </a:rPr>
              <a:t>maxDepth</a:t>
            </a:r>
            <a:r>
              <a:rPr lang="en-US" sz="2400" b="1" u="sng" dirty="0">
                <a:solidFill>
                  <a:schemeClr val="accent1">
                    <a:lumMod val="75000"/>
                  </a:schemeClr>
                </a:solidFill>
                <a:latin typeface="Times New Roman" panose="02020603050405020304" pitchFamily="18" charset="0"/>
                <a:ea typeface="Times New Roman" panose="02020603050405020304" pitchFamily="18" charset="0"/>
              </a:rPr>
              <a:t>(node) function </a:t>
            </a:r>
          </a:p>
        </p:txBody>
      </p:sp>
      <p:sp>
        <p:nvSpPr>
          <p:cNvPr id="4" name="Rectangle 1">
            <a:extLst>
              <a:ext uri="{FF2B5EF4-FFF2-40B4-BE49-F238E27FC236}">
                <a16:creationId xmlns:a16="http://schemas.microsoft.com/office/drawing/2014/main" id="{CA83EC4B-4B3E-4818-A292-574F55D8EA61}"/>
              </a:ext>
            </a:extLst>
          </p:cNvPr>
          <p:cNvSpPr>
            <a:spLocks noChangeArrowheads="1"/>
          </p:cNvSpPr>
          <p:nvPr/>
        </p:nvSpPr>
        <p:spPr bwMode="auto">
          <a:xfrm>
            <a:off x="990600" y="3595372"/>
            <a:ext cx="4050263" cy="2554545"/>
          </a:xfrm>
          <a:prstGeom prst="rect">
            <a:avLst/>
          </a:prstGeom>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1600" b="1" dirty="0">
                <a:solidFill>
                  <a:schemeClr val="tx1"/>
                </a:solidFill>
                <a:latin typeface="Times New Roman" panose="02020603050405020304" pitchFamily="18" charset="0"/>
                <a:cs typeface="Times New Roman" panose="02020603050405020304" pitchFamily="18" charset="0"/>
              </a:rPr>
              <a:t>Compare Subtree Depths</a:t>
            </a:r>
            <a:br>
              <a:rPr lang="en-US" altLang="en-US" sz="1600" b="1" dirty="0">
                <a:solidFill>
                  <a:schemeClr val="tx1"/>
                </a:solidFill>
                <a:latin typeface="Times New Roman" panose="02020603050405020304" pitchFamily="18" charset="0"/>
                <a:cs typeface="Times New Roman" panose="02020603050405020304" pitchFamily="18" charset="0"/>
              </a:rPr>
            </a:br>
            <a:endParaRPr lang="en-US" altLang="en-US" sz="16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sz="1600" dirty="0">
                <a:solidFill>
                  <a:schemeClr val="tx1"/>
                </a:solidFill>
                <a:latin typeface="Times New Roman" panose="02020603050405020304" pitchFamily="18" charset="0"/>
                <a:cs typeface="Times New Roman" panose="02020603050405020304" pitchFamily="18" charset="0"/>
              </a:rPr>
              <a:t>Determine which subtree is deeper.</a:t>
            </a:r>
          </a:p>
          <a:p>
            <a:pPr marL="285750" lvl="0" indent="-285750" eaLnBrk="0" fontAlgn="base" hangingPunct="0">
              <a:spcBef>
                <a:spcPct val="0"/>
              </a:spcBef>
              <a:spcAft>
                <a:spcPct val="0"/>
              </a:spcAft>
              <a:buFont typeface="Arial" panose="020B0604020202020204" pitchFamily="34" charset="0"/>
              <a:buChar char="•"/>
            </a:pPr>
            <a:endParaRPr lang="en-US" altLang="en-US" sz="16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sz="1600" dirty="0">
                <a:solidFill>
                  <a:schemeClr val="tx1"/>
                </a:solidFill>
                <a:latin typeface="Times New Roman" panose="02020603050405020304" pitchFamily="18" charset="0"/>
                <a:cs typeface="Times New Roman" panose="02020603050405020304" pitchFamily="18" charset="0"/>
              </a:rPr>
              <a:t>Add 1 to include the current node in the depth count.</a:t>
            </a:r>
          </a:p>
          <a:p>
            <a:pPr marL="285750" lvl="0" indent="-285750" eaLnBrk="0" fontAlgn="base" hangingPunct="0">
              <a:spcBef>
                <a:spcPct val="0"/>
              </a:spcBef>
              <a:spcAft>
                <a:spcPct val="0"/>
              </a:spcAft>
              <a:buFont typeface="Arial" panose="020B0604020202020204" pitchFamily="34" charset="0"/>
              <a:buChar char="•"/>
            </a:pPr>
            <a:endParaRPr lang="en-US" altLang="en-US" sz="16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sz="1600" dirty="0">
                <a:solidFill>
                  <a:schemeClr val="tx1"/>
                </a:solidFill>
                <a:latin typeface="Times New Roman" panose="02020603050405020304" pitchFamily="18" charset="0"/>
                <a:cs typeface="Times New Roman" panose="02020603050405020304" pitchFamily="18" charset="0"/>
              </a:rPr>
              <a:t>This ensures the depth returned is the maximum depth from this node to a leaf.</a:t>
            </a:r>
          </a:p>
          <a:p>
            <a:pPr marL="285750" lvl="0" indent="-285750" eaLnBrk="0" fontAlgn="base" hangingPunct="0">
              <a:spcBef>
                <a:spcPct val="0"/>
              </a:spcBef>
              <a:spcAft>
                <a:spcPct val="0"/>
              </a:spcAft>
              <a:buFont typeface="Arial" panose="020B0604020202020204" pitchFamily="34" charset="0"/>
              <a:buChar char="•"/>
            </a:pPr>
            <a:endParaRPr lang="en-US" altLang="en-US" sz="1600" dirty="0">
              <a:solidFill>
                <a:schemeClr val="tx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D12FCFB1-AC94-4773-AF21-4F3F7A12414A}"/>
              </a:ext>
            </a:extLst>
          </p:cNvPr>
          <p:cNvSpPr/>
          <p:nvPr/>
        </p:nvSpPr>
        <p:spPr>
          <a:xfrm>
            <a:off x="6819900" y="4179643"/>
            <a:ext cx="3657600" cy="184015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9" name="Arrow: Right 8">
            <a:extLst>
              <a:ext uri="{FF2B5EF4-FFF2-40B4-BE49-F238E27FC236}">
                <a16:creationId xmlns:a16="http://schemas.microsoft.com/office/drawing/2014/main" id="{0A1E6FF5-7F34-43B5-84ED-A6451BD1C857}"/>
              </a:ext>
            </a:extLst>
          </p:cNvPr>
          <p:cNvSpPr/>
          <p:nvPr/>
        </p:nvSpPr>
        <p:spPr>
          <a:xfrm>
            <a:off x="5542404" y="4741129"/>
            <a:ext cx="817166" cy="35859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66346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dirty="0"/>
              <a:t>Q04 - Answer</a:t>
            </a:r>
          </a:p>
        </p:txBody>
      </p:sp>
      <p:sp>
        <p:nvSpPr>
          <p:cNvPr id="11" name="Rectangle 10">
            <a:extLst>
              <a:ext uri="{FF2B5EF4-FFF2-40B4-BE49-F238E27FC236}">
                <a16:creationId xmlns:a16="http://schemas.microsoft.com/office/drawing/2014/main" id="{9A160827-942E-482E-8B34-E253BF44CE36}"/>
              </a:ext>
            </a:extLst>
          </p:cNvPr>
          <p:cNvSpPr/>
          <p:nvPr/>
        </p:nvSpPr>
        <p:spPr>
          <a:xfrm>
            <a:off x="997987" y="1091930"/>
            <a:ext cx="9906000" cy="461665"/>
          </a:xfrm>
          <a:prstGeom prst="rect">
            <a:avLst/>
          </a:prstGeom>
        </p:spPr>
        <p:txBody>
          <a:bodyPr wrap="square">
            <a:spAutoFit/>
          </a:bodyPr>
          <a:lstStyle/>
          <a:p>
            <a:pPr marR="0" lvl="0">
              <a:spcBef>
                <a:spcPts val="0"/>
              </a:spcBef>
              <a:spcAft>
                <a:spcPts val="0"/>
              </a:spcAft>
            </a:pPr>
            <a:r>
              <a:rPr lang="en-US" sz="2400" b="1" u="sng" dirty="0">
                <a:solidFill>
                  <a:schemeClr val="accent1">
                    <a:lumMod val="75000"/>
                  </a:schemeClr>
                </a:solidFill>
                <a:latin typeface="Times New Roman" panose="02020603050405020304" pitchFamily="18" charset="0"/>
                <a:ea typeface="Times New Roman" panose="02020603050405020304" pitchFamily="18" charset="0"/>
              </a:rPr>
              <a:t>Now we will go through the </a:t>
            </a:r>
            <a:r>
              <a:rPr lang="en-US" sz="2400" b="1" u="sng" dirty="0" err="1">
                <a:solidFill>
                  <a:schemeClr val="accent1">
                    <a:lumMod val="75000"/>
                  </a:schemeClr>
                </a:solidFill>
                <a:latin typeface="Times New Roman" panose="02020603050405020304" pitchFamily="18" charset="0"/>
                <a:ea typeface="Times New Roman" panose="02020603050405020304" pitchFamily="18" charset="0"/>
              </a:rPr>
              <a:t>maxDepth</a:t>
            </a:r>
            <a:r>
              <a:rPr lang="en-US" sz="2400" b="1" u="sng" dirty="0">
                <a:solidFill>
                  <a:schemeClr val="accent1">
                    <a:lumMod val="75000"/>
                  </a:schemeClr>
                </a:solidFill>
                <a:latin typeface="Times New Roman" panose="02020603050405020304" pitchFamily="18" charset="0"/>
                <a:ea typeface="Times New Roman" panose="02020603050405020304" pitchFamily="18" charset="0"/>
              </a:rPr>
              <a:t>(node) function </a:t>
            </a:r>
          </a:p>
        </p:txBody>
      </p:sp>
      <p:sp>
        <p:nvSpPr>
          <p:cNvPr id="4" name="Rectangle 1">
            <a:extLst>
              <a:ext uri="{FF2B5EF4-FFF2-40B4-BE49-F238E27FC236}">
                <a16:creationId xmlns:a16="http://schemas.microsoft.com/office/drawing/2014/main" id="{CA83EC4B-4B3E-4818-A292-574F55D8EA61}"/>
              </a:ext>
            </a:extLst>
          </p:cNvPr>
          <p:cNvSpPr>
            <a:spLocks noChangeArrowheads="1"/>
          </p:cNvSpPr>
          <p:nvPr/>
        </p:nvSpPr>
        <p:spPr bwMode="auto">
          <a:xfrm>
            <a:off x="1868067" y="2286000"/>
            <a:ext cx="4050263" cy="338554"/>
          </a:xfrm>
          <a:prstGeom prst="rect">
            <a:avLst/>
          </a:prstGeom>
          <a:noFill/>
          <a:ln>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1600" b="1" dirty="0">
                <a:solidFill>
                  <a:schemeClr val="tx1"/>
                </a:solidFill>
                <a:latin typeface="Times New Roman" panose="02020603050405020304" pitchFamily="18" charset="0"/>
                <a:cs typeface="Times New Roman" panose="02020603050405020304" pitchFamily="18" charset="0"/>
              </a:rPr>
              <a:t>Example</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052034D-3CB6-4D27-BB67-94ADF90B5E1B}"/>
              </a:ext>
            </a:extLst>
          </p:cNvPr>
          <p:cNvSpPr/>
          <p:nvPr/>
        </p:nvSpPr>
        <p:spPr>
          <a:xfrm>
            <a:off x="1447800" y="2971800"/>
            <a:ext cx="2209800" cy="1477328"/>
          </a:xfrm>
          <a:prstGeom prst="rect">
            <a:avLst/>
          </a:prstGeom>
        </p:spPr>
        <p:txBody>
          <a:bodyPr wrap="square">
            <a:spAutoFit/>
          </a:bodyPr>
          <a:lstStyle/>
          <a:p>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4</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 \</a:t>
            </a:r>
          </a:p>
          <a:p>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5</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2</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 \</a:t>
            </a:r>
          </a:p>
          <a:p>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3</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1</a:t>
            </a:r>
            <a:endParaRPr lang="en-US" b="0" dirty="0">
              <a:solidFill>
                <a:srgbClr val="000000"/>
              </a:solidFill>
              <a:effectLst/>
              <a:latin typeface="Consolas" panose="020B0609020204030204" pitchFamily="49" charset="0"/>
            </a:endParaRPr>
          </a:p>
        </p:txBody>
      </p:sp>
      <p:sp>
        <p:nvSpPr>
          <p:cNvPr id="13" name="Rectangle 1">
            <a:extLst>
              <a:ext uri="{FF2B5EF4-FFF2-40B4-BE49-F238E27FC236}">
                <a16:creationId xmlns:a16="http://schemas.microsoft.com/office/drawing/2014/main" id="{994B0037-492B-4E99-AB83-EAACFE34B3B0}"/>
              </a:ext>
            </a:extLst>
          </p:cNvPr>
          <p:cNvSpPr>
            <a:spLocks noChangeArrowheads="1"/>
          </p:cNvSpPr>
          <p:nvPr/>
        </p:nvSpPr>
        <p:spPr bwMode="auto">
          <a:xfrm>
            <a:off x="4343400" y="2204869"/>
            <a:ext cx="6858000" cy="3539430"/>
          </a:xfrm>
          <a:prstGeom prst="rect">
            <a:avLst/>
          </a:prstGeom>
          <a:noFill/>
          <a:ln>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mj-lt"/>
              <a:buAutoNum type="arabicPeriod"/>
            </a:pPr>
            <a:r>
              <a:rPr lang="en-US" altLang="en-US" sz="1600" dirty="0">
                <a:solidFill>
                  <a:schemeClr val="tx1"/>
                </a:solidFill>
                <a:latin typeface="Times New Roman" panose="02020603050405020304" pitchFamily="18" charset="0"/>
                <a:cs typeface="Times New Roman" panose="02020603050405020304" pitchFamily="18" charset="0"/>
              </a:rPr>
              <a:t>Start at root </a:t>
            </a:r>
            <a:r>
              <a:rPr lang="en-US" altLang="en-US" sz="1600" b="1" dirty="0">
                <a:solidFill>
                  <a:schemeClr val="tx1"/>
                </a:solidFill>
                <a:latin typeface="Times New Roman" panose="02020603050405020304" pitchFamily="18" charset="0"/>
                <a:cs typeface="Times New Roman" panose="02020603050405020304" pitchFamily="18" charset="0"/>
              </a:rPr>
              <a:t>4</a:t>
            </a:r>
            <a:r>
              <a:rPr lang="en-US" altLang="en-US" sz="1600" dirty="0">
                <a:solidFill>
                  <a:schemeClr val="tx1"/>
                </a:solidFill>
                <a:latin typeface="Times New Roman" panose="02020603050405020304" pitchFamily="18" charset="0"/>
                <a:cs typeface="Times New Roman" panose="02020603050405020304" pitchFamily="18" charset="0"/>
              </a:rPr>
              <a:t>.</a:t>
            </a:r>
          </a:p>
          <a:p>
            <a:pPr marL="342900" lvl="0" indent="-342900" eaLnBrk="0" fontAlgn="base" hangingPunct="0">
              <a:spcBef>
                <a:spcPct val="0"/>
              </a:spcBef>
              <a:spcAft>
                <a:spcPct val="0"/>
              </a:spcAft>
              <a:buFont typeface="+mj-lt"/>
              <a:buAutoNum type="arabicPeriod"/>
            </a:pPr>
            <a:endParaRPr lang="en-US" altLang="en-US" sz="16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mj-lt"/>
              <a:buAutoNum type="arabicPeriod"/>
            </a:pPr>
            <a:r>
              <a:rPr lang="en-US" altLang="en-US" sz="1600" b="1" dirty="0" err="1">
                <a:solidFill>
                  <a:schemeClr val="tx1"/>
                </a:solidFill>
                <a:latin typeface="Times New Roman" panose="02020603050405020304" pitchFamily="18" charset="0"/>
                <a:cs typeface="Times New Roman" panose="02020603050405020304" pitchFamily="18" charset="0"/>
              </a:rPr>
              <a:t>ldepth</a:t>
            </a:r>
            <a:r>
              <a:rPr lang="en-US" altLang="en-US" sz="1600" b="1" dirty="0">
                <a:solidFill>
                  <a:schemeClr val="tx1"/>
                </a:solidFill>
                <a:latin typeface="Times New Roman" panose="02020603050405020304" pitchFamily="18" charset="0"/>
                <a:cs typeface="Times New Roman" panose="02020603050405020304" pitchFamily="18" charset="0"/>
              </a:rPr>
              <a:t> = </a:t>
            </a:r>
            <a:r>
              <a:rPr lang="en-US" altLang="en-US" sz="1600" b="1" dirty="0" err="1">
                <a:solidFill>
                  <a:schemeClr val="tx1"/>
                </a:solidFill>
                <a:latin typeface="Times New Roman" panose="02020603050405020304" pitchFamily="18" charset="0"/>
                <a:cs typeface="Times New Roman" panose="02020603050405020304" pitchFamily="18" charset="0"/>
              </a:rPr>
              <a:t>maxDepth</a:t>
            </a:r>
            <a:r>
              <a:rPr lang="en-US" altLang="en-US" sz="1600" b="1" dirty="0">
                <a:solidFill>
                  <a:schemeClr val="tx1"/>
                </a:solidFill>
                <a:latin typeface="Times New Roman" panose="02020603050405020304" pitchFamily="18" charset="0"/>
                <a:cs typeface="Times New Roman" panose="02020603050405020304" pitchFamily="18" charset="0"/>
              </a:rPr>
              <a:t>(5) → 5</a:t>
            </a:r>
            <a:r>
              <a:rPr lang="en-US" altLang="en-US" sz="1600" dirty="0">
                <a:solidFill>
                  <a:schemeClr val="tx1"/>
                </a:solidFill>
                <a:latin typeface="Times New Roman" panose="02020603050405020304" pitchFamily="18" charset="0"/>
                <a:cs typeface="Times New Roman" panose="02020603050405020304" pitchFamily="18" charset="0"/>
              </a:rPr>
              <a:t> is a leaf, so left and right children return </a:t>
            </a:r>
            <a:r>
              <a:rPr lang="en-US" altLang="en-US" sz="1600" b="1" dirty="0">
                <a:solidFill>
                  <a:schemeClr val="tx1"/>
                </a:solidFill>
                <a:latin typeface="Times New Roman" panose="02020603050405020304" pitchFamily="18" charset="0"/>
                <a:cs typeface="Times New Roman" panose="02020603050405020304" pitchFamily="18" charset="0"/>
              </a:rPr>
              <a:t>-1</a:t>
            </a:r>
            <a:r>
              <a:rPr lang="en-US" altLang="en-US" sz="1600" dirty="0">
                <a:solidFill>
                  <a:schemeClr val="tx1"/>
                </a:solidFill>
                <a:latin typeface="Times New Roman" panose="02020603050405020304" pitchFamily="18" charset="0"/>
                <a:cs typeface="Times New Roman" panose="02020603050405020304" pitchFamily="18" charset="0"/>
              </a:rPr>
              <a:t>, so </a:t>
            </a:r>
            <a:r>
              <a:rPr lang="en-US" altLang="en-US" sz="1600" b="1" dirty="0" err="1">
                <a:solidFill>
                  <a:schemeClr val="tx1"/>
                </a:solidFill>
                <a:latin typeface="Times New Roman" panose="02020603050405020304" pitchFamily="18" charset="0"/>
                <a:cs typeface="Times New Roman" panose="02020603050405020304" pitchFamily="18" charset="0"/>
              </a:rPr>
              <a:t>ldepth</a:t>
            </a:r>
            <a:r>
              <a:rPr lang="en-US" altLang="en-US" sz="1600" b="1" dirty="0">
                <a:solidFill>
                  <a:schemeClr val="tx1"/>
                </a:solidFill>
                <a:latin typeface="Times New Roman" panose="02020603050405020304" pitchFamily="18" charset="0"/>
                <a:cs typeface="Times New Roman" panose="02020603050405020304" pitchFamily="18" charset="0"/>
              </a:rPr>
              <a:t> = max(-1, -1)+1 = 0.</a:t>
            </a:r>
          </a:p>
          <a:p>
            <a:pPr marL="342900" lvl="0" indent="-342900" eaLnBrk="0" fontAlgn="base" hangingPunct="0">
              <a:spcBef>
                <a:spcPct val="0"/>
              </a:spcBef>
              <a:spcAft>
                <a:spcPct val="0"/>
              </a:spcAft>
              <a:buFont typeface="+mj-lt"/>
              <a:buAutoNum type="arabicPeriod"/>
            </a:pPr>
            <a:endParaRPr lang="en-US" altLang="en-US" sz="16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mj-lt"/>
              <a:buAutoNum type="arabicPeriod"/>
            </a:pPr>
            <a:r>
              <a:rPr lang="en-US" altLang="en-US" sz="1600" b="1" dirty="0" err="1">
                <a:solidFill>
                  <a:schemeClr val="tx1"/>
                </a:solidFill>
                <a:latin typeface="Times New Roman" panose="02020603050405020304" pitchFamily="18" charset="0"/>
                <a:cs typeface="Times New Roman" panose="02020603050405020304" pitchFamily="18" charset="0"/>
              </a:rPr>
              <a:t>rdepth</a:t>
            </a:r>
            <a:r>
              <a:rPr lang="en-US" altLang="en-US" sz="1600" b="1" dirty="0">
                <a:solidFill>
                  <a:schemeClr val="tx1"/>
                </a:solidFill>
                <a:latin typeface="Times New Roman" panose="02020603050405020304" pitchFamily="18" charset="0"/>
                <a:cs typeface="Times New Roman" panose="02020603050405020304" pitchFamily="18" charset="0"/>
              </a:rPr>
              <a:t> = </a:t>
            </a:r>
            <a:r>
              <a:rPr lang="en-US" altLang="en-US" sz="1600" b="1" dirty="0" err="1">
                <a:solidFill>
                  <a:schemeClr val="tx1"/>
                </a:solidFill>
                <a:latin typeface="Times New Roman" panose="02020603050405020304" pitchFamily="18" charset="0"/>
                <a:cs typeface="Times New Roman" panose="02020603050405020304" pitchFamily="18" charset="0"/>
              </a:rPr>
              <a:t>maxDepth</a:t>
            </a:r>
            <a:r>
              <a:rPr lang="en-US" altLang="en-US" sz="1600" b="1" dirty="0">
                <a:solidFill>
                  <a:schemeClr val="tx1"/>
                </a:solidFill>
                <a:latin typeface="Times New Roman" panose="02020603050405020304" pitchFamily="18" charset="0"/>
                <a:cs typeface="Times New Roman" panose="02020603050405020304" pitchFamily="18" charset="0"/>
              </a:rPr>
              <a:t>(2)</a:t>
            </a:r>
            <a:r>
              <a:rPr lang="en-US" altLang="en-US" sz="1600" dirty="0">
                <a:solidFill>
                  <a:schemeClr val="tx1"/>
                </a:solidFill>
                <a:latin typeface="Times New Roman" panose="02020603050405020304" pitchFamily="18" charset="0"/>
                <a:cs typeface="Times New Roman" panose="02020603050405020304" pitchFamily="18" charset="0"/>
              </a:rPr>
              <a:t> → recursively compute depth for 2’s children:</a:t>
            </a:r>
          </a:p>
          <a:p>
            <a:pPr marL="342900" lvl="0" indent="-342900" eaLnBrk="0" fontAlgn="base" hangingPunct="0">
              <a:spcBef>
                <a:spcPct val="0"/>
              </a:spcBef>
              <a:spcAft>
                <a:spcPct val="0"/>
              </a:spcAft>
              <a:buFont typeface="+mj-lt"/>
              <a:buAutoNum type="arabicPeriod"/>
            </a:pPr>
            <a:endParaRPr lang="en-US" altLang="en-US" sz="1600" dirty="0">
              <a:solidFill>
                <a:schemeClr val="tx1"/>
              </a:solidFill>
              <a:latin typeface="Times New Roman" panose="02020603050405020304" pitchFamily="18" charset="0"/>
              <a:cs typeface="Times New Roman" panose="02020603050405020304" pitchFamily="18" charset="0"/>
            </a:endParaRPr>
          </a:p>
          <a:p>
            <a:pPr marL="1257300" lvl="2" indent="-342900" eaLnBrk="0" fontAlgn="base" hangingPunct="0">
              <a:spcBef>
                <a:spcPct val="0"/>
              </a:spcBef>
              <a:spcAft>
                <a:spcPct val="0"/>
              </a:spcAft>
              <a:buFont typeface="Arial" panose="020B0604020202020204" pitchFamily="34" charset="0"/>
              <a:buChar char="•"/>
            </a:pPr>
            <a:r>
              <a:rPr lang="en-US" altLang="en-US" sz="1600" b="1" dirty="0" err="1">
                <a:solidFill>
                  <a:schemeClr val="tx1"/>
                </a:solidFill>
                <a:latin typeface="Times New Roman" panose="02020603050405020304" pitchFamily="18" charset="0"/>
                <a:cs typeface="Times New Roman" panose="02020603050405020304" pitchFamily="18" charset="0"/>
              </a:rPr>
              <a:t>maxDepth</a:t>
            </a:r>
            <a:r>
              <a:rPr lang="en-US" altLang="en-US" sz="1600" b="1" dirty="0">
                <a:solidFill>
                  <a:schemeClr val="tx1"/>
                </a:solidFill>
                <a:latin typeface="Times New Roman" panose="02020603050405020304" pitchFamily="18" charset="0"/>
                <a:cs typeface="Times New Roman" panose="02020603050405020304" pitchFamily="18" charset="0"/>
              </a:rPr>
              <a:t>(3)</a:t>
            </a:r>
            <a:r>
              <a:rPr lang="en-US" altLang="en-US" sz="1600" dirty="0">
                <a:solidFill>
                  <a:schemeClr val="tx1"/>
                </a:solidFill>
                <a:latin typeface="Times New Roman" panose="02020603050405020304" pitchFamily="18" charset="0"/>
                <a:cs typeface="Times New Roman" panose="02020603050405020304" pitchFamily="18" charset="0"/>
              </a:rPr>
              <a:t> </a:t>
            </a:r>
            <a:r>
              <a:rPr lang="en-US" altLang="en-US" sz="1600" b="1" dirty="0">
                <a:solidFill>
                  <a:schemeClr val="tx1"/>
                </a:solidFill>
                <a:latin typeface="Times New Roman" panose="02020603050405020304" pitchFamily="18" charset="0"/>
                <a:cs typeface="Times New Roman" panose="02020603050405020304" pitchFamily="18" charset="0"/>
              </a:rPr>
              <a:t>→ leaf </a:t>
            </a:r>
            <a:r>
              <a:rPr lang="en-US" altLang="en-US" sz="1600" dirty="0">
                <a:solidFill>
                  <a:schemeClr val="tx1"/>
                </a:solidFill>
                <a:latin typeface="Times New Roman" panose="02020603050405020304" pitchFamily="18" charset="0"/>
                <a:cs typeface="Times New Roman" panose="02020603050405020304" pitchFamily="18" charset="0"/>
              </a:rPr>
              <a:t>→ returns 0</a:t>
            </a:r>
          </a:p>
          <a:p>
            <a:pPr marL="1257300" lvl="2" indent="-342900" eaLnBrk="0" fontAlgn="base" hangingPunct="0">
              <a:spcBef>
                <a:spcPct val="0"/>
              </a:spcBef>
              <a:spcAft>
                <a:spcPct val="0"/>
              </a:spcAft>
              <a:buFont typeface="Arial" panose="020B0604020202020204" pitchFamily="34" charset="0"/>
              <a:buChar char="•"/>
            </a:pPr>
            <a:r>
              <a:rPr lang="en-US" altLang="en-US" sz="1600" b="1" dirty="0" err="1">
                <a:solidFill>
                  <a:schemeClr val="tx1"/>
                </a:solidFill>
                <a:latin typeface="Times New Roman" panose="02020603050405020304" pitchFamily="18" charset="0"/>
                <a:cs typeface="Times New Roman" panose="02020603050405020304" pitchFamily="18" charset="0"/>
              </a:rPr>
              <a:t>maxDepth</a:t>
            </a:r>
            <a:r>
              <a:rPr lang="en-US" altLang="en-US" sz="1600" b="1" dirty="0">
                <a:solidFill>
                  <a:schemeClr val="tx1"/>
                </a:solidFill>
                <a:latin typeface="Times New Roman" panose="02020603050405020304" pitchFamily="18" charset="0"/>
                <a:cs typeface="Times New Roman" panose="02020603050405020304" pitchFamily="18" charset="0"/>
              </a:rPr>
              <a:t>(1) → leaf </a:t>
            </a:r>
            <a:r>
              <a:rPr lang="en-US" altLang="en-US" sz="1600" dirty="0">
                <a:solidFill>
                  <a:schemeClr val="tx1"/>
                </a:solidFill>
                <a:latin typeface="Times New Roman" panose="02020603050405020304" pitchFamily="18" charset="0"/>
                <a:cs typeface="Times New Roman" panose="02020603050405020304" pitchFamily="18" charset="0"/>
              </a:rPr>
              <a:t>→ returns 0</a:t>
            </a:r>
          </a:p>
          <a:p>
            <a:pPr marL="1257300" lvl="2" indent="-342900" eaLnBrk="0" fontAlgn="base" hangingPunct="0">
              <a:spcBef>
                <a:spcPct val="0"/>
              </a:spcBef>
              <a:spcAft>
                <a:spcPct val="0"/>
              </a:spcAft>
              <a:buFont typeface="Arial" panose="020B0604020202020204" pitchFamily="34" charset="0"/>
              <a:buChar char="•"/>
            </a:pPr>
            <a:r>
              <a:rPr lang="en-US" altLang="en-US" sz="1600" dirty="0">
                <a:solidFill>
                  <a:schemeClr val="tx1"/>
                </a:solidFill>
                <a:latin typeface="Times New Roman" panose="02020603050405020304" pitchFamily="18" charset="0"/>
                <a:cs typeface="Times New Roman" panose="02020603050405020304" pitchFamily="18" charset="0"/>
              </a:rPr>
              <a:t>So </a:t>
            </a:r>
            <a:r>
              <a:rPr lang="en-US" altLang="en-US" sz="1600" b="1" dirty="0" err="1">
                <a:solidFill>
                  <a:schemeClr val="tx1"/>
                </a:solidFill>
                <a:latin typeface="Times New Roman" panose="02020603050405020304" pitchFamily="18" charset="0"/>
                <a:cs typeface="Times New Roman" panose="02020603050405020304" pitchFamily="18" charset="0"/>
              </a:rPr>
              <a:t>rdepth</a:t>
            </a:r>
            <a:r>
              <a:rPr lang="en-US" altLang="en-US" sz="1600" b="1" dirty="0">
                <a:solidFill>
                  <a:schemeClr val="tx1"/>
                </a:solidFill>
                <a:latin typeface="Times New Roman" panose="02020603050405020304" pitchFamily="18" charset="0"/>
                <a:cs typeface="Times New Roman" panose="02020603050405020304" pitchFamily="18" charset="0"/>
              </a:rPr>
              <a:t> = max(0,0)+1 = 1</a:t>
            </a:r>
          </a:p>
          <a:p>
            <a:pPr marL="342900" lvl="0" indent="-342900" eaLnBrk="0" fontAlgn="base" hangingPunct="0">
              <a:spcBef>
                <a:spcPct val="0"/>
              </a:spcBef>
              <a:spcAft>
                <a:spcPct val="0"/>
              </a:spcAft>
              <a:buFont typeface="+mj-lt"/>
              <a:buAutoNum type="arabicPeriod"/>
            </a:pPr>
            <a:endParaRPr lang="en-US" altLang="en-US" sz="16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mj-lt"/>
              <a:buAutoNum type="arabicPeriod"/>
            </a:pPr>
            <a:r>
              <a:rPr lang="en-US" altLang="en-US" sz="1600" dirty="0">
                <a:solidFill>
                  <a:schemeClr val="tx1"/>
                </a:solidFill>
                <a:latin typeface="Times New Roman" panose="02020603050405020304" pitchFamily="18" charset="0"/>
                <a:cs typeface="Times New Roman" panose="02020603050405020304" pitchFamily="18" charset="0"/>
              </a:rPr>
              <a:t>For root </a:t>
            </a:r>
            <a:r>
              <a:rPr lang="en-US" altLang="en-US" sz="1600" b="1" dirty="0">
                <a:solidFill>
                  <a:schemeClr val="tx1"/>
                </a:solidFill>
                <a:latin typeface="Times New Roman" panose="02020603050405020304" pitchFamily="18" charset="0"/>
                <a:cs typeface="Times New Roman" panose="02020603050405020304" pitchFamily="18" charset="0"/>
              </a:rPr>
              <a:t>4</a:t>
            </a:r>
            <a:r>
              <a:rPr lang="en-US" altLang="en-US" sz="1600" dirty="0">
                <a:solidFill>
                  <a:schemeClr val="tx1"/>
                </a:solidFill>
                <a:latin typeface="Times New Roman" panose="02020603050405020304" pitchFamily="18" charset="0"/>
                <a:cs typeface="Times New Roman" panose="02020603050405020304" pitchFamily="18" charset="0"/>
              </a:rPr>
              <a:t>, </a:t>
            </a:r>
            <a:r>
              <a:rPr lang="en-US" altLang="en-US" sz="1600" b="1" dirty="0">
                <a:solidFill>
                  <a:schemeClr val="tx1"/>
                </a:solidFill>
                <a:latin typeface="Times New Roman" panose="02020603050405020304" pitchFamily="18" charset="0"/>
                <a:cs typeface="Times New Roman" panose="02020603050405020304" pitchFamily="18" charset="0"/>
              </a:rPr>
              <a:t>max(</a:t>
            </a:r>
            <a:r>
              <a:rPr lang="en-US" altLang="en-US" sz="1600" b="1" dirty="0" err="1">
                <a:solidFill>
                  <a:schemeClr val="tx1"/>
                </a:solidFill>
                <a:latin typeface="Times New Roman" panose="02020603050405020304" pitchFamily="18" charset="0"/>
                <a:cs typeface="Times New Roman" panose="02020603050405020304" pitchFamily="18" charset="0"/>
              </a:rPr>
              <a:t>ldepth</a:t>
            </a:r>
            <a:r>
              <a:rPr lang="en-US" altLang="en-US" sz="1600" b="1" dirty="0">
                <a:solidFill>
                  <a:schemeClr val="tx1"/>
                </a:solidFill>
                <a:latin typeface="Times New Roman" panose="02020603050405020304" pitchFamily="18" charset="0"/>
                <a:cs typeface="Times New Roman" panose="02020603050405020304" pitchFamily="18" charset="0"/>
              </a:rPr>
              <a:t>, </a:t>
            </a:r>
            <a:r>
              <a:rPr lang="en-US" altLang="en-US" sz="1600" b="1" dirty="0" err="1">
                <a:solidFill>
                  <a:schemeClr val="tx1"/>
                </a:solidFill>
                <a:latin typeface="Times New Roman" panose="02020603050405020304" pitchFamily="18" charset="0"/>
                <a:cs typeface="Times New Roman" panose="02020603050405020304" pitchFamily="18" charset="0"/>
              </a:rPr>
              <a:t>rdepth</a:t>
            </a:r>
            <a:r>
              <a:rPr lang="en-US" altLang="en-US" sz="1600" b="1" dirty="0">
                <a:solidFill>
                  <a:schemeClr val="tx1"/>
                </a:solidFill>
                <a:latin typeface="Times New Roman" panose="02020603050405020304" pitchFamily="18" charset="0"/>
                <a:cs typeface="Times New Roman" panose="02020603050405020304" pitchFamily="18" charset="0"/>
              </a:rPr>
              <a:t>)+1 = max(0,1)+1 = 2</a:t>
            </a:r>
          </a:p>
          <a:p>
            <a:pPr lvl="0" eaLnBrk="0" fontAlgn="base" hangingPunct="0">
              <a:spcBef>
                <a:spcPct val="0"/>
              </a:spcBef>
              <a:spcAft>
                <a:spcPct val="0"/>
              </a:spcAft>
            </a:pPr>
            <a:endParaRPr lang="en-US" altLang="en-US" sz="16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600" dirty="0">
                <a:solidFill>
                  <a:schemeClr val="tx1"/>
                </a:solidFill>
                <a:latin typeface="Times New Roman" panose="02020603050405020304" pitchFamily="18" charset="0"/>
                <a:cs typeface="Times New Roman" panose="02020603050405020304" pitchFamily="18" charset="0"/>
              </a:rPr>
              <a:t>The maximum depth of the tree is </a:t>
            </a:r>
            <a:r>
              <a:rPr lang="en-US" altLang="en-US" sz="1600" b="1" dirty="0">
                <a:solidFill>
                  <a:schemeClr val="tx1"/>
                </a:solidFill>
                <a:latin typeface="Times New Roman" panose="02020603050405020304" pitchFamily="18" charset="0"/>
                <a:cs typeface="Times New Roman" panose="02020603050405020304" pitchFamily="18" charset="0"/>
              </a:rPr>
              <a:t>2 edges </a:t>
            </a:r>
            <a:r>
              <a:rPr lang="en-US" altLang="en-US" sz="1600" dirty="0">
                <a:solidFill>
                  <a:schemeClr val="tx1"/>
                </a:solidFill>
                <a:latin typeface="Times New Roman" panose="02020603050405020304" pitchFamily="18" charset="0"/>
                <a:cs typeface="Times New Roman" panose="02020603050405020304" pitchFamily="18" charset="0"/>
              </a:rPr>
              <a:t>(or 3 nodes if counting nodes).</a:t>
            </a:r>
          </a:p>
        </p:txBody>
      </p:sp>
    </p:spTree>
    <p:extLst>
      <p:ext uri="{BB962C8B-B14F-4D97-AF65-F5344CB8AC3E}">
        <p14:creationId xmlns:p14="http://schemas.microsoft.com/office/powerpoint/2010/main" val="24548500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solidFill>
          <a:schemeClr val="bg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spPr>
      <a:bodyPr rtlCol="0">
        <a:normAutofit/>
      </a:bodyPr>
      <a:lstStyle>
        <a:defPPr algn="l" eaLnBrk="1" fontAlgn="auto" hangingPunct="1">
          <a:spcAft>
            <a:spcPts val="0"/>
          </a:spcAft>
          <a:buFont typeface="Arial"/>
          <a:buChar char="•"/>
          <a:defRPr sz="2800" i="1" dirty="0">
            <a:solidFill>
              <a:schemeClr val="tx2"/>
            </a:solidFill>
            <a:latin typeface="Verdana" panose="020B0604030504040204" pitchFamily="34" charset="0"/>
            <a:ea typeface="Verdana" panose="020B0604030504040204" pitchFamily="34" charset="0"/>
            <a:cs typeface="+mn-cs"/>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3220</Words>
  <Application>Microsoft Office PowerPoint</Application>
  <PresentationFormat>Widescreen</PresentationFormat>
  <Paragraphs>1247</Paragraphs>
  <Slides>69</Slides>
  <Notes>69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69</vt:i4>
      </vt:variant>
    </vt:vector>
  </HeadingPairs>
  <TitlesOfParts>
    <vt:vector size="79" baseType="lpstr">
      <vt:lpstr>MS PGothic</vt:lpstr>
      <vt:lpstr>MS PGothic</vt:lpstr>
      <vt:lpstr>Arial</vt:lpstr>
      <vt:lpstr>Calibri</vt:lpstr>
      <vt:lpstr>Consolas</vt:lpstr>
      <vt:lpstr>Courier New</vt:lpstr>
      <vt:lpstr>Times</vt:lpstr>
      <vt:lpstr>Times New Roman</vt:lpstr>
      <vt:lpstr>Verdana</vt:lpstr>
      <vt:lpstr>Office Theme</vt:lpstr>
      <vt:lpstr>Data Structures &amp; Algorithms in Python  Binary Trees – Tutorial Answers  Dr. Owen Noel Newton Fernando </vt:lpstr>
      <vt:lpstr>Q01</vt:lpstr>
      <vt:lpstr>Q01 - Answer</vt:lpstr>
      <vt:lpstr>Q01 - Answer</vt:lpstr>
      <vt:lpstr>Q01 - Answer</vt:lpstr>
      <vt:lpstr>Q01 - Answer</vt:lpstr>
      <vt:lpstr>Q01 - Answer</vt:lpstr>
      <vt:lpstr>Q01 - Answer</vt:lpstr>
      <vt:lpstr>Q01 - Answer</vt:lpstr>
      <vt:lpstr>Q01 - Answer</vt:lpstr>
      <vt:lpstr>Q02</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Q02 - Answer</vt:lpstr>
      <vt:lpstr>Q03</vt:lpstr>
      <vt:lpstr>Q03 - Answer</vt:lpstr>
      <vt:lpstr>Q03 - Answer</vt:lpstr>
      <vt:lpstr>Q03 - Answer</vt:lpstr>
      <vt:lpstr>Q03 - Answer</vt:lpstr>
      <vt:lpstr>Q03 - Answer</vt:lpstr>
      <vt:lpstr>Q03 - Answer</vt:lpstr>
      <vt:lpstr>Q03 - Answer</vt:lpstr>
      <vt:lpstr>Q03 - Answer</vt:lpstr>
      <vt:lpstr>Q03 - Answer</vt:lpstr>
      <vt:lpstr>Q03 - Answer</vt:lpstr>
      <vt:lpstr>Q03 - Answer</vt:lpstr>
      <vt:lpstr>Q03 - Answer</vt:lpstr>
      <vt:lpstr>Q03 - Answer</vt:lpstr>
      <vt:lpstr>Q03 - Answer</vt:lpstr>
      <vt:lpstr>Q03 - Answer</vt:lpstr>
      <vt:lpstr>Q03 - Answer</vt:lpstr>
      <vt:lpstr>Q03 - Answer</vt:lpstr>
      <vt:lpstr>Q03 - Answer</vt:lpstr>
      <vt:lpstr>Q04</vt:lpstr>
      <vt:lpstr>Q04 - Answer</vt:lpstr>
      <vt:lpstr>Q04 - Answer</vt:lpstr>
      <vt:lpstr>Q04 - Answer</vt:lpstr>
      <vt:lpstr>Q04 - Answer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&amp; Algorithms in Python  Chapter 01 – Overview  Dr. Owen Noel Newton Fernando </dc:title>
  <dc:creator>Thisura Embuldeniya</dc:creator>
  <cp:lastModifiedBy>Thisura Embuldeniya</cp:lastModifiedBy>
  <cp:revision>319</cp:revision>
  <dcterms:created xsi:type="dcterms:W3CDTF">2024-09-01T19:11:44Z</dcterms:created>
  <dcterms:modified xsi:type="dcterms:W3CDTF">2025-08-23T11:22:54Z</dcterms:modified>
</cp:coreProperties>
</file>