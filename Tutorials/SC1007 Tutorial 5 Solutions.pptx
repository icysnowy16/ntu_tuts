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73" r:id="rId2"/>
    <p:sldId id="258" r:id="rId3"/>
    <p:sldId id="259" r:id="rId4"/>
    <p:sldId id="260" r:id="rId5"/>
    <p:sldId id="257" r:id="rId6"/>
    <p:sldId id="274" r:id="rId7"/>
    <p:sldId id="275" r:id="rId8"/>
    <p:sldId id="263" r:id="rId9"/>
    <p:sldId id="276" r:id="rId10"/>
    <p:sldId id="277" r:id="rId11"/>
    <p:sldId id="278" r:id="rId12"/>
    <p:sldId id="283" r:id="rId13"/>
    <p:sldId id="279" r:id="rId14"/>
    <p:sldId id="280" r:id="rId15"/>
    <p:sldId id="2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DEC4-261B-FC0B-FB68-DC4447BC8F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F1114-CF63-8E78-66AF-0E0D11121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A687A-464E-EF79-2B79-454561EAB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8002D-D4ED-55BC-9D5C-063DB7F72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B664E-251F-71E7-0620-95850145E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131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DEC8-F33A-8C82-46A5-770B1E930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9614C-BE03-C077-52B3-209560EC5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203C8-C60B-246C-07BA-EA35FA62E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24795-0301-7E9E-77FE-D30297D6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9B747-DD6F-5900-9B39-A6F716EF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51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D3FCC-6D29-E400-B053-E9790EA72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8E661-8B90-CD5D-2B27-583CA41FD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40182-316B-4706-9337-D90CB1315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E6773-9925-61DA-FF35-39E15B7DB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0F76B-85E2-7D32-19A5-B20CB7235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37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D644A-DEFF-2AE8-2C4C-084F6861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C6816-05A7-73A8-7F37-00E903AF1D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A2D89-FB3F-D949-8E5D-8F90A625E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9BC26-CBB0-29EC-9220-F07AED4FB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9BF6E-C76A-BCAA-AC77-138B0B3B4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24E606-29BE-19DD-FCDD-2F7D20E89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768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49CB1-16F5-E3BC-F507-0A1C016D0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55368-E330-FA03-8F76-0BD6A7A7C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243F1-5F30-D57B-3B19-12387F331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BE27D4-0905-E30B-8F95-33EEC6BB6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BDDEE5-9082-2BA8-8554-14DB38702B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5C51-0E4A-DA8E-B4ED-A07D0A3EB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0B90DE-D623-A798-AEBA-F8C7D3AA4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F4BE1F-2DDA-6E77-5518-A4679BAD4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561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1F45B-11AD-6276-9D6E-86F05637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C3C333-20C5-BA04-8DE2-57A7C4E8E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97B48D-C733-AAFB-ABAF-2FB00CDA3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8706A3-2C72-A1A6-7F97-A124D6788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544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23D72A-17FE-3418-C4CC-6FAA7CECB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8378F-DEDC-5B28-D7BD-0A54E779E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1E8C8-436C-9487-571B-37DFA511F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048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27A5C-C76C-227D-FFB4-0375E3345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036A3-989C-0E41-3162-E473AADFB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82BE22-629A-86CC-96D5-584BFB7A0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F66E0-7E06-85F3-1467-78DC6B5A0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34939-5989-E2B3-BF92-E6BE2DB41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05EBD-E162-46EF-D986-2C9824F3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36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AC5D0-A4FC-F38D-7009-E8270851A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50A0B0-BDE8-AFF8-A299-0015E74A75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7DE3B-0D3D-9F77-3C83-C378E13A8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795CF-10B3-D70D-8D98-CD722830E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3C1A1-DA44-8D30-9678-5A8F052A5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98BCB-F6BB-36A0-EBD3-3740005C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47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AB498-16E9-817E-6DEE-FB905F8D5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963916-3E28-F2EA-B035-117A1F1D7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3F107-D826-3217-D80A-442893BFB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ECB12-2385-8148-3F2B-DF1492D5F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3ED14-8294-54DC-811D-A0B6EEE77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94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0D3707-8025-7867-781F-989F54F9D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4E1A1-19DB-02B4-1451-43DC21AB2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545F7-F116-CB7D-11EC-7BEA56F9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744E7-EC51-DA50-2649-20F4C4AFB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9627A-83C7-2288-768D-3B92E00A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33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AD413C-EF5A-D9F4-F60C-FDE54CFFB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FF7F4-B846-8D08-41E6-BE7EC251B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6E79B-6A73-A7C5-0000-1C94462E0B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D92BC-42A9-434B-8530-ADBF4485E407}" type="datetimeFigureOut">
              <a:rPr lang="en-US" smtClean="0"/>
              <a:pPr/>
              <a:t>11/1/25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25800-9978-F942-A976-481792952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397E3-599C-ACCE-20C7-83BD52966C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89F9E-9962-4B7B-BA18-A15907CCC6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947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05FC0D-999B-234F-0C26-96DB59FB9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39066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SC1007</a:t>
            </a: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b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Tutorial 5: Hash Table</a:t>
            </a:r>
            <a:endParaRPr lang="en-SG" sz="4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8531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C854-DABD-FE12-9BE7-43BB4E525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303" y="186195"/>
            <a:ext cx="10515600" cy="1325563"/>
          </a:xfrm>
        </p:spPr>
        <p:txBody>
          <a:bodyPr/>
          <a:lstStyle/>
          <a:p>
            <a:r>
              <a:rPr lang="en-SG" dirty="0"/>
              <a:t>Hash table (review)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679A9F-E650-DFE1-1F87-27C4FF2205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0228" y="1435558"/>
            <a:ext cx="10361211" cy="5063213"/>
          </a:xfrm>
        </p:spPr>
      </p:pic>
    </p:spTree>
    <p:extLst>
      <p:ext uri="{BB962C8B-B14F-4D97-AF65-F5344CB8AC3E}">
        <p14:creationId xmlns:p14="http://schemas.microsoft.com/office/powerpoint/2010/main" val="1555662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BE2096-7839-C082-1E24-DDC18E5EF5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1835" y="643467"/>
            <a:ext cx="9948329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5118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DB70D-968A-3644-C51F-24847C299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Open Addressing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A19CD-658F-2BEE-714A-6777DC63C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Keys are stored in the table itself </a:t>
            </a:r>
          </a:p>
          <a:p>
            <a:r>
              <a:rPr lang="en-SG" dirty="0"/>
              <a:t>When collision occurs, probe is required for the alternate slot </a:t>
            </a:r>
          </a:p>
          <a:p>
            <a:pPr lvl="1"/>
            <a:r>
              <a:rPr lang="en-SG" dirty="0"/>
              <a:t>Linear Probing</a:t>
            </a:r>
          </a:p>
          <a:p>
            <a:pPr lvl="2"/>
            <a:r>
              <a:rPr lang="en-SG" dirty="0"/>
              <a:t>H(</a:t>
            </a:r>
            <a:r>
              <a:rPr lang="en-SG" dirty="0" err="1"/>
              <a:t>k,i</a:t>
            </a:r>
            <a:r>
              <a:rPr lang="en-SG" dirty="0"/>
              <a:t>) = (H(k)+</a:t>
            </a:r>
            <a:r>
              <a:rPr lang="en-SG" dirty="0" err="1"/>
              <a:t>i</a:t>
            </a:r>
            <a:r>
              <a:rPr lang="en-SG" dirty="0"/>
              <a:t>) mod h, </a:t>
            </a:r>
            <a:r>
              <a:rPr lang="en-SG" dirty="0" err="1"/>
              <a:t>i</a:t>
            </a:r>
            <a:r>
              <a:rPr lang="en-SG" dirty="0"/>
              <a:t> = 0, 1, 2,…, h-1</a:t>
            </a:r>
          </a:p>
          <a:p>
            <a:pPr lvl="1"/>
            <a:r>
              <a:rPr lang="en-SG" dirty="0"/>
              <a:t>Quadratic Probing</a:t>
            </a:r>
          </a:p>
          <a:p>
            <a:pPr lvl="2"/>
            <a:r>
              <a:rPr lang="en-SG" dirty="0"/>
              <a:t>H(</a:t>
            </a:r>
            <a:r>
              <a:rPr lang="en-SG" dirty="0" err="1"/>
              <a:t>k,i</a:t>
            </a:r>
            <a:r>
              <a:rPr lang="en-SG" dirty="0"/>
              <a:t>) = (H(k)+c</a:t>
            </a:r>
            <a:r>
              <a:rPr lang="en-SG" baseline="-25000" dirty="0"/>
              <a:t>1</a:t>
            </a:r>
            <a:r>
              <a:rPr lang="en-SG" dirty="0"/>
              <a:t>i+c</a:t>
            </a:r>
            <a:r>
              <a:rPr lang="en-SG" baseline="-25000" dirty="0"/>
              <a:t>2</a:t>
            </a:r>
            <a:r>
              <a:rPr lang="en-SG" dirty="0"/>
              <a:t>i</a:t>
            </a:r>
            <a:r>
              <a:rPr lang="en-SG" baseline="30000" dirty="0"/>
              <a:t>2</a:t>
            </a:r>
            <a:r>
              <a:rPr lang="en-SG" dirty="0"/>
              <a:t>) mod h, </a:t>
            </a:r>
            <a:r>
              <a:rPr lang="en-SG" dirty="0" err="1"/>
              <a:t>i</a:t>
            </a:r>
            <a:r>
              <a:rPr lang="en-SG" dirty="0"/>
              <a:t> = 0, 1, 2,…, h-1</a:t>
            </a:r>
          </a:p>
          <a:p>
            <a:pPr lvl="1"/>
            <a:r>
              <a:rPr lang="en-SG" dirty="0"/>
              <a:t>Double Hashing</a:t>
            </a:r>
          </a:p>
          <a:p>
            <a:pPr lvl="2"/>
            <a:r>
              <a:rPr lang="en-SG" dirty="0"/>
              <a:t>H(</a:t>
            </a:r>
            <a:r>
              <a:rPr lang="en-SG" dirty="0" err="1"/>
              <a:t>k,i</a:t>
            </a:r>
            <a:r>
              <a:rPr lang="en-SG" dirty="0"/>
              <a:t>) = (H(k)+</a:t>
            </a:r>
            <a:r>
              <a:rPr lang="en-SG" dirty="0" err="1"/>
              <a:t>iD</a:t>
            </a:r>
            <a:r>
              <a:rPr lang="en-SG" dirty="0"/>
              <a:t>(k)) mod h, </a:t>
            </a:r>
            <a:r>
              <a:rPr lang="en-SG" dirty="0" err="1"/>
              <a:t>i</a:t>
            </a:r>
            <a:r>
              <a:rPr lang="en-SG" dirty="0"/>
              <a:t> = 0, 1, 2,…, h-1</a:t>
            </a:r>
          </a:p>
        </p:txBody>
      </p:sp>
    </p:spTree>
    <p:extLst>
      <p:ext uri="{BB962C8B-B14F-4D97-AF65-F5344CB8AC3E}">
        <p14:creationId xmlns:p14="http://schemas.microsoft.com/office/powerpoint/2010/main" val="3399191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466B7-8A10-8111-06B7-8970D9BA8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162" y="62820"/>
            <a:ext cx="5458838" cy="1325563"/>
          </a:xfrm>
        </p:spPr>
        <p:txBody>
          <a:bodyPr>
            <a:normAutofit/>
          </a:bodyPr>
          <a:lstStyle/>
          <a:p>
            <a:r>
              <a:rPr lang="en-SG" b="1" dirty="0"/>
              <a:t>Q1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BEE5D-FB3A-8E12-E4EF-4ADC05ABD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2202" y="1305494"/>
            <a:ext cx="6504627" cy="5095872"/>
          </a:xfrm>
        </p:spPr>
        <p:txBody>
          <a:bodyPr>
            <a:normAutofit/>
          </a:bodyPr>
          <a:lstStyle/>
          <a:p>
            <a:r>
              <a:rPr lang="en-SG" sz="2400" dirty="0"/>
              <a:t>The type of a hash table </a:t>
            </a:r>
            <a:r>
              <a:rPr lang="en-SG" sz="2400" i="1" dirty="0"/>
              <a:t>H</a:t>
            </a:r>
            <a:r>
              <a:rPr lang="en-SG" sz="2400" dirty="0"/>
              <a:t> under closed addressing is an array of list references, and under open addressing is an array of keys. Assume a key requires one “word” of memory and a linked list node requires two words, one for the key and one for a list reference. </a:t>
            </a:r>
          </a:p>
          <a:p>
            <a:r>
              <a:rPr lang="en-SG" sz="2400" dirty="0"/>
              <a:t>Consider each of these load factors for closed addressing: 0.5, 1.0, 2.0. Estimate the total space requirement, including space for lists, under closed addressing</a:t>
            </a:r>
          </a:p>
          <a:p>
            <a:r>
              <a:rPr lang="en-SG" sz="2400" dirty="0"/>
              <a:t>Assuming that the same amount of space is used for an open addressing hash table, what are the corresponding load factors under open addressing?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76CDCB-C90A-B362-E01E-54B299ECF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2605"/>
            <a:ext cx="4777381" cy="509587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40713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DA2E5-A325-84BE-CF6F-13C7FB911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7FE68C-F229-5561-B088-553755A64B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83580" y="574005"/>
                <a:ext cx="6477850" cy="6305789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r>
                  <a:rPr lang="en-US" dirty="0"/>
                  <a:t>L</a:t>
                </a:r>
                <a:r>
                  <a:rPr lang="en-US" kern="1200" dirty="0">
                    <a:latin typeface="+mn-lt"/>
                    <a:ea typeface="+mn-ea"/>
                    <a:cs typeface="+mn-cs"/>
                  </a:rPr>
                  <a:t>et</a:t>
                </a:r>
                <a:r>
                  <a:rPr lang="en-US" i="1" kern="1200" dirty="0">
                    <a:latin typeface="+mn-lt"/>
                    <a:ea typeface="+mn-ea"/>
                    <a:cs typeface="+mn-cs"/>
                  </a:rPr>
                  <a:t> h </a:t>
                </a:r>
                <a:r>
                  <a:rPr lang="en-US" kern="1200" dirty="0">
                    <a:latin typeface="+mn-lt"/>
                    <a:ea typeface="+mn-ea"/>
                    <a:cs typeface="+mn-cs"/>
                  </a:rPr>
                  <a:t>be hash table size. There are </a:t>
                </a:r>
                <a:r>
                  <a:rPr lang="en-US" i="1" kern="1200" dirty="0">
                    <a:latin typeface="+mn-lt"/>
                    <a:ea typeface="+mn-ea"/>
                    <a:cs typeface="+mn-cs"/>
                  </a:rPr>
                  <a:t>h </a:t>
                </a:r>
                <a:r>
                  <a:rPr lang="en-US" kern="1200" dirty="0">
                    <a:latin typeface="+mn-lt"/>
                    <a:ea typeface="+mn-ea"/>
                    <a:cs typeface="+mn-cs"/>
                  </a:rPr>
                  <a:t>slots.</a:t>
                </a:r>
              </a:p>
              <a:p>
                <a:r>
                  <a:rPr lang="en-US" dirty="0"/>
                  <a:t>Load factor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endParaRPr lang="en-US" kern="1200" dirty="0">
                  <a:latin typeface="+mn-lt"/>
                  <a:ea typeface="+mn-ea"/>
                  <a:cs typeface="+mn-cs"/>
                </a:endParaRPr>
              </a:p>
              <a:p>
                <a:pPr marL="514350" indent="-514350">
                  <a:buAutoNum type="arabicPeriod"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=0.5, </m:t>
                    </m:r>
                  </m:oMath>
                </a14:m>
                <a:r>
                  <a:rPr lang="en-SG" b="0" dirty="0">
                    <a:ea typeface="Cambria Math" panose="02040503050406030204" pitchFamily="18" charset="0"/>
                  </a:rPr>
                  <a:t>under closed addressing</a:t>
                </a:r>
              </a:p>
              <a:p>
                <a:pPr lvl="1"/>
                <a:r>
                  <a:rPr lang="en-US" i="1" dirty="0"/>
                  <a:t>n</a:t>
                </a:r>
                <a:r>
                  <a:rPr lang="en-US" dirty="0"/>
                  <a:t>=0.5</a:t>
                </a:r>
                <a:r>
                  <a:rPr lang="en-US" i="1" dirty="0"/>
                  <a:t>h</a:t>
                </a:r>
                <a:r>
                  <a:rPr lang="en-US" dirty="0"/>
                  <a:t>, meaning there are 0.5</a:t>
                </a:r>
                <a:r>
                  <a:rPr lang="en-US" i="1" dirty="0"/>
                  <a:t>h</a:t>
                </a:r>
                <a:r>
                  <a:rPr lang="en-US" dirty="0"/>
                  <a:t> keys, which are 0.5</a:t>
                </a:r>
                <a:r>
                  <a:rPr lang="en-US" i="1" dirty="0"/>
                  <a:t>h </a:t>
                </a:r>
                <a:r>
                  <a:rPr lang="en-US" dirty="0"/>
                  <a:t>nodes. </a:t>
                </a:r>
              </a:p>
              <a:p>
                <a:pPr lvl="1"/>
                <a:r>
                  <a:rPr lang="en-US" dirty="0"/>
                  <a:t>Each node require 2 words. </a:t>
                </a:r>
              </a:p>
              <a:p>
                <a:pPr lvl="1"/>
                <a:r>
                  <a:rPr lang="en-US" dirty="0"/>
                  <a:t>Total space is </a:t>
                </a:r>
                <a14:m>
                  <m:oMath xmlns:m="http://schemas.openxmlformats.org/officeDocument/2006/math">
                    <m:r>
                      <a:rPr lang="en-SG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SG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=2×0.5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2.  When </a:t>
                </a:r>
                <a:r>
                  <a:rPr lang="el-GR" i="1" dirty="0"/>
                  <a:t>α</a:t>
                </a:r>
                <a:r>
                  <a:rPr lang="en-US" i="1" dirty="0"/>
                  <a:t>=</a:t>
                </a:r>
                <a:r>
                  <a:rPr lang="en-US" dirty="0"/>
                  <a:t>1</a:t>
                </a:r>
                <a:endParaRPr lang="en-US" i="1" dirty="0"/>
              </a:p>
              <a:p>
                <a:pPr lvl="1"/>
                <a:r>
                  <a:rPr lang="en-US" dirty="0"/>
                  <a:t>There are </a:t>
                </a:r>
                <a:r>
                  <a:rPr lang="en-US" i="1" dirty="0"/>
                  <a:t>h</a:t>
                </a:r>
                <a:r>
                  <a:rPr lang="en-US" dirty="0"/>
                  <a:t> nodes</a:t>
                </a:r>
              </a:p>
              <a:p>
                <a:pPr lvl="1"/>
                <a:r>
                  <a:rPr lang="en-US" dirty="0"/>
                  <a:t>Total space: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×2+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3.  When </a:t>
                </a:r>
                <a:r>
                  <a:rPr lang="el-GR" i="1" dirty="0"/>
                  <a:t>α</a:t>
                </a:r>
                <a:r>
                  <a:rPr lang="en-US" i="1" dirty="0"/>
                  <a:t>=2</a:t>
                </a:r>
              </a:p>
              <a:p>
                <a:pPr lvl="1"/>
                <a:r>
                  <a:rPr lang="en-US" dirty="0"/>
                  <a:t>There are 2</a:t>
                </a:r>
                <a:r>
                  <a:rPr lang="en-US" i="1" dirty="0"/>
                  <a:t>h</a:t>
                </a:r>
                <a:r>
                  <a:rPr lang="en-US" dirty="0"/>
                  <a:t> nodes</a:t>
                </a:r>
              </a:p>
              <a:p>
                <a:pPr lvl="1"/>
                <a:r>
                  <a:rPr lang="en-US" dirty="0"/>
                  <a:t>Total space: </a:t>
                </a:r>
                <a14:m>
                  <m:oMath xmlns:m="http://schemas.openxmlformats.org/officeDocument/2006/math">
                    <m:r>
                      <a:rPr lang="en-SG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×2+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kern="1200" dirty="0"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55B8C-54BF-5809-C5DD-24D63035C4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83580" y="574005"/>
                <a:ext cx="6477850" cy="6305789"/>
              </a:xfrm>
              <a:blipFill>
                <a:blip r:embed="rId2"/>
                <a:stretch>
                  <a:fillRect l="-1976" t="-1546" r="-122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877AC3D7-5036-F91C-67E6-4E32C749BDB1}"/>
              </a:ext>
            </a:extLst>
          </p:cNvPr>
          <p:cNvSpPr/>
          <p:nvPr/>
        </p:nvSpPr>
        <p:spPr>
          <a:xfrm>
            <a:off x="1981200" y="900571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1A7056-EFD9-6DE0-4D68-23B3DED208C9}"/>
              </a:ext>
            </a:extLst>
          </p:cNvPr>
          <p:cNvSpPr/>
          <p:nvPr/>
        </p:nvSpPr>
        <p:spPr>
          <a:xfrm>
            <a:off x="1981199" y="1401314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BB65AA-61CF-B62F-DB3B-1D391494AAD5}"/>
              </a:ext>
            </a:extLst>
          </p:cNvPr>
          <p:cNvSpPr/>
          <p:nvPr/>
        </p:nvSpPr>
        <p:spPr>
          <a:xfrm>
            <a:off x="1981199" y="1902057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4BCD34-C826-A5A4-827F-A525DDCCFDB5}"/>
              </a:ext>
            </a:extLst>
          </p:cNvPr>
          <p:cNvSpPr/>
          <p:nvPr/>
        </p:nvSpPr>
        <p:spPr>
          <a:xfrm>
            <a:off x="1981199" y="2402800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1A9714-5379-C332-6034-8F9B2A269357}"/>
              </a:ext>
            </a:extLst>
          </p:cNvPr>
          <p:cNvSpPr/>
          <p:nvPr/>
        </p:nvSpPr>
        <p:spPr>
          <a:xfrm>
            <a:off x="1981198" y="2903543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42A992-CC2E-F752-0CF6-DD666184CD95}"/>
              </a:ext>
            </a:extLst>
          </p:cNvPr>
          <p:cNvSpPr/>
          <p:nvPr/>
        </p:nvSpPr>
        <p:spPr>
          <a:xfrm>
            <a:off x="1981198" y="3404286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E0370E-85B9-A325-8ADC-9D99864B793E}"/>
              </a:ext>
            </a:extLst>
          </p:cNvPr>
          <p:cNvSpPr/>
          <p:nvPr/>
        </p:nvSpPr>
        <p:spPr>
          <a:xfrm>
            <a:off x="1981197" y="3905029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BEAFE3-E05B-8369-B620-AD3AAB2C27F4}"/>
              </a:ext>
            </a:extLst>
          </p:cNvPr>
          <p:cNvSpPr/>
          <p:nvPr/>
        </p:nvSpPr>
        <p:spPr>
          <a:xfrm>
            <a:off x="1981197" y="4405772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1AEFB4-D5CF-32DA-40B6-931914D1569D}"/>
              </a:ext>
            </a:extLst>
          </p:cNvPr>
          <p:cNvSpPr/>
          <p:nvPr/>
        </p:nvSpPr>
        <p:spPr>
          <a:xfrm>
            <a:off x="1981197" y="4906515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E59261-D74E-A632-7664-AF43F71942DA}"/>
              </a:ext>
            </a:extLst>
          </p:cNvPr>
          <p:cNvSpPr/>
          <p:nvPr/>
        </p:nvSpPr>
        <p:spPr>
          <a:xfrm>
            <a:off x="1981196" y="5407258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33C318-9F0D-EA4B-E7EF-30A6C324C36F}"/>
              </a:ext>
            </a:extLst>
          </p:cNvPr>
          <p:cNvSpPr/>
          <p:nvPr/>
        </p:nvSpPr>
        <p:spPr>
          <a:xfrm>
            <a:off x="2841172" y="984718"/>
            <a:ext cx="674914" cy="416596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74EB08D-B5B7-AA70-F17E-13A319C80FB7}"/>
              </a:ext>
            </a:extLst>
          </p:cNvPr>
          <p:cNvCxnSpPr>
            <a:stCxn id="31" idx="0"/>
            <a:endCxn id="31" idx="2"/>
          </p:cNvCxnSpPr>
          <p:nvPr/>
        </p:nvCxnSpPr>
        <p:spPr>
          <a:xfrm>
            <a:off x="3178629" y="984718"/>
            <a:ext cx="0" cy="4165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B19DB6F-0947-EB5B-6D61-DD4112DE84E1}"/>
              </a:ext>
            </a:extLst>
          </p:cNvPr>
          <p:cNvSpPr/>
          <p:nvPr/>
        </p:nvSpPr>
        <p:spPr>
          <a:xfrm>
            <a:off x="2841172" y="1986204"/>
            <a:ext cx="674914" cy="416596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BB81E6E-23D6-12F7-7F71-119DE69A63BC}"/>
              </a:ext>
            </a:extLst>
          </p:cNvPr>
          <p:cNvCxnSpPr>
            <a:stCxn id="34" idx="0"/>
            <a:endCxn id="34" idx="2"/>
          </p:cNvCxnSpPr>
          <p:nvPr/>
        </p:nvCxnSpPr>
        <p:spPr>
          <a:xfrm>
            <a:off x="3178629" y="1986204"/>
            <a:ext cx="0" cy="4165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9CBDE6B-0384-731B-A78B-DBC9F6699B86}"/>
              </a:ext>
            </a:extLst>
          </p:cNvPr>
          <p:cNvSpPr/>
          <p:nvPr/>
        </p:nvSpPr>
        <p:spPr>
          <a:xfrm>
            <a:off x="4027715" y="984718"/>
            <a:ext cx="674914" cy="416596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6AC5DDA-9AE7-BB7C-B4A0-4FDBB89DE135}"/>
              </a:ext>
            </a:extLst>
          </p:cNvPr>
          <p:cNvCxnSpPr>
            <a:stCxn id="36" idx="0"/>
            <a:endCxn id="36" idx="2"/>
          </p:cNvCxnSpPr>
          <p:nvPr/>
        </p:nvCxnSpPr>
        <p:spPr>
          <a:xfrm>
            <a:off x="4365172" y="984718"/>
            <a:ext cx="0" cy="4165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1D2D12E-18E0-CC75-CB1D-72E7594D1EC4}"/>
              </a:ext>
            </a:extLst>
          </p:cNvPr>
          <p:cNvSpPr/>
          <p:nvPr/>
        </p:nvSpPr>
        <p:spPr>
          <a:xfrm>
            <a:off x="2841172" y="3404286"/>
            <a:ext cx="674914" cy="416596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E2C9166-EE0D-203B-74E0-417E23042B34}"/>
              </a:ext>
            </a:extLst>
          </p:cNvPr>
          <p:cNvCxnSpPr>
            <a:stCxn id="38" idx="0"/>
            <a:endCxn id="38" idx="2"/>
          </p:cNvCxnSpPr>
          <p:nvPr/>
        </p:nvCxnSpPr>
        <p:spPr>
          <a:xfrm>
            <a:off x="3178629" y="3404286"/>
            <a:ext cx="0" cy="4165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2DCCC9F8-3ABB-CFA3-844D-A808751A033C}"/>
              </a:ext>
            </a:extLst>
          </p:cNvPr>
          <p:cNvSpPr/>
          <p:nvPr/>
        </p:nvSpPr>
        <p:spPr>
          <a:xfrm>
            <a:off x="2841172" y="3989176"/>
            <a:ext cx="674914" cy="416596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3DF1D76-E71B-E695-EF32-6B0AC545A5C4}"/>
              </a:ext>
            </a:extLst>
          </p:cNvPr>
          <p:cNvCxnSpPr>
            <a:cxnSpLocks/>
            <a:stCxn id="40" idx="0"/>
            <a:endCxn id="40" idx="2"/>
          </p:cNvCxnSpPr>
          <p:nvPr/>
        </p:nvCxnSpPr>
        <p:spPr>
          <a:xfrm>
            <a:off x="3178629" y="3989176"/>
            <a:ext cx="0" cy="4165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C35F470-4D97-A028-560E-93C74B8843BB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2207820" y="1193016"/>
            <a:ext cx="63335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DCD7FBE-3256-805E-F061-C047392CF11C}"/>
              </a:ext>
            </a:extLst>
          </p:cNvPr>
          <p:cNvCxnSpPr>
            <a:cxnSpLocks/>
          </p:cNvCxnSpPr>
          <p:nvPr/>
        </p:nvCxnSpPr>
        <p:spPr>
          <a:xfrm>
            <a:off x="3394363" y="1193016"/>
            <a:ext cx="63335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D08A5E2-A6EB-6FE5-3A5A-26CC36A3A4D9}"/>
              </a:ext>
            </a:extLst>
          </p:cNvPr>
          <p:cNvCxnSpPr>
            <a:cxnSpLocks/>
          </p:cNvCxnSpPr>
          <p:nvPr/>
        </p:nvCxnSpPr>
        <p:spPr>
          <a:xfrm>
            <a:off x="2207820" y="2172730"/>
            <a:ext cx="63335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F3F4423-5963-4559-530D-5F2D45DC49AF}"/>
              </a:ext>
            </a:extLst>
          </p:cNvPr>
          <p:cNvCxnSpPr>
            <a:cxnSpLocks/>
          </p:cNvCxnSpPr>
          <p:nvPr/>
        </p:nvCxnSpPr>
        <p:spPr>
          <a:xfrm>
            <a:off x="2207820" y="3653187"/>
            <a:ext cx="63335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12B3F77-32F9-5008-E84E-CB0E5DF770DD}"/>
              </a:ext>
            </a:extLst>
          </p:cNvPr>
          <p:cNvCxnSpPr>
            <a:cxnSpLocks/>
          </p:cNvCxnSpPr>
          <p:nvPr/>
        </p:nvCxnSpPr>
        <p:spPr>
          <a:xfrm>
            <a:off x="2207820" y="4197473"/>
            <a:ext cx="63335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Left Brace 48">
            <a:extLst>
              <a:ext uri="{FF2B5EF4-FFF2-40B4-BE49-F238E27FC236}">
                <a16:creationId xmlns:a16="http://schemas.microsoft.com/office/drawing/2014/main" id="{C7F9BC02-0B1B-86B9-292D-0A850805708E}"/>
              </a:ext>
            </a:extLst>
          </p:cNvPr>
          <p:cNvSpPr/>
          <p:nvPr/>
        </p:nvSpPr>
        <p:spPr>
          <a:xfrm>
            <a:off x="1360714" y="984718"/>
            <a:ext cx="522514" cy="4762934"/>
          </a:xfrm>
          <a:prstGeom prst="leftBrace">
            <a:avLst/>
          </a:prstGeom>
          <a:ln w="19050">
            <a:solidFill>
              <a:srgbClr val="99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173D4F7-8889-0277-EBCA-A23BF1E2BC3F}"/>
              </a:ext>
            </a:extLst>
          </p:cNvPr>
          <p:cNvSpPr txBox="1"/>
          <p:nvPr/>
        </p:nvSpPr>
        <p:spPr>
          <a:xfrm>
            <a:off x="370115" y="2967335"/>
            <a:ext cx="1216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10 slots, requiring 10 words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8B22C3-81A1-7EFE-D938-E4E7F19A85DA}"/>
              </a:ext>
            </a:extLst>
          </p:cNvPr>
          <p:cNvSpPr txBox="1"/>
          <p:nvPr/>
        </p:nvSpPr>
        <p:spPr>
          <a:xfrm>
            <a:off x="2733305" y="574005"/>
            <a:ext cx="977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2 words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F130A56-982F-B496-4E80-31EAD77D4B78}"/>
              </a:ext>
            </a:extLst>
          </p:cNvPr>
          <p:cNvSpPr/>
          <p:nvPr/>
        </p:nvSpPr>
        <p:spPr>
          <a:xfrm>
            <a:off x="5733732" y="5843565"/>
            <a:ext cx="4085181" cy="440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C2C9FB5-455F-21FF-573A-0B8740A6E288}"/>
                  </a:ext>
                </a:extLst>
              </p:cNvPr>
              <p:cNvSpPr txBox="1"/>
              <p:nvPr/>
            </p:nvSpPr>
            <p:spPr>
              <a:xfrm>
                <a:off x="1586347" y="6331857"/>
                <a:ext cx="17832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0F0534F-73E7-AC3F-EF03-2332B97D2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347" y="6331857"/>
                <a:ext cx="178327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145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1781C-85EF-17AB-519B-FCC580DCB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4FDDA5-DD50-FA1C-631B-EAE7CC21D7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52800" y="639875"/>
                <a:ext cx="8523514" cy="5578249"/>
              </a:xfrm>
            </p:spPr>
            <p:txBody>
              <a:bodyPr>
                <a:normAutofit/>
              </a:bodyPr>
              <a:lstStyle/>
              <a:p>
                <a:r>
                  <a:rPr lang="en-SG" dirty="0"/>
                  <a:t>A</a:t>
                </a:r>
                <a:r>
                  <a:rPr lang="en-SG" sz="2800" dirty="0"/>
                  <a:t>ssuming that the same amount of space is used for an open addressing hash table, what are the corresponding load factors under open addressing?</a:t>
                </a:r>
              </a:p>
              <a:p>
                <a:pPr marL="514350" indent="-514350">
                  <a:buAutoNum type="arabicPeriod"/>
                </a:pPr>
                <a:r>
                  <a:rPr lang="en-SG" sz="2800" dirty="0"/>
                  <a:t>When there are 0.5</a:t>
                </a:r>
                <a:r>
                  <a:rPr lang="en-SG" sz="2800" i="1" dirty="0"/>
                  <a:t>h</a:t>
                </a:r>
                <a:r>
                  <a:rPr lang="en-SG" sz="2800" dirty="0"/>
                  <a:t> keys, and given 2</a:t>
                </a:r>
                <a:r>
                  <a:rPr lang="en-SG" sz="2800" i="1" dirty="0"/>
                  <a:t>h</a:t>
                </a:r>
                <a:r>
                  <a:rPr lang="en-SG" sz="2800" dirty="0"/>
                  <a:t> space, the corresponding load factor under open addressing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SG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sz="2800" b="0" i="1" smtClean="0">
                            <a:latin typeface="Cambria Math" panose="02040503050406030204" pitchFamily="18" charset="0"/>
                          </a:rPr>
                          <m:t>0.5</m:t>
                        </m:r>
                        <m:r>
                          <a:rPr lang="en-SG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SG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SG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en-SG" sz="2800" dirty="0"/>
                  <a:t>=0.25</a:t>
                </a:r>
              </a:p>
              <a:p>
                <a:pPr marL="514350" indent="-514350">
                  <a:buAutoNum type="arabicPeriod"/>
                </a:pPr>
                <a:r>
                  <a:rPr lang="en-SG" dirty="0"/>
                  <a:t>When there are 1</a:t>
                </a:r>
                <a:r>
                  <a:rPr lang="en-SG" i="1" dirty="0"/>
                  <a:t>h</a:t>
                </a:r>
                <a:r>
                  <a:rPr lang="en-SG" dirty="0"/>
                  <a:t> keys, and given 3</a:t>
                </a:r>
                <a:r>
                  <a:rPr lang="en-SG" i="1" dirty="0"/>
                  <a:t>h</a:t>
                </a:r>
                <a:r>
                  <a:rPr lang="en-SG" dirty="0"/>
                  <a:t> space,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en-SG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=0.33</m:t>
                      </m:r>
                    </m:oMath>
                  </m:oMathPara>
                </a14:m>
                <a:endParaRPr lang="en-SG" b="0" dirty="0"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SG" dirty="0"/>
                  <a:t>When there are 2</a:t>
                </a:r>
                <a:r>
                  <a:rPr lang="en-SG" i="1" dirty="0"/>
                  <a:t>h</a:t>
                </a:r>
                <a:r>
                  <a:rPr lang="en-SG" dirty="0"/>
                  <a:t> keys, and given 5</a:t>
                </a:r>
                <a:r>
                  <a:rPr lang="en-SG" i="1" dirty="0"/>
                  <a:t>h</a:t>
                </a:r>
                <a:r>
                  <a:rPr lang="en-SG" dirty="0"/>
                  <a:t> space, </a:t>
                </a:r>
                <a:endParaRPr lang="en-SG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en-SG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</m:t>
                      </m:r>
                    </m:oMath>
                  </m:oMathPara>
                </a14:m>
                <a:endParaRPr lang="en-SG" sz="2800" dirty="0"/>
              </a:p>
              <a:p>
                <a:endParaRPr lang="en-SG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4FDDA5-DD50-FA1C-631B-EAE7CC21D7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52800" y="639875"/>
                <a:ext cx="8523514" cy="5578249"/>
              </a:xfrm>
              <a:blipFill>
                <a:blip r:embed="rId2"/>
                <a:stretch>
                  <a:fillRect l="-1502" t="-1858" r="-8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ectangle 54">
            <a:extLst>
              <a:ext uri="{FF2B5EF4-FFF2-40B4-BE49-F238E27FC236}">
                <a16:creationId xmlns:a16="http://schemas.microsoft.com/office/drawing/2014/main" id="{71445B62-4192-2F0F-AE4F-FA98CA6C470F}"/>
              </a:ext>
            </a:extLst>
          </p:cNvPr>
          <p:cNvSpPr/>
          <p:nvPr/>
        </p:nvSpPr>
        <p:spPr>
          <a:xfrm>
            <a:off x="1698171" y="780829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A816440-5980-5A90-4E8D-88EB5A267C23}"/>
              </a:ext>
            </a:extLst>
          </p:cNvPr>
          <p:cNvSpPr/>
          <p:nvPr/>
        </p:nvSpPr>
        <p:spPr>
          <a:xfrm>
            <a:off x="1698170" y="1281572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CD8CDA4-9F41-172C-5454-3CDC1F68D97F}"/>
              </a:ext>
            </a:extLst>
          </p:cNvPr>
          <p:cNvSpPr/>
          <p:nvPr/>
        </p:nvSpPr>
        <p:spPr>
          <a:xfrm>
            <a:off x="1698170" y="1782315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A8C025D-F8D3-962D-809B-71D3365A77E2}"/>
              </a:ext>
            </a:extLst>
          </p:cNvPr>
          <p:cNvSpPr/>
          <p:nvPr/>
        </p:nvSpPr>
        <p:spPr>
          <a:xfrm>
            <a:off x="1698170" y="2283058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2201563-DAEF-10DC-C5E2-2D63B38A51D4}"/>
              </a:ext>
            </a:extLst>
          </p:cNvPr>
          <p:cNvSpPr/>
          <p:nvPr/>
        </p:nvSpPr>
        <p:spPr>
          <a:xfrm>
            <a:off x="1698169" y="2783801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539121-FF30-E648-6289-1B67F61F2B3A}"/>
              </a:ext>
            </a:extLst>
          </p:cNvPr>
          <p:cNvSpPr/>
          <p:nvPr/>
        </p:nvSpPr>
        <p:spPr>
          <a:xfrm>
            <a:off x="1698169" y="3284544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629C5B0-A972-8BFE-D8DF-F06910A8BC79}"/>
              </a:ext>
            </a:extLst>
          </p:cNvPr>
          <p:cNvSpPr/>
          <p:nvPr/>
        </p:nvSpPr>
        <p:spPr>
          <a:xfrm>
            <a:off x="1698168" y="3785287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85F2343-1EBD-4494-7FB1-19C0D980B625}"/>
              </a:ext>
            </a:extLst>
          </p:cNvPr>
          <p:cNvSpPr/>
          <p:nvPr/>
        </p:nvSpPr>
        <p:spPr>
          <a:xfrm>
            <a:off x="1698168" y="4286030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94F0814-8B8B-B917-99FC-D3FD1D129C84}"/>
              </a:ext>
            </a:extLst>
          </p:cNvPr>
          <p:cNvSpPr/>
          <p:nvPr/>
        </p:nvSpPr>
        <p:spPr>
          <a:xfrm>
            <a:off x="1698168" y="4786773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1BF1420-EEB8-08AE-20AA-A6583EDA5BB0}"/>
              </a:ext>
            </a:extLst>
          </p:cNvPr>
          <p:cNvSpPr/>
          <p:nvPr/>
        </p:nvSpPr>
        <p:spPr>
          <a:xfrm>
            <a:off x="1698167" y="5287516"/>
            <a:ext cx="337457" cy="50074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0" name="Left Brace 79">
            <a:extLst>
              <a:ext uri="{FF2B5EF4-FFF2-40B4-BE49-F238E27FC236}">
                <a16:creationId xmlns:a16="http://schemas.microsoft.com/office/drawing/2014/main" id="{E9F9AEB6-3F08-D005-1B45-D1FA3EE50BFA}"/>
              </a:ext>
            </a:extLst>
          </p:cNvPr>
          <p:cNvSpPr/>
          <p:nvPr/>
        </p:nvSpPr>
        <p:spPr>
          <a:xfrm>
            <a:off x="1077685" y="864976"/>
            <a:ext cx="522514" cy="4762934"/>
          </a:xfrm>
          <a:prstGeom prst="leftBrace">
            <a:avLst/>
          </a:prstGeom>
          <a:ln w="19050">
            <a:solidFill>
              <a:srgbClr val="99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BFCC1C-81A8-685E-E44C-493F2145B8CE}"/>
              </a:ext>
            </a:extLst>
          </p:cNvPr>
          <p:cNvSpPr txBox="1"/>
          <p:nvPr/>
        </p:nvSpPr>
        <p:spPr>
          <a:xfrm>
            <a:off x="231565" y="3054809"/>
            <a:ext cx="1194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20 slots </a:t>
            </a:r>
          </a:p>
          <a:p>
            <a:r>
              <a:rPr lang="en-SG" dirty="0"/>
              <a:t>20 words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7BB86F6-6B03-81B1-E19A-09CF4C02093E}"/>
              </a:ext>
            </a:extLst>
          </p:cNvPr>
          <p:cNvCxnSpPr>
            <a:stCxn id="55" idx="1"/>
            <a:endCxn id="55" idx="3"/>
          </p:cNvCxnSpPr>
          <p:nvPr/>
        </p:nvCxnSpPr>
        <p:spPr>
          <a:xfrm>
            <a:off x="1698171" y="1031201"/>
            <a:ext cx="3374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5F9202E-DB51-D233-8A65-73DD04033093}"/>
              </a:ext>
            </a:extLst>
          </p:cNvPr>
          <p:cNvCxnSpPr/>
          <p:nvPr/>
        </p:nvCxnSpPr>
        <p:spPr>
          <a:xfrm>
            <a:off x="1698167" y="1531944"/>
            <a:ext cx="3374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4A17B16-6B42-341D-9594-8EBF004651F6}"/>
              </a:ext>
            </a:extLst>
          </p:cNvPr>
          <p:cNvCxnSpPr/>
          <p:nvPr/>
        </p:nvCxnSpPr>
        <p:spPr>
          <a:xfrm>
            <a:off x="1698167" y="2054458"/>
            <a:ext cx="3374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905B5DB-81DC-DF3B-DF5D-BA1F9B0F83B4}"/>
              </a:ext>
            </a:extLst>
          </p:cNvPr>
          <p:cNvCxnSpPr/>
          <p:nvPr/>
        </p:nvCxnSpPr>
        <p:spPr>
          <a:xfrm>
            <a:off x="1698167" y="2544316"/>
            <a:ext cx="3374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5C7DB42-8647-DF37-E9F5-2EB304B1C0D1}"/>
              </a:ext>
            </a:extLst>
          </p:cNvPr>
          <p:cNvCxnSpPr/>
          <p:nvPr/>
        </p:nvCxnSpPr>
        <p:spPr>
          <a:xfrm>
            <a:off x="1698167" y="3054809"/>
            <a:ext cx="3374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42EB37-9E16-EB67-3FFA-82F7E69054F9}"/>
              </a:ext>
            </a:extLst>
          </p:cNvPr>
          <p:cNvCxnSpPr/>
          <p:nvPr/>
        </p:nvCxnSpPr>
        <p:spPr>
          <a:xfrm>
            <a:off x="1698167" y="3534915"/>
            <a:ext cx="3374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0D6655D-02A6-F199-77EF-AF100114C4BF}"/>
              </a:ext>
            </a:extLst>
          </p:cNvPr>
          <p:cNvCxnSpPr/>
          <p:nvPr/>
        </p:nvCxnSpPr>
        <p:spPr>
          <a:xfrm>
            <a:off x="1698167" y="4046544"/>
            <a:ext cx="3374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A52FAEB-0214-9E85-9C12-636517CAC555}"/>
              </a:ext>
            </a:extLst>
          </p:cNvPr>
          <p:cNvCxnSpPr/>
          <p:nvPr/>
        </p:nvCxnSpPr>
        <p:spPr>
          <a:xfrm>
            <a:off x="1698167" y="4558171"/>
            <a:ext cx="3374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8C0065A-DA0D-B22A-86F4-7F816DC9144B}"/>
              </a:ext>
            </a:extLst>
          </p:cNvPr>
          <p:cNvCxnSpPr/>
          <p:nvPr/>
        </p:nvCxnSpPr>
        <p:spPr>
          <a:xfrm>
            <a:off x="1698167" y="5037144"/>
            <a:ext cx="3374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B7CAE42-569C-E501-8D31-8BD8FB08964F}"/>
              </a:ext>
            </a:extLst>
          </p:cNvPr>
          <p:cNvCxnSpPr/>
          <p:nvPr/>
        </p:nvCxnSpPr>
        <p:spPr>
          <a:xfrm>
            <a:off x="1698167" y="5570538"/>
            <a:ext cx="3374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09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83EBA-A039-88F7-30D8-2583D47C1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Q2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FE4CC-C70E-AE90-916D-E1E85A0A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Consider a hash table of size </a:t>
            </a:r>
            <a:r>
              <a:rPr lang="en-SG" i="1" dirty="0"/>
              <a:t>n</a:t>
            </a:r>
            <a:r>
              <a:rPr lang="en-SG" dirty="0"/>
              <a:t> using open address hashing and linear probing. Suppose that the hash table has a load factor of 0.5, describe with a diagram of the hash table, the best-case and the worst-case scenarios for the key distribution in the table. </a:t>
            </a:r>
          </a:p>
          <a:p>
            <a:r>
              <a:rPr lang="en-SG" dirty="0"/>
              <a:t>For each of the two scenarios, compute the average-case time complexity in terms of the number of key comparisons when inserting a new key. You may assume equal probability for the new key to be hashed into each of the </a:t>
            </a:r>
            <a:r>
              <a:rPr lang="en-SG" i="1" dirty="0"/>
              <a:t>n</a:t>
            </a:r>
            <a:r>
              <a:rPr lang="en-SG" dirty="0"/>
              <a:t> slots. [Note: Checking if a slot is empty is not a key comparison.]</a:t>
            </a:r>
          </a:p>
        </p:txBody>
      </p:sp>
    </p:spTree>
    <p:extLst>
      <p:ext uri="{BB962C8B-B14F-4D97-AF65-F5344CB8AC3E}">
        <p14:creationId xmlns:p14="http://schemas.microsoft.com/office/powerpoint/2010/main" val="1863079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CA627-1073-A37B-D433-D5C50FB79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A34D86-250E-3E1C-E5B3-944CD13176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24942" y="1167721"/>
                <a:ext cx="8120744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SG" dirty="0"/>
                  <a:t>Linear Probing: probe the next slot when there is a collision</a:t>
                </a:r>
              </a:p>
              <a:p>
                <a:pPr lvl="1"/>
                <a:r>
                  <a:rPr lang="en-SG" dirty="0"/>
                  <a:t>𝐻(𝑘,𝑖) = (𝑘+𝑖) mod n, where 𝑖∈[0, n-1]</a:t>
                </a:r>
              </a:p>
              <a:p>
                <a:r>
                  <a:rPr lang="en-SG" dirty="0"/>
                  <a:t>There are </a:t>
                </a:r>
                <a:r>
                  <a:rPr lang="en-SG" i="1" dirty="0"/>
                  <a:t>n</a:t>
                </a:r>
                <a:r>
                  <a:rPr lang="en-SG" dirty="0"/>
                  <a:t> slots, </a:t>
                </a:r>
                <a:r>
                  <a:rPr lang="el-GR" i="1" dirty="0"/>
                  <a:t>α</a:t>
                </a:r>
                <a:r>
                  <a:rPr lang="en-SG" dirty="0"/>
                  <a:t>=0.5, there are </a:t>
                </a:r>
                <a:r>
                  <a:rPr lang="en-SG" i="1" dirty="0"/>
                  <a:t>n</a:t>
                </a:r>
                <a:r>
                  <a:rPr lang="en-SG" dirty="0"/>
                  <a:t>/2 keys. </a:t>
                </a:r>
              </a:p>
              <a:p>
                <a:r>
                  <a:rPr lang="en-SG" dirty="0"/>
                  <a:t>Best case scenario: </a:t>
                </a:r>
              </a:p>
              <a:p>
                <a:pPr lvl="1"/>
                <a:r>
                  <a:rPr lang="en-SG" dirty="0"/>
                  <a:t>The n/2 keys are hashed and distributed evenly into the n slots</a:t>
                </a:r>
              </a:p>
              <a:p>
                <a:r>
                  <a:rPr lang="en-SG" dirty="0"/>
                  <a:t>Assume that equal probability for a key to be hashed into each of the n slots, the average-case time complexity</a:t>
                </a:r>
              </a:p>
              <a:p>
                <a:pPr marL="0" indent="0">
                  <a:buNone/>
                </a:pPr>
                <a:r>
                  <a:rPr lang="en-SG" dirty="0"/>
                  <a:t>	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SG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f>
                              <m:fPr>
                                <m:ctrlP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  <m:e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nary>
                      </m:e>
                    </m:d>
                    <m:r>
                      <a:rPr lang="en-SG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SG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f>
                              <m:fPr>
                                <m:ctrlP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  <m:e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nary>
                      </m:e>
                    </m:d>
                    <m:r>
                      <a:rPr lang="en-SG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=0.5=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(1)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A34D86-250E-3E1C-E5B3-944CD13176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24942" y="1167721"/>
                <a:ext cx="8120744" cy="4351338"/>
              </a:xfrm>
              <a:blipFill>
                <a:blip r:embed="rId2"/>
                <a:stretch>
                  <a:fillRect l="-1201" t="-2244" r="-16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981D274-A4E0-BB8A-D95B-A5CEAA06C9DF}"/>
              </a:ext>
            </a:extLst>
          </p:cNvPr>
          <p:cNvSpPr/>
          <p:nvPr/>
        </p:nvSpPr>
        <p:spPr>
          <a:xfrm>
            <a:off x="1480456" y="2122714"/>
            <a:ext cx="762000" cy="6749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F25D85-BACB-92EA-0477-59EAC7FDD60D}"/>
              </a:ext>
            </a:extLst>
          </p:cNvPr>
          <p:cNvSpPr/>
          <p:nvPr/>
        </p:nvSpPr>
        <p:spPr>
          <a:xfrm>
            <a:off x="1480456" y="2797629"/>
            <a:ext cx="762000" cy="6749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91C2C3-6188-5EAA-9E70-C89DB298D1F9}"/>
              </a:ext>
            </a:extLst>
          </p:cNvPr>
          <p:cNvSpPr/>
          <p:nvPr/>
        </p:nvSpPr>
        <p:spPr>
          <a:xfrm>
            <a:off x="1480456" y="3472544"/>
            <a:ext cx="762000" cy="6749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7901D3-694C-663B-998F-0D8B5D9890A6}"/>
              </a:ext>
            </a:extLst>
          </p:cNvPr>
          <p:cNvSpPr/>
          <p:nvPr/>
        </p:nvSpPr>
        <p:spPr>
          <a:xfrm>
            <a:off x="1480456" y="4158344"/>
            <a:ext cx="762000" cy="6749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DEE125-EA4C-A593-99D5-747FE886FBD7}"/>
              </a:ext>
            </a:extLst>
          </p:cNvPr>
          <p:cNvSpPr/>
          <p:nvPr/>
        </p:nvSpPr>
        <p:spPr>
          <a:xfrm>
            <a:off x="1480456" y="4844144"/>
            <a:ext cx="762000" cy="6749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84CEFB-9D46-E184-C15A-56C0BBDD7C9C}"/>
              </a:ext>
            </a:extLst>
          </p:cNvPr>
          <p:cNvSpPr/>
          <p:nvPr/>
        </p:nvSpPr>
        <p:spPr>
          <a:xfrm>
            <a:off x="1480456" y="5519059"/>
            <a:ext cx="762000" cy="6749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4DD90C-01B7-3805-5E74-D3682A098F60}"/>
              </a:ext>
            </a:extLst>
          </p:cNvPr>
          <p:cNvSpPr txBox="1"/>
          <p:nvPr/>
        </p:nvSpPr>
        <p:spPr>
          <a:xfrm>
            <a:off x="1012369" y="2964584"/>
            <a:ext cx="46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7AADE5-065E-3C5F-1EA9-69A41ED98CB4}"/>
              </a:ext>
            </a:extLst>
          </p:cNvPr>
          <p:cNvSpPr txBox="1"/>
          <p:nvPr/>
        </p:nvSpPr>
        <p:spPr>
          <a:xfrm>
            <a:off x="1012369" y="2287901"/>
            <a:ext cx="46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FFB7D5-E091-0008-2604-49CA465EB727}"/>
              </a:ext>
            </a:extLst>
          </p:cNvPr>
          <p:cNvSpPr txBox="1"/>
          <p:nvPr/>
        </p:nvSpPr>
        <p:spPr>
          <a:xfrm>
            <a:off x="1012369" y="1611218"/>
            <a:ext cx="46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1FB396-06CC-1C71-969A-C3A0CED2539F}"/>
              </a:ext>
            </a:extLst>
          </p:cNvPr>
          <p:cNvSpPr txBox="1"/>
          <p:nvPr/>
        </p:nvSpPr>
        <p:spPr>
          <a:xfrm>
            <a:off x="1012369" y="3641267"/>
            <a:ext cx="46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CA73DD-0BA3-8513-0119-219A579B363A}"/>
              </a:ext>
            </a:extLst>
          </p:cNvPr>
          <p:cNvSpPr txBox="1"/>
          <p:nvPr/>
        </p:nvSpPr>
        <p:spPr>
          <a:xfrm>
            <a:off x="1012369" y="4317950"/>
            <a:ext cx="380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70D5CD-BC3F-E0BF-954A-1534C08774DE}"/>
              </a:ext>
            </a:extLst>
          </p:cNvPr>
          <p:cNvSpPr txBox="1"/>
          <p:nvPr/>
        </p:nvSpPr>
        <p:spPr>
          <a:xfrm>
            <a:off x="1012369" y="4994633"/>
            <a:ext cx="46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E825B5-F7FD-22E7-BCE0-4DBF8E45F36D}"/>
              </a:ext>
            </a:extLst>
          </p:cNvPr>
          <p:cNvSpPr txBox="1"/>
          <p:nvPr/>
        </p:nvSpPr>
        <p:spPr>
          <a:xfrm>
            <a:off x="1012369" y="5671316"/>
            <a:ext cx="46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705F5B-20B7-6DF6-E25E-68CD1A11656E}"/>
              </a:ext>
            </a:extLst>
          </p:cNvPr>
          <p:cNvSpPr/>
          <p:nvPr/>
        </p:nvSpPr>
        <p:spPr>
          <a:xfrm>
            <a:off x="1480456" y="1469054"/>
            <a:ext cx="762000" cy="6749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10F87C-EB5C-FBA1-11A7-86186B574079}"/>
              </a:ext>
            </a:extLst>
          </p:cNvPr>
          <p:cNvSpPr txBox="1"/>
          <p:nvPr/>
        </p:nvSpPr>
        <p:spPr>
          <a:xfrm>
            <a:off x="1012369" y="165476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i="1" dirty="0"/>
              <a:t>n</a:t>
            </a:r>
            <a:r>
              <a:rPr lang="en-SG" sz="2400" dirty="0"/>
              <a:t>=7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C6AADF-062E-FE07-E52A-797FC1D6F8EB}"/>
              </a:ext>
            </a:extLst>
          </p:cNvPr>
          <p:cNvSpPr txBox="1"/>
          <p:nvPr/>
        </p:nvSpPr>
        <p:spPr>
          <a:xfrm>
            <a:off x="1012369" y="681892"/>
            <a:ext cx="21444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/>
              <a:t>𝐻(𝑘) = </a:t>
            </a:r>
            <a:r>
              <a:rPr lang="en-SG" sz="2400" i="1" dirty="0"/>
              <a:t>k</a:t>
            </a:r>
            <a:r>
              <a:rPr lang="en-SG" sz="2400" dirty="0"/>
              <a:t> mod n</a:t>
            </a:r>
          </a:p>
        </p:txBody>
      </p:sp>
    </p:spTree>
    <p:extLst>
      <p:ext uri="{BB962C8B-B14F-4D97-AF65-F5344CB8AC3E}">
        <p14:creationId xmlns:p14="http://schemas.microsoft.com/office/powerpoint/2010/main" val="352451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38C8D-D144-9AFB-7B3A-CAAA94636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A64A4-BC95-E359-81B9-5DA410FA85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5942" y="1111819"/>
                <a:ext cx="7522029" cy="544138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SG" dirty="0"/>
                  <a:t>Linear Probing: probe the next slot when there is a collision</a:t>
                </a:r>
              </a:p>
              <a:p>
                <a:pPr lvl="1"/>
                <a:r>
                  <a:rPr lang="en-SG" dirty="0"/>
                  <a:t>𝐻(𝑘,𝑖) = (𝑘+𝑖) mod n, where 𝑖∈[0, n-1]</a:t>
                </a:r>
              </a:p>
              <a:p>
                <a:r>
                  <a:rPr lang="en-SG" dirty="0"/>
                  <a:t>There are </a:t>
                </a:r>
                <a:r>
                  <a:rPr lang="en-SG" i="1" dirty="0"/>
                  <a:t>n</a:t>
                </a:r>
                <a:r>
                  <a:rPr lang="en-SG" dirty="0"/>
                  <a:t> slots, </a:t>
                </a:r>
                <a:r>
                  <a:rPr lang="el-GR" dirty="0"/>
                  <a:t>α</a:t>
                </a:r>
                <a:r>
                  <a:rPr lang="en-SG" dirty="0"/>
                  <a:t>=0.5, there are </a:t>
                </a:r>
                <a:r>
                  <a:rPr lang="en-SG" i="1" dirty="0"/>
                  <a:t>n</a:t>
                </a:r>
                <a:r>
                  <a:rPr lang="en-SG" dirty="0"/>
                  <a:t>/2 keys. </a:t>
                </a:r>
              </a:p>
              <a:p>
                <a:r>
                  <a:rPr lang="en-SG" dirty="0"/>
                  <a:t>Worse case scenario: </a:t>
                </a:r>
              </a:p>
              <a:p>
                <a:pPr lvl="1"/>
                <a:r>
                  <a:rPr lang="en-SG" dirty="0"/>
                  <a:t>The n/2 keys are hashed in consecutive slots. Each key always has to rehash and visit every key in the table. The </a:t>
                </a:r>
                <a:r>
                  <a:rPr lang="en-SG" dirty="0" err="1"/>
                  <a:t>ith</a:t>
                </a:r>
                <a:r>
                  <a:rPr lang="en-SG" dirty="0"/>
                  <a:t> key is hashed and rehash </a:t>
                </a:r>
                <a:r>
                  <a:rPr lang="en-SG" dirty="0" err="1"/>
                  <a:t>i</a:t>
                </a:r>
                <a:r>
                  <a:rPr lang="en-SG" dirty="0"/>
                  <a:t> times to get the slot. </a:t>
                </a:r>
              </a:p>
              <a:p>
                <a:r>
                  <a:rPr lang="en-SG" dirty="0"/>
                  <a:t>Average-time-complexity</a:t>
                </a:r>
              </a:p>
              <a:p>
                <a:pPr marL="0" indent="0">
                  <a:buNone/>
                </a:pPr>
                <a:r>
                  <a:rPr lang="en-SG" dirty="0"/>
                  <a:t>	</a:t>
                </a:r>
                <a14:m>
                  <m:oMath xmlns:m="http://schemas.openxmlformats.org/officeDocument/2006/math">
                    <m:r>
                      <a:rPr lang="en-SG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SG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f>
                              <m:fPr>
                                <m:ctrlP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  <m:e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nary>
                      </m:e>
                    </m:d>
                    <m:r>
                      <a:rPr lang="en-SG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SG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f>
                              <m:fPr>
                                <m:ctrlP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  <m:e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nary>
                      </m:e>
                    </m:d>
                    <m:r>
                      <a:rPr lang="en-SG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(1+</m:t>
                        </m:r>
                        <m:f>
                          <m:fPr>
                            <m:ctrlP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SG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SG" b="0" dirty="0">
                    <a:ea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en-SG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BA64A4-BC95-E359-81B9-5DA410FA85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5942" y="1111819"/>
                <a:ext cx="7522029" cy="5441381"/>
              </a:xfrm>
              <a:blipFill>
                <a:blip r:embed="rId2"/>
                <a:stretch>
                  <a:fillRect l="-1459" t="-2464" r="-194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74B4FF9-4BD6-5DB2-2FD4-BF3E325A17D4}"/>
              </a:ext>
            </a:extLst>
          </p:cNvPr>
          <p:cNvSpPr/>
          <p:nvPr/>
        </p:nvSpPr>
        <p:spPr>
          <a:xfrm>
            <a:off x="1638298" y="2035629"/>
            <a:ext cx="762000" cy="6749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9EA97D-F78B-B607-70DE-747FA8D912FA}"/>
              </a:ext>
            </a:extLst>
          </p:cNvPr>
          <p:cNvSpPr/>
          <p:nvPr/>
        </p:nvSpPr>
        <p:spPr>
          <a:xfrm>
            <a:off x="1638298" y="2710544"/>
            <a:ext cx="762000" cy="6749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EE8A92-BA3F-AD64-4821-55B51428F163}"/>
              </a:ext>
            </a:extLst>
          </p:cNvPr>
          <p:cNvSpPr/>
          <p:nvPr/>
        </p:nvSpPr>
        <p:spPr>
          <a:xfrm>
            <a:off x="1638298" y="3385459"/>
            <a:ext cx="762000" cy="6749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3C769-31B0-F8BA-1BEF-10A4907BFEDD}"/>
              </a:ext>
            </a:extLst>
          </p:cNvPr>
          <p:cNvSpPr/>
          <p:nvPr/>
        </p:nvSpPr>
        <p:spPr>
          <a:xfrm>
            <a:off x="1638298" y="4071259"/>
            <a:ext cx="762000" cy="6749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DA1AA8-4FAC-F0D9-34B3-67CD2F759D8E}"/>
              </a:ext>
            </a:extLst>
          </p:cNvPr>
          <p:cNvSpPr/>
          <p:nvPr/>
        </p:nvSpPr>
        <p:spPr>
          <a:xfrm>
            <a:off x="1638298" y="4757059"/>
            <a:ext cx="762000" cy="6749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1B707A-F4D5-A059-F00D-2E2647A75C6F}"/>
              </a:ext>
            </a:extLst>
          </p:cNvPr>
          <p:cNvSpPr/>
          <p:nvPr/>
        </p:nvSpPr>
        <p:spPr>
          <a:xfrm>
            <a:off x="1638298" y="5431974"/>
            <a:ext cx="762000" cy="6749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24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730876-843A-0F6F-238A-708EF29CF07F}"/>
              </a:ext>
            </a:extLst>
          </p:cNvPr>
          <p:cNvSpPr/>
          <p:nvPr/>
        </p:nvSpPr>
        <p:spPr>
          <a:xfrm>
            <a:off x="1638296" y="1360714"/>
            <a:ext cx="762000" cy="67491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2EF727-B4F5-7A11-E7BA-848778FDDD64}"/>
              </a:ext>
            </a:extLst>
          </p:cNvPr>
          <p:cNvSpPr txBox="1"/>
          <p:nvPr/>
        </p:nvSpPr>
        <p:spPr>
          <a:xfrm>
            <a:off x="1170211" y="2877499"/>
            <a:ext cx="46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FE8915-6B9D-8BF8-6241-AFE4FE204BC8}"/>
              </a:ext>
            </a:extLst>
          </p:cNvPr>
          <p:cNvSpPr txBox="1"/>
          <p:nvPr/>
        </p:nvSpPr>
        <p:spPr>
          <a:xfrm>
            <a:off x="1170211" y="2200816"/>
            <a:ext cx="46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82F25C-DED2-2BFF-9E1A-E14F5EBA9355}"/>
              </a:ext>
            </a:extLst>
          </p:cNvPr>
          <p:cNvSpPr txBox="1"/>
          <p:nvPr/>
        </p:nvSpPr>
        <p:spPr>
          <a:xfrm>
            <a:off x="1170211" y="1524133"/>
            <a:ext cx="46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BBE02A-21E6-EAF2-DCF0-F76013273DB6}"/>
              </a:ext>
            </a:extLst>
          </p:cNvPr>
          <p:cNvSpPr txBox="1"/>
          <p:nvPr/>
        </p:nvSpPr>
        <p:spPr>
          <a:xfrm>
            <a:off x="1170211" y="3554182"/>
            <a:ext cx="46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260A2A-3D9B-6300-AB51-D40995897FBC}"/>
              </a:ext>
            </a:extLst>
          </p:cNvPr>
          <p:cNvSpPr txBox="1"/>
          <p:nvPr/>
        </p:nvSpPr>
        <p:spPr>
          <a:xfrm>
            <a:off x="1170211" y="4230865"/>
            <a:ext cx="380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AD2300-EE73-1386-E1B7-C3D72A60B603}"/>
              </a:ext>
            </a:extLst>
          </p:cNvPr>
          <p:cNvSpPr txBox="1"/>
          <p:nvPr/>
        </p:nvSpPr>
        <p:spPr>
          <a:xfrm>
            <a:off x="1170211" y="4907548"/>
            <a:ext cx="46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9F24A2-3F27-0920-4FD8-A36F332D4FC4}"/>
              </a:ext>
            </a:extLst>
          </p:cNvPr>
          <p:cNvSpPr txBox="1"/>
          <p:nvPr/>
        </p:nvSpPr>
        <p:spPr>
          <a:xfrm>
            <a:off x="1170211" y="5584231"/>
            <a:ext cx="46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17955B-0BCE-A0C2-BDBF-AF252C777313}"/>
              </a:ext>
            </a:extLst>
          </p:cNvPr>
          <p:cNvSpPr txBox="1"/>
          <p:nvPr/>
        </p:nvSpPr>
        <p:spPr>
          <a:xfrm>
            <a:off x="1094007" y="213249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i="1" dirty="0"/>
              <a:t>n</a:t>
            </a:r>
            <a:r>
              <a:rPr lang="en-SG" sz="2400" dirty="0"/>
              <a:t>=7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13F282-037B-6360-6E6A-2757773BD375}"/>
              </a:ext>
            </a:extLst>
          </p:cNvPr>
          <p:cNvSpPr txBox="1"/>
          <p:nvPr/>
        </p:nvSpPr>
        <p:spPr>
          <a:xfrm>
            <a:off x="1061348" y="674914"/>
            <a:ext cx="21444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/>
              <a:t>𝐻(𝑘) = </a:t>
            </a:r>
            <a:r>
              <a:rPr lang="en-SG" sz="2400" i="1" dirty="0"/>
              <a:t>k</a:t>
            </a:r>
            <a:r>
              <a:rPr lang="en-SG" sz="2400" dirty="0"/>
              <a:t> mod n</a:t>
            </a:r>
          </a:p>
        </p:txBody>
      </p:sp>
    </p:spTree>
    <p:extLst>
      <p:ext uri="{BB962C8B-B14F-4D97-AF65-F5344CB8AC3E}">
        <p14:creationId xmlns:p14="http://schemas.microsoft.com/office/powerpoint/2010/main" val="372383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97F3A-E826-9002-B445-EB6CF0F14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13AAD-16C0-C4F3-C3F2-78B0EAE0E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Consider a hash function: h(𝑘)=𝑘 𝑚𝑜𝑑 𝑚, where 𝑚=2</a:t>
            </a:r>
            <a:r>
              <a:rPr lang="en-SG" baseline="30000" dirty="0"/>
              <a:t>𝑝</a:t>
            </a:r>
            <a:r>
              <a:rPr lang="en-SG" dirty="0"/>
              <a:t>−1 and 𝑘 is a character string interpreted in radix 2</a:t>
            </a:r>
            <a:r>
              <a:rPr lang="en-SG" baseline="30000" dirty="0"/>
              <a:t>𝑝</a:t>
            </a:r>
            <a:r>
              <a:rPr lang="en-SG" dirty="0"/>
              <a:t>. Show that if string 𝑥 and be derived from string 𝑦 by permuting its characters, then 𝑥 and 𝑦 hash to the same value. 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55506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0599C-0405-E029-BAF1-750F1262E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238A-7420-BE56-3D82-1B72BC019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20279C-5E97-D909-0270-F1AE61E626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SG" dirty="0"/>
                  <a:t>Each character in the string is assigned a numeric value, and the entire string is then interpreted as a number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SG" dirty="0"/>
              </a:p>
              <a:p>
                <a:r>
                  <a:rPr lang="en-SG" dirty="0"/>
                  <a:t>For a string S=C</a:t>
                </a:r>
                <a:r>
                  <a:rPr lang="en-SG" baseline="-25000" dirty="0"/>
                  <a:t>1</a:t>
                </a:r>
                <a:r>
                  <a:rPr lang="en-SG" dirty="0"/>
                  <a:t>C</a:t>
                </a:r>
                <a:r>
                  <a:rPr lang="en-SG" baseline="-25000" dirty="0"/>
                  <a:t>2</a:t>
                </a:r>
                <a:r>
                  <a:rPr lang="en-SG" dirty="0"/>
                  <a:t>C</a:t>
                </a:r>
                <a:r>
                  <a:rPr lang="en-SG" baseline="-25000" dirty="0"/>
                  <a:t>3</a:t>
                </a:r>
                <a:r>
                  <a:rPr lang="en-SG" dirty="0"/>
                  <a:t>…C</a:t>
                </a:r>
                <a:r>
                  <a:rPr lang="en-SG" baseline="-25000" dirty="0"/>
                  <a:t>n</a:t>
                </a:r>
                <a:r>
                  <a:rPr lang="en-SG" dirty="0"/>
                  <a:t>, where each C</a:t>
                </a:r>
                <a:r>
                  <a:rPr lang="en-SG" baseline="-25000" dirty="0"/>
                  <a:t>i</a:t>
                </a:r>
                <a:r>
                  <a:rPr lang="en-SG" dirty="0"/>
                  <a:t>​ is a character with a numerical value a</a:t>
                </a:r>
                <a:r>
                  <a:rPr lang="en-SG" baseline="-25000" dirty="0"/>
                  <a:t>i</a:t>
                </a:r>
                <a:r>
                  <a:rPr lang="en-SG" dirty="0"/>
                  <a:t>, its numerical representation in radix 2</a:t>
                </a:r>
                <a:r>
                  <a:rPr lang="en-SG" baseline="30000" dirty="0"/>
                  <a:t>p </a:t>
                </a:r>
                <a:r>
                  <a:rPr lang="en-SG" dirty="0"/>
                  <a:t>is:</a:t>
                </a:r>
              </a:p>
              <a:p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SG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</m:oMath>
                </a14:m>
                <a:r>
                  <a:rPr lang="en-SG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20279C-5E97-D909-0270-F1AE61E626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5793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59AD3-7277-4461-5AB2-1D6A4FC95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D26F25-650E-A39B-FD1E-76F1A8D218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SG" dirty="0"/>
                  <a:t>Let x and y be two strings that are permutations of each other. This means they contain the same characters, just arranged differently.</a:t>
                </a:r>
              </a:p>
              <a:p>
                <a:pPr marL="0" indent="0">
                  <a:buNone/>
                </a:pPr>
                <a:r>
                  <a:rPr lang="en-SG" dirty="0"/>
                  <a:t>The numerical representations of x and y are: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SG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</m:oMath>
                </a14:m>
                <a:r>
                  <a:rPr lang="en-SG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SG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SG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</m:oMath>
                </a14:m>
                <a:r>
                  <a:rPr lang="en-SG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SG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SG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SG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SG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SG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SG" dirty="0"/>
                  <a:t>, for any integer 𝑖.  This means that every power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S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is congruent to 1 modulo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SG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D26F25-650E-A39B-FD1E-76F1A8D218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91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1264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0AD3D-8314-5AC4-D04E-5F036FFA3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47544D-6DDD-2883-4E18-DAA8BDE16B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SG" dirty="0"/>
                  <a:t>Applying Modulo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S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SG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en-SG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>
                        <a:latin typeface="Cambria Math" panose="02040503050406030204" pitchFamily="18" charset="0"/>
                      </a:rPr>
                      <m:t>+…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 (</m:t>
                    </m:r>
                    <m:sSup>
                      <m:sSupPr>
                        <m:ctrlP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SG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b="0" dirty="0"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>
                        <a:latin typeface="Cambria Math" panose="02040503050406030204" pitchFamily="18" charset="0"/>
                      </a:rPr>
                      <m:t>+…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 (</m:t>
                    </m:r>
                    <m:sSup>
                      <m:sSupPr>
                        <m:ctrlP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SG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b="0" dirty="0"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en-SG" dirty="0"/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b="0" i="0" smtClean="0">
                        <a:latin typeface="Cambria Math" panose="02040503050406030204" pitchFamily="18" charset="0"/>
                      </a:rPr>
                      <m:t>+…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SG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>
                        <a:latin typeface="Cambria Math" panose="02040503050406030204" pitchFamily="18" charset="0"/>
                      </a:rPr>
                      <m:t>+…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SG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SG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 (</m:t>
                    </m:r>
                    <m:sSup>
                      <m:sSupPr>
                        <m:ctrlP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SG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SG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>
                    <a:ea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dirty="0">
                  <a:ea typeface="Cambria Math" panose="02040503050406030204" pitchFamily="18" charset="0"/>
                </a:endParaRPr>
              </a:p>
              <a:p>
                <a:endParaRPr lang="en-SG" b="0" dirty="0">
                  <a:ea typeface="Cambria Math" panose="02040503050406030204" pitchFamily="18" charset="0"/>
                </a:endParaRPr>
              </a:p>
              <a:p>
                <a:endParaRPr lang="en-SG" b="0" dirty="0">
                  <a:ea typeface="Cambria Math" panose="02040503050406030204" pitchFamily="18" charset="0"/>
                </a:endParaRP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47544D-6DDD-2883-4E18-DAA8BDE16B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73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470C1-60B5-2C1C-9993-3CC154E20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DC981-BA7B-AEBA-7238-94E23AFCF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This property can lead to hash collisions in applications where order matters. </a:t>
            </a:r>
          </a:p>
          <a:p>
            <a:r>
              <a:rPr lang="en-SG" dirty="0"/>
              <a:t>Password Hashing"1234" and "4321" should produce different hashes, but under this scheme, they do not.</a:t>
            </a:r>
          </a:p>
          <a:p>
            <a:r>
              <a:rPr lang="en-SG" dirty="0"/>
              <a:t>Database Indexing "ABCD" and "BCDA" mapping to the same hash could cause incorrect lookups.</a:t>
            </a:r>
          </a:p>
          <a:p>
            <a:r>
              <a:rPr lang="en-SG" dirty="0"/>
              <a:t>Cryptographic Signatures: Digital signatures should change if even a small character swap happens.</a:t>
            </a:r>
          </a:p>
        </p:txBody>
      </p:sp>
    </p:spTree>
    <p:extLst>
      <p:ext uri="{BB962C8B-B14F-4D97-AF65-F5344CB8AC3E}">
        <p14:creationId xmlns:p14="http://schemas.microsoft.com/office/powerpoint/2010/main" val="725004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13435</TotalTime>
  <Words>1161</Words>
  <Application>Microsoft Macintosh PowerPoint</Application>
  <PresentationFormat>Widescreen</PresentationFormat>
  <Paragraphs>109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Cambria Math</vt:lpstr>
      <vt:lpstr>Office Theme</vt:lpstr>
      <vt:lpstr>SC1007   Tutorial 5: Hash Table</vt:lpstr>
      <vt:lpstr>Hash table (review)</vt:lpstr>
      <vt:lpstr>PowerPoint Presentation</vt:lpstr>
      <vt:lpstr>Open Addressing</vt:lpstr>
      <vt:lpstr>Q1</vt:lpstr>
      <vt:lpstr>PowerPoint Presentation</vt:lpstr>
      <vt:lpstr>PowerPoint Presentation</vt:lpstr>
      <vt:lpstr>Q2</vt:lpstr>
      <vt:lpstr>PowerPoint Presentation</vt:lpstr>
      <vt:lpstr>PowerPoint Presentation</vt:lpstr>
      <vt:lpstr>Q3</vt:lpstr>
      <vt:lpstr>Q3</vt:lpstr>
      <vt:lpstr>Q3</vt:lpstr>
      <vt:lpstr>Q3</vt:lpstr>
      <vt:lpstr>Q3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Liu Siyuan (Dr)</dc:creator>
  <cp:lastModifiedBy>Anh Tuan Luu</cp:lastModifiedBy>
  <cp:revision>31</cp:revision>
  <dcterms:created xsi:type="dcterms:W3CDTF">2023-03-17T02:49:38Z</dcterms:created>
  <dcterms:modified xsi:type="dcterms:W3CDTF">2025-10-31T16:41:03Z</dcterms:modified>
</cp:coreProperties>
</file>